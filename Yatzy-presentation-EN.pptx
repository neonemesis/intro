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55bb4a2-fbf4-0080-4bd8-0c8703b7a063}">
          <p14:sldIdLst>
            <p14:sldId id="256"/>
          </p14:sldIdLst>
        </p14:section>
        <p14:section name="The game" id="{4ea7fe19-2e38-7fb5-6106-d098708eb036}">
          <p14:sldIdLst>
            <p14:sldId id="257"/>
          </p14:sldIdLst>
        </p14:section>
        <p14:section name="The code" id="{6880663e-47e7-e17c-ab24-834cb667c53a}">
          <p14:sldIdLst>
            <p14:sldId id="258"/>
            <p14:sldId id="259"/>
            <p14:sldId id="260"/>
            <p14:sldId id="261"/>
            <p14:sldId id="262"/>
            <p14:sldId id="263"/>
            <p14:sldId id="264"/>
          </p14:sldIdLst>
        </p14:section>
        <p14:section name="Quality" id="{76390816-f5c0-04b6-497e-398728483337}">
          <p14:sldIdLst>
            <p14:sldId id="265"/>
            <p14:sldId id="266"/>
            <p14:sldId id="267"/>
          </p14:sldIdLst>
        </p14:section>
        <p14:section name="Backup slides" id="{1d79681c-ed0e-a5d1-6b5b-2c0a13a92e2f}">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VICTOR
(about 30 sec)
Hi! I'm Victor, and this is Axel. We have built Yatzy in Python. The game runs in the terminal and 1 to 6 people can play. I will show how the program is structured and how the dice and the game rules work. Then Axel will take over and explain the scoring, what the player sees and how we tested everything.
If you want to play along: scan the QR code, type python yatzy.py and press Enter. It is the same game, with the same rules and the same output as our Python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VICTOR
(about 30 sec)
This is how a turn works. You roll all five dice, choose which ones to hold, and reroll the rest. You can roll at most three times. Then you put your points in a category you have not used yet. There are 15 categories, from ones up to Yatzy. When everyone has filled their scorecard, the highest total wins. If you get at least 63 points on ones to sixes, you get 50 bonus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VICTOR
(about 45 sec)
The program consists of four files plus a test file. yatzy.py just starts the game. terminal_view.py handles everything on the screen: it prints and it reads input. game.py contains the game rules, and scoring.py calculates the points.
The most important decision was that the game logic never prints anything and never reads input. That is written as a comment at the top of game.py. Because of that we can test the rules automatically, and we could replace the terminal with a graphical window without changing a single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VICTOR
(about 45 sec)
The Dice class keeps track of the five dice. It has two lists: values with the dice values, and held, which says whether each die is held.
When we roll, we loop through all five dice but only reroll the ones that are not held.
hold_only takes the positions the player chose and rebuilds the held list with a list comprehension: True where the position is included, otherwise False.
The random generator can be passed in from outside. We use that in the tests, where we give it a fixed seed so the dice are the same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VICTOR
(about 45 sec)
Game ties everything together. These are the two most important methods.
roll first checks that you have rolls left. If it is the first roll of the turn, all held dice are released. Then we roll and count down the number of rolls.
choose checks that you have rolled at least once and that the category is free. Then the points are calculated, saved on the scorecard, and it is the next player's turn.
Why do we raise errors? The view also checks the input, but the rules must hold even if someone writes a new view that forgets to. So an illegal move is never possible.
(The error messages in the code are in Swedish. If asked: "Inga slag kvar" = no rolls left, "Du måste slå minst en gång först" = you must roll at least once first, "Kategorin är redan använd" = the category is already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VICTOR
(about 45 sec)
Each player has a scorecard, which is a dictionary where the key is the category and the value is the points. upper_sum adds up ones to sixes, and get with 0 means categories that are not filled in yet count as zero.
The bonus is 50 points if the sum is at least 63, which is three of each face.
next_turn uses modulo so the turn wraps around to the first player again.
winners returns a list, not a single player. That handles ties: everyone with the top score wins.
HANDOVER: "Now Axel will explain how the points are calculated."
(Note: the return line in winners is split over two lines here to fit; in the code it is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AXEL
(about 40 sec)
Thanks, Victor. All scoring happens in one single function, score. The first thing it does is create a Counter, from Python's standard library. Counter counts how many times each dice value appears. With three fives and two threes, we get five three times and three two times.
For ones to sixes we find out which value the category is about: "treor", which means threes, is at index two in the list UPPER, plus one gives three. The points are the value times the count. Three threes give nine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AXEL
(about 45 sec)
Here are the other categories. They all build on the same Counter.
One pair is the highest value that appears at least twice. Two pairs needs two different values, so four fours give zero.
A full house is when the counts are exactly two and three. That is why five fives score zero as a full house: it is not two different values.
Yatzy is when there is only one single value, in other words when the Counter has only one key.
Every example in the table is also a test, so we know the rules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AXEL
(about 40 sec)
This is real output from the game. The interface is in Swedish: SPARAD means held, and Slag kvar means rolls left. The dice are drawn with plain characters. PIPS is a dictionary that says where the dots go on each face, and dice_lines joins the rows so the dice end up side by side.
The player types the numbers of the dice to hold, here one, two and four. You can type them with or without spaces or commas. If you type something invalid, like a six or letters, parse_positions returns None and the question is asked again. So the program does not crash on bad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AXEL
(about 45 sec)
We have eleven tests written with unittest, and they all pass. Six test the scoring rules and five test the game flow, for example that you cannot roll four times and that held dice stay the same.
This test plays a full game with six players. Each player rolls and picks the first free category until the game is over. Then we check that everyone has filled all fifteen categories and that there is at least one winner.
We pass in random.Random(7), a fixed seed, so the dice are exactly the same every time the test runs.
The terminal view is not tested automatically. We tested it by playing.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AXEL
(about 35 sec)
The most important thing we learned is to keep the logic separate from the view. That made it easy to test, and it makes it easy to build further. We also saw that the right tool, like Counter, keeps the code short, and that a fixed seed makes it possible to test a game that is based on randomness.
If we continued, we would turn the long if-chain in score into a dictionary with one function per category, build a graphical interface that uses the same Game class, and write tests for the view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AXEL (both answer questions)
Thank you for listening! Do you have any questions?
(Answers to common questions are on the backup slides after the next slide.)
Suggested split for questions: Victor answers about Dice, Game and the file structure. Axel answers about scoring, the view and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these slides if someone asks. Jump straight to the right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chemeClr val="tx2"/>
          </a:solidFill>
          <a:ln/>
        </p:spPr>
      </p:sp>
      <p:sp>
        <p:nvSpPr>
          <p:cNvPr id="3" name="Text 1"/>
          <p:cNvSpPr/>
          <p:nvPr>
            <p:ph idx="101" type="title" hasCustomPrompt="1"/>
          </p:nvPr>
        </p:nvSpPr>
        <p:spPr>
          <a:xfrm>
            <a:off x="3566160" y="1188720"/>
            <a:ext cx="5120640"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Shape 1"/>
          <p:cNvSpPr/>
          <p:nvPr/>
        </p:nvSpPr>
        <p:spPr>
          <a:xfrm>
            <a:off x="3566160" y="2057400"/>
            <a:ext cx="5120640" cy="0"/>
          </a:xfrm>
          <a:prstGeom prst="line">
            <a:avLst/>
          </a:prstGeom>
          <a:noFill/>
          <a:ln w="12700">
            <a:solidFill>
              <a:schemeClr val="accent1"/>
            </a:solidFill>
            <a:prstDash val="solid"/>
          </a:ln>
        </p:spPr>
      </p:sp>
      <p:sp>
        <p:nvSpPr>
          <p:cNvPr id="5" name="Text 2"/>
          <p:cNvSpPr/>
          <p:nvPr>
            <p:ph idx="103" type="body" hasCustomPrompt="1"/>
          </p:nvPr>
        </p:nvSpPr>
        <p:spPr>
          <a:xfrm>
            <a:off x="3566160" y="2176272"/>
            <a:ext cx="5120640" cy="45720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822960"/>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
        <p:nvSpPr>
          <p:cNvPr id="3" name="Text 0"/>
          <p:cNvSpPr/>
          <p:nvPr>
            <p:ph idx="101" type="body" hasCustomPrompt="1"/>
          </p:nvPr>
        </p:nvSpPr>
        <p:spPr>
          <a:xfrm>
            <a:off x="731520" y="2606040"/>
            <a:ext cx="7680960" cy="548640"/>
          </a:xfrm>
          <a:prstGeom prst="rect">
            <a:avLst/>
          </a:prstGeom>
          <a:noFill/>
          <a:ln/>
        </p:spPr>
        <p:txBody>
          <a:bodyPr wrap="square" rtlCol="0"/>
          <a:lstStyle>
            <a:lvl1pPr algn="ctr" indent="0" marL="0">
              <a:buNone/>
              <a:defRPr lang="en-US" sz="2200" dirty="0">
                <a:solidFill>
                  <a:schemeClr val="accent5"/>
                </a:solidFill>
              </a:defRPr>
            </a:lvl1pPr>
          </a:lstStyle>
          <a:p>
            <a:pPr algn="ct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Shape 0"/>
          <p:cNvSpPr/>
          <p:nvPr/>
        </p:nvSpPr>
        <p:spPr>
          <a:xfrm>
            <a:off x="457200" y="914400"/>
            <a:ext cx="8229600" cy="0"/>
          </a:xfrm>
          <a:prstGeom prst="line">
            <a:avLst/>
          </a:prstGeom>
          <a:noFill/>
          <a:ln w="9525">
            <a:solidFill>
              <a:schemeClr val="accent1"/>
            </a:solidFill>
            <a:prstDash val="solid"/>
          </a:ln>
        </p:spPr>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3566160" y="1188720"/>
            <a:ext cx="5120640" cy="777240"/>
          </a:xfrm>
          <a:prstGeom prst="rect">
            <a:avLst/>
          </a:prstGeom>
          <a:noFill/>
          <a:ln/>
        </p:spPr>
        <p:txBody>
          <a:bodyPr wrap="square" lIns="0" tIns="0" rIns="0" bIns="0" rtlCol="0" anchor="b"/>
          <a:lstStyle/>
          <a:p>
            <a:pPr algn="l" indent="0" marL="0">
              <a:buNone/>
            </a:pPr>
            <a:r>
              <a:rPr lang="en-US" sz="4000" b="1" dirty="0">
                <a:solidFill>
                  <a:schemeClr val="tx1"/>
                </a:solidFill>
              </a:rPr>
              <a:t>Yatzy in Python</a:t>
            </a:r>
            <a:endParaRPr lang="en-US" sz="4000" dirty="0"/>
          </a:p>
        </p:txBody>
      </p:sp>
      <p:sp>
        <p:nvSpPr>
          <p:cNvPr id="3" name="Text 2"/>
          <p:cNvSpPr/>
          <p:nvPr>
            <p:ph idx="103" type="body" hasCustomPrompt="1"/>
          </p:nvPr>
        </p:nvSpPr>
        <p:spPr>
          <a:xfrm>
            <a:off x="3566160" y="2176272"/>
            <a:ext cx="5120640" cy="457200"/>
          </a:xfrm>
          <a:prstGeom prst="rect">
            <a:avLst/>
          </a:prstGeom>
          <a:noFill/>
          <a:ln/>
        </p:spPr>
        <p:txBody>
          <a:bodyPr wrap="square" lIns="0" tIns="0" rIns="0" bIns="0" rtlCol="0" anchor="t"/>
          <a:lstStyle/>
          <a:p>
            <a:pPr algn="l" indent="0" marL="0">
              <a:buNone/>
            </a:pPr>
            <a:r>
              <a:rPr lang="en-US" sz="2000" dirty="0">
                <a:solidFill>
                  <a:schemeClr val="accent4"/>
                </a:solidFill>
              </a:rPr>
              <a:t>A terminal game for 1–6 players</a:t>
            </a:r>
            <a:endParaRPr lang="en-US" sz="2000" dirty="0"/>
          </a:p>
        </p:txBody>
      </p:sp>
      <p:sp>
        <p:nvSpPr>
          <p:cNvPr id="4" name="Text 2"/>
          <p:cNvSpPr txBox="1"/>
          <p:nvPr/>
        </p:nvSpPr>
        <p:spPr>
          <a:xfrm>
            <a:off x="3566160" y="3429000"/>
            <a:ext cx="5120640" cy="868680"/>
          </a:xfrm>
          <a:prstGeom prst="rect">
            <a:avLst/>
          </a:prstGeom>
          <a:noFill/>
          <a:ln/>
        </p:spPr>
        <p:txBody>
          <a:bodyPr wrap="square" lIns="0" tIns="0" rIns="0" bIns="0" rtlCol="0" anchor="b"/>
          <a:lstStyle/>
          <a:p>
            <a:pPr algn="r" indent="0" marL="0">
              <a:lnSpc>
                <a:spcPct val="115000"/>
              </a:lnSpc>
              <a:buNone/>
            </a:pPr>
            <a:r>
              <a:rPr lang="en-US" sz="1500" b="1" dirty="0">
                <a:solidFill>
                  <a:schemeClr val="accent4"/>
                </a:solidFill>
              </a:rPr>
              <a:t>Victor Vilches &amp; Axel Bohlmark</a:t>
            </a:r>
            <a:endParaRPr lang="en-US" sz="1500" dirty="0"/>
          </a:p>
          <a:p>
            <a:pPr algn="r" indent="0" marL="0">
              <a:lnSpc>
                <a:spcPct val="115000"/>
              </a:lnSpc>
              <a:buNone/>
            </a:pPr>
            <a:r>
              <a:rPr lang="en-US" sz="1500" dirty="0">
                <a:solidFill>
                  <a:schemeClr val="accent4"/>
                </a:solidFill>
              </a:rPr>
              <a:t>Presentation, October 2026</a:t>
            </a:r>
            <a:endParaRPr lang="en-US" sz="1500" dirty="0"/>
          </a:p>
          <a:p>
            <a:pPr algn="r" indent="0" marL="0">
              <a:lnSpc>
                <a:spcPct val="115000"/>
              </a:lnSpc>
              <a:buNone/>
            </a:pPr>
            <a:r>
              <a:rPr lang="en-US" sz="1500" dirty="0">
                <a:solidFill>
                  <a:schemeClr val="accent4"/>
                </a:solidFill>
              </a:rPr>
              <a:t>github.com/NeoNemesis/intro</a:t>
            </a:r>
            <a:endParaRPr lang="en-US" sz="1500" dirty="0"/>
          </a:p>
        </p:txBody>
      </p:sp>
      <p:sp>
        <p:nvSpPr>
          <p:cNvPr id="5" name="qr-card"/>
          <p:cNvSpPr/>
          <p:nvPr/>
        </p:nvSpPr>
        <p:spPr>
          <a:xfrm>
            <a:off x="502920" y="685800"/>
            <a:ext cx="2011680" cy="2011680"/>
          </a:xfrm>
          <a:prstGeom prst="roundRect">
            <a:avLst>
              <a:gd name="adj" fmla="val 5455"/>
            </a:avLst>
          </a:prstGeom>
          <a:solidFill>
            <a:schemeClr val="bg1"/>
          </a:solidFill>
          <a:ln w="12700">
            <a:solidFill>
              <a:schemeClr val="bg1"/>
            </a:solidFill>
            <a:prstDash val="solid"/>
          </a:ln>
          <a:effectLst>
            <a:outerShdw sx="100000" sy="100000" kx="0" ky="0" algn="bl" rotWithShape="0" blurRad="101600" dist="50800" dir="2700000">
              <a:srgbClr val="000000">
                <a:alpha val="30000"/>
              </a:srgbClr>
            </a:outerShdw>
          </a:effectLst>
        </p:spPr>
      </p:sp>
      <p:pic>
        <p:nvPicPr>
          <p:cNvPr id="6" name="qr" descr="QR code to neonemesis.github.io/intro">    </p:cNvPr>
          <p:cNvPicPr>
            <a:picLocks noChangeAspect="1"/>
          </p:cNvPicPr>
          <p:nvPr/>
        </p:nvPicPr>
        <p:blipFill>
          <a:blip r:embed="rId1"/>
          <a:stretch>
            <a:fillRect/>
          </a:stretch>
        </p:blipFill>
        <p:spPr>
          <a:xfrm>
            <a:off x="594360" y="777240"/>
            <a:ext cx="1828800" cy="1828800"/>
          </a:xfrm>
          <a:prstGeom prst="rect">
            <a:avLst/>
          </a:prstGeom>
        </p:spPr>
      </p:pic>
      <p:sp>
        <p:nvSpPr>
          <p:cNvPr id="7" name="Text 4"/>
          <p:cNvSpPr txBox="1"/>
          <p:nvPr/>
        </p:nvSpPr>
        <p:spPr>
          <a:xfrm>
            <a:off x="182880" y="2880360"/>
            <a:ext cx="2651760" cy="292608"/>
          </a:xfrm>
          <a:prstGeom prst="rect">
            <a:avLst/>
          </a:prstGeom>
          <a:noFill/>
          <a:ln/>
        </p:spPr>
        <p:txBody>
          <a:bodyPr wrap="square" lIns="0" tIns="0" rIns="0" bIns="0" rtlCol="0" anchor="ctr"/>
          <a:lstStyle/>
          <a:p>
            <a:pPr algn="ctr" indent="0" marL="0">
              <a:buNone/>
            </a:pPr>
            <a:r>
              <a:rPr lang="en-US" sz="1500" b="1" dirty="0">
                <a:solidFill>
                  <a:schemeClr val="bg1"/>
                </a:solidFill>
              </a:rPr>
              <a:t>Play along on your phone</a:t>
            </a:r>
            <a:endParaRPr lang="en-US" sz="1500" dirty="0"/>
          </a:p>
        </p:txBody>
      </p:sp>
      <p:sp>
        <p:nvSpPr>
          <p:cNvPr id="8" name="Text 5"/>
          <p:cNvSpPr txBox="1"/>
          <p:nvPr/>
        </p:nvSpPr>
        <p:spPr>
          <a:xfrm>
            <a:off x="182880" y="3200400"/>
            <a:ext cx="2651760" cy="256032"/>
          </a:xfrm>
          <a:prstGeom prst="rect">
            <a:avLst/>
          </a:prstGeom>
          <a:noFill/>
          <a:ln/>
        </p:spPr>
        <p:txBody>
          <a:bodyPr wrap="square" lIns="0" tIns="0" rIns="0" bIns="0" rtlCol="0" anchor="ctr"/>
          <a:lstStyle/>
          <a:p>
            <a:pPr algn="ctr" indent="0" marL="0">
              <a:buNone/>
            </a:pPr>
            <a:r>
              <a:rPr lang="en-US" sz="1250" dirty="0">
                <a:solidFill>
                  <a:srgbClr val="C9D6E6"/>
                </a:solidFill>
              </a:rPr>
              <a:t>Scan, then type</a:t>
            </a:r>
            <a:endParaRPr lang="en-US" sz="1250" dirty="0"/>
          </a:p>
        </p:txBody>
      </p:sp>
      <p:sp>
        <p:nvSpPr>
          <p:cNvPr id="9" name="Text 6"/>
          <p:cNvSpPr txBox="1"/>
          <p:nvPr/>
        </p:nvSpPr>
        <p:spPr>
          <a:xfrm>
            <a:off x="182880" y="3493008"/>
            <a:ext cx="2651760" cy="310896"/>
          </a:xfrm>
          <a:prstGeom prst="rect">
            <a:avLst/>
          </a:prstGeom>
          <a:noFill/>
          <a:ln/>
        </p:spPr>
        <p:txBody>
          <a:bodyPr wrap="square" lIns="0" tIns="0" rIns="0" bIns="0" rtlCol="0" anchor="ctr"/>
          <a:lstStyle/>
          <a:p>
            <a:pPr algn="ctr" indent="0" marL="0">
              <a:buNone/>
            </a:pPr>
            <a:r>
              <a:rPr lang="en-US" sz="1500" b="1" dirty="0">
                <a:solidFill>
                  <a:srgbClr val="8FC1FF"/>
                </a:solidFill>
                <a:latin typeface="Courier New" pitchFamily="34" charset="0"/>
                <a:ea typeface="Courier New" pitchFamily="34" charset="-122"/>
                <a:cs typeface="Courier New" pitchFamily="34" charset="-120"/>
              </a:rPr>
              <a:t>python yatzy.py</a:t>
            </a:r>
            <a:endParaRPr lang="en-US" sz="1500" dirty="0"/>
          </a:p>
        </p:txBody>
      </p:sp>
      <p:sp>
        <p:nvSpPr>
          <p:cNvPr id="10" name="Text 7"/>
          <p:cNvSpPr txBox="1"/>
          <p:nvPr/>
        </p:nvSpPr>
        <p:spPr>
          <a:xfrm>
            <a:off x="182880" y="3931920"/>
            <a:ext cx="2651760" cy="237744"/>
          </a:xfrm>
          <a:prstGeom prst="rect">
            <a:avLst/>
          </a:prstGeom>
          <a:noFill/>
          <a:ln/>
        </p:spPr>
        <p:txBody>
          <a:bodyPr wrap="square" lIns="0" tIns="0" rIns="0" bIns="0" rtlCol="0" anchor="ctr"/>
          <a:lstStyle/>
          <a:p>
            <a:pPr algn="ctr" indent="0" marL="0">
              <a:buNone/>
            </a:pPr>
            <a:r>
              <a:rPr lang="en-US" sz="1100" dirty="0">
                <a:solidFill>
                  <a:srgbClr val="C9D6E6"/>
                </a:solidFill>
              </a:rPr>
              <a:t>neonemesis.github.io/intro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What the game does: one turn</a:t>
            </a:r>
            <a:endParaRPr lang="en-US" sz="2600" dirty="0"/>
          </a:p>
        </p:txBody>
      </p:sp>
      <p:sp>
        <p:nvSpPr>
          <p:cNvPr id="3" name="die-1"/>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631759" y="503743"/>
            <a:ext cx="71506" cy="71506"/>
          </a:xfrm>
          <a:prstGeom prst="ellipse">
            <a:avLst/>
          </a:prstGeom>
          <a:solidFill>
            <a:schemeClr val="bg1"/>
          </a:solidFill>
          <a:ln w="12700">
            <a:solidFill>
              <a:schemeClr val="bg1"/>
            </a:solidFill>
            <a:prstDash val="solid"/>
          </a:ln>
        </p:spPr>
      </p:sp>
      <p:sp>
        <p:nvSpPr>
          <p:cNvPr id="5" name="stat"/>
          <p:cNvSpPr/>
          <p:nvPr/>
        </p:nvSpPr>
        <p:spPr>
          <a:xfrm>
            <a:off x="457200" y="1143000"/>
            <a:ext cx="1828800" cy="1097280"/>
          </a:xfrm>
          <a:prstGeom prst="roundRect">
            <a:avLst>
              <a:gd name="adj" fmla="val 5833"/>
            </a:avLst>
          </a:prstGeom>
          <a:solidFill>
            <a:schemeClr val="accent5"/>
          </a:solidFill>
          <a:ln w="12700">
            <a:solidFill>
              <a:schemeClr val="accent5"/>
            </a:solidFill>
            <a:prstDash val="solid"/>
          </a:ln>
        </p:spPr>
      </p:sp>
      <p:sp>
        <p:nvSpPr>
          <p:cNvPr id="6" name="Text 4"/>
          <p:cNvSpPr txBox="1"/>
          <p:nvPr/>
        </p:nvSpPr>
        <p:spPr>
          <a:xfrm>
            <a:off x="457200" y="1188720"/>
            <a:ext cx="1828800" cy="658368"/>
          </a:xfrm>
          <a:prstGeom prst="rect">
            <a:avLst/>
          </a:prstGeom>
          <a:noFill/>
          <a:ln/>
        </p:spPr>
        <p:txBody>
          <a:bodyPr wrap="square" lIns="0" tIns="0" rIns="0" bIns="0" rtlCol="0" anchor="ctr"/>
          <a:lstStyle/>
          <a:p>
            <a:pPr algn="ctr" indent="0" marL="0">
              <a:buNone/>
            </a:pPr>
            <a:r>
              <a:rPr lang="en-US" sz="4000" b="1" dirty="0">
                <a:solidFill>
                  <a:schemeClr val="accent1"/>
                </a:solidFill>
              </a:rPr>
              <a:t>1–6</a:t>
            </a:r>
            <a:endParaRPr lang="en-US" sz="4000" dirty="0"/>
          </a:p>
        </p:txBody>
      </p:sp>
      <p:sp>
        <p:nvSpPr>
          <p:cNvPr id="7" name="Text 5"/>
          <p:cNvSpPr txBox="1"/>
          <p:nvPr/>
        </p:nvSpPr>
        <p:spPr>
          <a:xfrm>
            <a:off x="457200" y="1828800"/>
            <a:ext cx="1828800" cy="292608"/>
          </a:xfrm>
          <a:prstGeom prst="rect">
            <a:avLst/>
          </a:prstGeom>
          <a:noFill/>
          <a:ln/>
        </p:spPr>
        <p:txBody>
          <a:bodyPr wrap="square" lIns="0" tIns="0" rIns="0" bIns="0" rtlCol="0" anchor="t"/>
          <a:lstStyle/>
          <a:p>
            <a:pPr algn="ctr" indent="0" marL="0">
              <a:buNone/>
            </a:pPr>
            <a:r>
              <a:rPr lang="en-US" sz="1400" dirty="0">
                <a:solidFill>
                  <a:schemeClr val="tx1"/>
                </a:solidFill>
              </a:rPr>
              <a:t>players</a:t>
            </a:r>
            <a:endParaRPr lang="en-US" sz="1400" dirty="0"/>
          </a:p>
        </p:txBody>
      </p:sp>
      <p:sp>
        <p:nvSpPr>
          <p:cNvPr id="8" name="stat"/>
          <p:cNvSpPr/>
          <p:nvPr/>
        </p:nvSpPr>
        <p:spPr>
          <a:xfrm>
            <a:off x="2560320" y="1143000"/>
            <a:ext cx="1828800" cy="1097280"/>
          </a:xfrm>
          <a:prstGeom prst="roundRect">
            <a:avLst>
              <a:gd name="adj" fmla="val 5833"/>
            </a:avLst>
          </a:prstGeom>
          <a:solidFill>
            <a:schemeClr val="accent5"/>
          </a:solidFill>
          <a:ln w="12700">
            <a:solidFill>
              <a:schemeClr val="accent5"/>
            </a:solidFill>
            <a:prstDash val="solid"/>
          </a:ln>
        </p:spPr>
      </p:sp>
      <p:sp>
        <p:nvSpPr>
          <p:cNvPr id="9" name="Text 7"/>
          <p:cNvSpPr txBox="1"/>
          <p:nvPr/>
        </p:nvSpPr>
        <p:spPr>
          <a:xfrm>
            <a:off x="2560320" y="1188720"/>
            <a:ext cx="1828800" cy="658368"/>
          </a:xfrm>
          <a:prstGeom prst="rect">
            <a:avLst/>
          </a:prstGeom>
          <a:noFill/>
          <a:ln/>
        </p:spPr>
        <p:txBody>
          <a:bodyPr wrap="square" lIns="0" tIns="0" rIns="0" bIns="0" rtlCol="0" anchor="ctr"/>
          <a:lstStyle/>
          <a:p>
            <a:pPr algn="ctr" indent="0" marL="0">
              <a:buNone/>
            </a:pPr>
            <a:r>
              <a:rPr lang="en-US" sz="4000" b="1" dirty="0">
                <a:solidFill>
                  <a:schemeClr val="accent1"/>
                </a:solidFill>
              </a:rPr>
              <a:t>15</a:t>
            </a:r>
            <a:endParaRPr lang="en-US" sz="4000" dirty="0"/>
          </a:p>
        </p:txBody>
      </p:sp>
      <p:sp>
        <p:nvSpPr>
          <p:cNvPr id="10" name="Text 8"/>
          <p:cNvSpPr txBox="1"/>
          <p:nvPr/>
        </p:nvSpPr>
        <p:spPr>
          <a:xfrm>
            <a:off x="2560320" y="1828800"/>
            <a:ext cx="1828800" cy="292608"/>
          </a:xfrm>
          <a:prstGeom prst="rect">
            <a:avLst/>
          </a:prstGeom>
          <a:noFill/>
          <a:ln/>
        </p:spPr>
        <p:txBody>
          <a:bodyPr wrap="square" lIns="0" tIns="0" rIns="0" bIns="0" rtlCol="0" anchor="t"/>
          <a:lstStyle/>
          <a:p>
            <a:pPr algn="ctr" indent="0" marL="0">
              <a:buNone/>
            </a:pPr>
            <a:r>
              <a:rPr lang="en-US" sz="1400" dirty="0">
                <a:solidFill>
                  <a:schemeClr val="tx1"/>
                </a:solidFill>
              </a:rPr>
              <a:t>categories</a:t>
            </a:r>
            <a:endParaRPr lang="en-US" sz="1400" dirty="0"/>
          </a:p>
        </p:txBody>
      </p:sp>
      <p:sp>
        <p:nvSpPr>
          <p:cNvPr id="11" name="stat"/>
          <p:cNvSpPr/>
          <p:nvPr/>
        </p:nvSpPr>
        <p:spPr>
          <a:xfrm>
            <a:off x="4663440" y="1143000"/>
            <a:ext cx="1828800" cy="1097280"/>
          </a:xfrm>
          <a:prstGeom prst="roundRect">
            <a:avLst>
              <a:gd name="adj" fmla="val 5833"/>
            </a:avLst>
          </a:prstGeom>
          <a:solidFill>
            <a:schemeClr val="accent5"/>
          </a:solidFill>
          <a:ln w="12700">
            <a:solidFill>
              <a:schemeClr val="accent5"/>
            </a:solidFill>
            <a:prstDash val="solid"/>
          </a:ln>
        </p:spPr>
      </p:sp>
      <p:sp>
        <p:nvSpPr>
          <p:cNvPr id="12" name="Text 10"/>
          <p:cNvSpPr txBox="1"/>
          <p:nvPr/>
        </p:nvSpPr>
        <p:spPr>
          <a:xfrm>
            <a:off x="4663440" y="1188720"/>
            <a:ext cx="1828800" cy="658368"/>
          </a:xfrm>
          <a:prstGeom prst="rect">
            <a:avLst/>
          </a:prstGeom>
          <a:noFill/>
          <a:ln/>
        </p:spPr>
        <p:txBody>
          <a:bodyPr wrap="square" lIns="0" tIns="0" rIns="0" bIns="0" rtlCol="0" anchor="ctr"/>
          <a:lstStyle/>
          <a:p>
            <a:pPr algn="ctr" indent="0" marL="0">
              <a:buNone/>
            </a:pPr>
            <a:r>
              <a:rPr lang="en-US" sz="4000" b="1" dirty="0">
                <a:solidFill>
                  <a:schemeClr val="accent1"/>
                </a:solidFill>
              </a:rPr>
              <a:t>3</a:t>
            </a:r>
            <a:endParaRPr lang="en-US" sz="4000" dirty="0"/>
          </a:p>
        </p:txBody>
      </p:sp>
      <p:sp>
        <p:nvSpPr>
          <p:cNvPr id="13" name="Text 11"/>
          <p:cNvSpPr txBox="1"/>
          <p:nvPr/>
        </p:nvSpPr>
        <p:spPr>
          <a:xfrm>
            <a:off x="4663440" y="1828800"/>
            <a:ext cx="1828800" cy="292608"/>
          </a:xfrm>
          <a:prstGeom prst="rect">
            <a:avLst/>
          </a:prstGeom>
          <a:noFill/>
          <a:ln/>
        </p:spPr>
        <p:txBody>
          <a:bodyPr wrap="square" lIns="0" tIns="0" rIns="0" bIns="0" rtlCol="0" anchor="t"/>
          <a:lstStyle/>
          <a:p>
            <a:pPr algn="ctr" indent="0" marL="0">
              <a:buNone/>
            </a:pPr>
            <a:r>
              <a:rPr lang="en-US" sz="1400" dirty="0">
                <a:solidFill>
                  <a:schemeClr val="tx1"/>
                </a:solidFill>
              </a:rPr>
              <a:t>rolls per turn</a:t>
            </a:r>
            <a:endParaRPr lang="en-US" sz="1400" dirty="0"/>
          </a:p>
        </p:txBody>
      </p:sp>
      <p:sp>
        <p:nvSpPr>
          <p:cNvPr id="14" name="stat"/>
          <p:cNvSpPr/>
          <p:nvPr/>
        </p:nvSpPr>
        <p:spPr>
          <a:xfrm>
            <a:off x="6766560" y="1143000"/>
            <a:ext cx="1828800" cy="1097280"/>
          </a:xfrm>
          <a:prstGeom prst="roundRect">
            <a:avLst>
              <a:gd name="adj" fmla="val 5833"/>
            </a:avLst>
          </a:prstGeom>
          <a:solidFill>
            <a:schemeClr val="accent5"/>
          </a:solidFill>
          <a:ln w="12700">
            <a:solidFill>
              <a:schemeClr val="accent5"/>
            </a:solidFill>
            <a:prstDash val="solid"/>
          </a:ln>
        </p:spPr>
      </p:sp>
      <p:sp>
        <p:nvSpPr>
          <p:cNvPr id="15" name="Text 13"/>
          <p:cNvSpPr txBox="1"/>
          <p:nvPr/>
        </p:nvSpPr>
        <p:spPr>
          <a:xfrm>
            <a:off x="6766560" y="1188720"/>
            <a:ext cx="1828800" cy="658368"/>
          </a:xfrm>
          <a:prstGeom prst="rect">
            <a:avLst/>
          </a:prstGeom>
          <a:noFill/>
          <a:ln/>
        </p:spPr>
        <p:txBody>
          <a:bodyPr wrap="square" lIns="0" tIns="0" rIns="0" bIns="0" rtlCol="0" anchor="ctr"/>
          <a:lstStyle/>
          <a:p>
            <a:pPr algn="ctr" indent="0" marL="0">
              <a:buNone/>
            </a:pPr>
            <a:r>
              <a:rPr lang="en-US" sz="4000" b="1" dirty="0">
                <a:solidFill>
                  <a:schemeClr val="accent1"/>
                </a:solidFill>
              </a:rPr>
              <a:t>11</a:t>
            </a:r>
            <a:endParaRPr lang="en-US" sz="4000" dirty="0"/>
          </a:p>
        </p:txBody>
      </p:sp>
      <p:sp>
        <p:nvSpPr>
          <p:cNvPr id="16" name="Text 14"/>
          <p:cNvSpPr txBox="1"/>
          <p:nvPr/>
        </p:nvSpPr>
        <p:spPr>
          <a:xfrm>
            <a:off x="6766560" y="1828800"/>
            <a:ext cx="1828800" cy="292608"/>
          </a:xfrm>
          <a:prstGeom prst="rect">
            <a:avLst/>
          </a:prstGeom>
          <a:noFill/>
          <a:ln/>
        </p:spPr>
        <p:txBody>
          <a:bodyPr wrap="square" lIns="0" tIns="0" rIns="0" bIns="0" rtlCol="0" anchor="t"/>
          <a:lstStyle/>
          <a:p>
            <a:pPr algn="ctr" indent="0" marL="0">
              <a:buNone/>
            </a:pPr>
            <a:r>
              <a:rPr lang="en-US" sz="1400" dirty="0">
                <a:solidFill>
                  <a:schemeClr val="tx1"/>
                </a:solidFill>
              </a:rPr>
              <a:t>automated tests</a:t>
            </a:r>
            <a:endParaRPr lang="en-US" sz="1400" dirty="0"/>
          </a:p>
        </p:txBody>
      </p:sp>
      <p:sp>
        <p:nvSpPr>
          <p:cNvPr id="17" name="step"/>
          <p:cNvSpPr/>
          <p:nvPr/>
        </p:nvSpPr>
        <p:spPr>
          <a:xfrm>
            <a:off x="457200" y="2606040"/>
            <a:ext cx="1828800" cy="914400"/>
          </a:xfrm>
          <a:prstGeom prst="roundRect">
            <a:avLst>
              <a:gd name="adj" fmla="val 7000"/>
            </a:avLst>
          </a:prstGeom>
          <a:solidFill>
            <a:srgbClr val="E9E9E9"/>
          </a:solidFill>
          <a:ln w="12700">
            <a:solidFill>
              <a:srgbClr val="E9E9E9"/>
            </a:solidFill>
            <a:prstDash val="solid"/>
          </a:ln>
        </p:spPr>
      </p:sp>
      <p:sp>
        <p:nvSpPr>
          <p:cNvPr id="18" name="marker-1"/>
          <p:cNvSpPr/>
          <p:nvPr/>
        </p:nvSpPr>
        <p:spPr>
          <a:xfrm>
            <a:off x="594360" y="2715768"/>
            <a:ext cx="274320" cy="274320"/>
          </a:xfrm>
          <a:prstGeom prst="ellipse">
            <a:avLst/>
          </a:prstGeom>
          <a:solidFill>
            <a:schemeClr val="accent1"/>
          </a:solidFill>
          <a:ln w="12700">
            <a:solidFill>
              <a:schemeClr val="accent1"/>
            </a:solidFill>
            <a:prstDash val="solid"/>
          </a:ln>
        </p:spPr>
      </p:sp>
      <p:sp>
        <p:nvSpPr>
          <p:cNvPr id="19" name="Text 17"/>
          <p:cNvSpPr txBox="1"/>
          <p:nvPr/>
        </p:nvSpPr>
        <p:spPr>
          <a:xfrm>
            <a:off x="594360" y="27157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0" name="Text 18"/>
          <p:cNvSpPr txBox="1"/>
          <p:nvPr/>
        </p:nvSpPr>
        <p:spPr>
          <a:xfrm>
            <a:off x="594360" y="3044952"/>
            <a:ext cx="1600200" cy="438912"/>
          </a:xfrm>
          <a:prstGeom prst="rect">
            <a:avLst/>
          </a:prstGeom>
          <a:noFill/>
          <a:ln/>
        </p:spPr>
        <p:txBody>
          <a:bodyPr wrap="square" lIns="0" tIns="0" rIns="0" bIns="0" rtlCol="0" anchor="t"/>
          <a:lstStyle/>
          <a:p>
            <a:pPr indent="0" marL="0">
              <a:buNone/>
            </a:pPr>
            <a:r>
              <a:rPr lang="en-US" sz="1400" dirty="0">
                <a:solidFill>
                  <a:schemeClr val="tx1"/>
                </a:solidFill>
              </a:rPr>
              <a:t>Roll all </a:t>
            </a:r>
            <a:r>
              <a:rPr lang="en-US" sz="1400" b="1" dirty="0">
                <a:solidFill>
                  <a:schemeClr val="accent2"/>
                </a:solidFill>
              </a:rPr>
              <a:t>five dice</a:t>
            </a:r>
            <a:endParaRPr lang="en-US" sz="1400" dirty="0"/>
          </a:p>
        </p:txBody>
      </p:sp>
      <p:sp>
        <p:nvSpPr>
          <p:cNvPr id="21" name="Shape 19"/>
          <p:cNvSpPr/>
          <p:nvPr/>
        </p:nvSpPr>
        <p:spPr>
          <a:xfrm>
            <a:off x="2340864" y="2962656"/>
            <a:ext cx="164592" cy="201168"/>
          </a:xfrm>
          <a:prstGeom prst="chevron">
            <a:avLst/>
          </a:prstGeom>
          <a:solidFill>
            <a:schemeClr val="accent1"/>
          </a:solidFill>
          <a:ln w="12700">
            <a:solidFill>
              <a:schemeClr val="accent1"/>
            </a:solidFill>
            <a:prstDash val="solid"/>
          </a:ln>
        </p:spPr>
      </p:sp>
      <p:sp>
        <p:nvSpPr>
          <p:cNvPr id="22" name="step"/>
          <p:cNvSpPr/>
          <p:nvPr/>
        </p:nvSpPr>
        <p:spPr>
          <a:xfrm>
            <a:off x="2560320" y="2606040"/>
            <a:ext cx="1828800" cy="914400"/>
          </a:xfrm>
          <a:prstGeom prst="roundRect">
            <a:avLst>
              <a:gd name="adj" fmla="val 7000"/>
            </a:avLst>
          </a:prstGeom>
          <a:solidFill>
            <a:srgbClr val="E9E9E9"/>
          </a:solidFill>
          <a:ln w="12700">
            <a:solidFill>
              <a:srgbClr val="E9E9E9"/>
            </a:solidFill>
            <a:prstDash val="solid"/>
          </a:ln>
        </p:spPr>
      </p:sp>
      <p:sp>
        <p:nvSpPr>
          <p:cNvPr id="23" name="marker-2"/>
          <p:cNvSpPr/>
          <p:nvPr/>
        </p:nvSpPr>
        <p:spPr>
          <a:xfrm>
            <a:off x="2697480" y="2715768"/>
            <a:ext cx="274320" cy="274320"/>
          </a:xfrm>
          <a:prstGeom prst="ellipse">
            <a:avLst/>
          </a:prstGeom>
          <a:solidFill>
            <a:schemeClr val="accent1"/>
          </a:solidFill>
          <a:ln w="12700">
            <a:solidFill>
              <a:schemeClr val="accent1"/>
            </a:solidFill>
            <a:prstDash val="solid"/>
          </a:ln>
        </p:spPr>
      </p:sp>
      <p:sp>
        <p:nvSpPr>
          <p:cNvPr id="24" name="Text 22"/>
          <p:cNvSpPr txBox="1"/>
          <p:nvPr/>
        </p:nvSpPr>
        <p:spPr>
          <a:xfrm>
            <a:off x="2697480" y="27157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5" name="Text 23"/>
          <p:cNvSpPr txBox="1"/>
          <p:nvPr/>
        </p:nvSpPr>
        <p:spPr>
          <a:xfrm>
            <a:off x="2697480" y="3044952"/>
            <a:ext cx="1600200" cy="438912"/>
          </a:xfrm>
          <a:prstGeom prst="rect">
            <a:avLst/>
          </a:prstGeom>
          <a:noFill/>
          <a:ln/>
        </p:spPr>
        <p:txBody>
          <a:bodyPr wrap="square" lIns="0" tIns="0" rIns="0" bIns="0" rtlCol="0" anchor="t"/>
          <a:lstStyle/>
          <a:p>
            <a:pPr indent="0" marL="0">
              <a:buNone/>
            </a:pPr>
            <a:r>
              <a:rPr lang="en-US" sz="1400" dirty="0">
                <a:solidFill>
                  <a:schemeClr val="tx1"/>
                </a:solidFill>
              </a:rPr>
              <a:t>Choose which dice to </a:t>
            </a:r>
            <a:r>
              <a:rPr lang="en-US" sz="1400" b="1" dirty="0">
                <a:solidFill>
                  <a:schemeClr val="accent2"/>
                </a:solidFill>
              </a:rPr>
              <a:t>hold</a:t>
            </a:r>
            <a:endParaRPr lang="en-US" sz="1400" dirty="0"/>
          </a:p>
        </p:txBody>
      </p:sp>
      <p:sp>
        <p:nvSpPr>
          <p:cNvPr id="26" name="Shape 24"/>
          <p:cNvSpPr/>
          <p:nvPr/>
        </p:nvSpPr>
        <p:spPr>
          <a:xfrm>
            <a:off x="4443984" y="2962656"/>
            <a:ext cx="164592" cy="201168"/>
          </a:xfrm>
          <a:prstGeom prst="chevron">
            <a:avLst/>
          </a:prstGeom>
          <a:solidFill>
            <a:schemeClr val="accent1"/>
          </a:solidFill>
          <a:ln w="12700">
            <a:solidFill>
              <a:schemeClr val="accent1"/>
            </a:solidFill>
            <a:prstDash val="solid"/>
          </a:ln>
        </p:spPr>
      </p:sp>
      <p:sp>
        <p:nvSpPr>
          <p:cNvPr id="27" name="step"/>
          <p:cNvSpPr/>
          <p:nvPr/>
        </p:nvSpPr>
        <p:spPr>
          <a:xfrm>
            <a:off x="4663440" y="2606040"/>
            <a:ext cx="1828800" cy="914400"/>
          </a:xfrm>
          <a:prstGeom prst="roundRect">
            <a:avLst>
              <a:gd name="adj" fmla="val 7000"/>
            </a:avLst>
          </a:prstGeom>
          <a:solidFill>
            <a:srgbClr val="E9E9E9"/>
          </a:solidFill>
          <a:ln w="12700">
            <a:solidFill>
              <a:srgbClr val="E9E9E9"/>
            </a:solidFill>
            <a:prstDash val="solid"/>
          </a:ln>
        </p:spPr>
      </p:sp>
      <p:sp>
        <p:nvSpPr>
          <p:cNvPr id="28" name="marker-3"/>
          <p:cNvSpPr/>
          <p:nvPr/>
        </p:nvSpPr>
        <p:spPr>
          <a:xfrm>
            <a:off x="4800600" y="2715768"/>
            <a:ext cx="274320" cy="274320"/>
          </a:xfrm>
          <a:prstGeom prst="ellipse">
            <a:avLst/>
          </a:prstGeom>
          <a:solidFill>
            <a:schemeClr val="accent1"/>
          </a:solidFill>
          <a:ln w="12700">
            <a:solidFill>
              <a:schemeClr val="accent1"/>
            </a:solidFill>
            <a:prstDash val="solid"/>
          </a:ln>
        </p:spPr>
      </p:sp>
      <p:sp>
        <p:nvSpPr>
          <p:cNvPr id="29" name="Text 27"/>
          <p:cNvSpPr txBox="1"/>
          <p:nvPr/>
        </p:nvSpPr>
        <p:spPr>
          <a:xfrm>
            <a:off x="4800600" y="27157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0" name="Text 28"/>
          <p:cNvSpPr txBox="1"/>
          <p:nvPr/>
        </p:nvSpPr>
        <p:spPr>
          <a:xfrm>
            <a:off x="4800600" y="3044952"/>
            <a:ext cx="1600200" cy="438912"/>
          </a:xfrm>
          <a:prstGeom prst="rect">
            <a:avLst/>
          </a:prstGeom>
          <a:noFill/>
          <a:ln/>
        </p:spPr>
        <p:txBody>
          <a:bodyPr wrap="square" lIns="0" tIns="0" rIns="0" bIns="0" rtlCol="0" anchor="t"/>
          <a:lstStyle/>
          <a:p>
            <a:pPr indent="0" marL="0">
              <a:buNone/>
            </a:pPr>
            <a:r>
              <a:rPr lang="en-US" sz="1400" dirty="0">
                <a:solidFill>
                  <a:schemeClr val="tx1"/>
                </a:solidFill>
              </a:rPr>
              <a:t>Reroll the rest, </a:t>
            </a:r>
            <a:r>
              <a:rPr lang="en-US" sz="1400" b="1" dirty="0">
                <a:solidFill>
                  <a:schemeClr val="accent2"/>
                </a:solidFill>
              </a:rPr>
              <a:t>three rolls</a:t>
            </a:r>
            <a:r>
              <a:rPr lang="en-US" sz="1400" dirty="0">
                <a:solidFill>
                  <a:schemeClr val="tx1"/>
                </a:solidFill>
              </a:rPr>
              <a:t> max</a:t>
            </a:r>
            <a:endParaRPr lang="en-US" sz="1400" dirty="0"/>
          </a:p>
        </p:txBody>
      </p:sp>
      <p:sp>
        <p:nvSpPr>
          <p:cNvPr id="31" name="Shape 29"/>
          <p:cNvSpPr/>
          <p:nvPr/>
        </p:nvSpPr>
        <p:spPr>
          <a:xfrm>
            <a:off x="6547104" y="2962656"/>
            <a:ext cx="164592" cy="201168"/>
          </a:xfrm>
          <a:prstGeom prst="chevron">
            <a:avLst/>
          </a:prstGeom>
          <a:solidFill>
            <a:schemeClr val="accent1"/>
          </a:solidFill>
          <a:ln w="12700">
            <a:solidFill>
              <a:schemeClr val="accent1"/>
            </a:solidFill>
            <a:prstDash val="solid"/>
          </a:ln>
        </p:spPr>
      </p:sp>
      <p:sp>
        <p:nvSpPr>
          <p:cNvPr id="32" name="step"/>
          <p:cNvSpPr/>
          <p:nvPr/>
        </p:nvSpPr>
        <p:spPr>
          <a:xfrm>
            <a:off x="6766560" y="2606040"/>
            <a:ext cx="1828800" cy="914400"/>
          </a:xfrm>
          <a:prstGeom prst="roundRect">
            <a:avLst>
              <a:gd name="adj" fmla="val 7000"/>
            </a:avLst>
          </a:prstGeom>
          <a:solidFill>
            <a:srgbClr val="E9E9E9"/>
          </a:solidFill>
          <a:ln w="12700">
            <a:solidFill>
              <a:srgbClr val="E9E9E9"/>
            </a:solidFill>
            <a:prstDash val="solid"/>
          </a:ln>
        </p:spPr>
      </p:sp>
      <p:sp>
        <p:nvSpPr>
          <p:cNvPr id="33" name="marker-4"/>
          <p:cNvSpPr/>
          <p:nvPr/>
        </p:nvSpPr>
        <p:spPr>
          <a:xfrm>
            <a:off x="6903720" y="2715768"/>
            <a:ext cx="274320" cy="274320"/>
          </a:xfrm>
          <a:prstGeom prst="ellipse">
            <a:avLst/>
          </a:prstGeom>
          <a:solidFill>
            <a:schemeClr val="accent1"/>
          </a:solidFill>
          <a:ln w="12700">
            <a:solidFill>
              <a:schemeClr val="accent1"/>
            </a:solidFill>
            <a:prstDash val="solid"/>
          </a:ln>
        </p:spPr>
      </p:sp>
      <p:sp>
        <p:nvSpPr>
          <p:cNvPr id="34" name="Text 32"/>
          <p:cNvSpPr txBox="1"/>
          <p:nvPr/>
        </p:nvSpPr>
        <p:spPr>
          <a:xfrm>
            <a:off x="6903720" y="27157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5" name="Text 33"/>
          <p:cNvSpPr txBox="1"/>
          <p:nvPr/>
        </p:nvSpPr>
        <p:spPr>
          <a:xfrm>
            <a:off x="6903720" y="3044952"/>
            <a:ext cx="1600200" cy="438912"/>
          </a:xfrm>
          <a:prstGeom prst="rect">
            <a:avLst/>
          </a:prstGeom>
          <a:noFill/>
          <a:ln/>
        </p:spPr>
        <p:txBody>
          <a:bodyPr wrap="square" lIns="0" tIns="0" rIns="0" bIns="0" rtlCol="0" anchor="t"/>
          <a:lstStyle/>
          <a:p>
            <a:pPr indent="0" marL="0">
              <a:buNone/>
            </a:pPr>
            <a:r>
              <a:rPr lang="en-US" sz="1400" dirty="0">
                <a:solidFill>
                  <a:schemeClr val="tx1"/>
                </a:solidFill>
              </a:rPr>
              <a:t>Score in a </a:t>
            </a:r>
            <a:r>
              <a:rPr lang="en-US" sz="1400" b="1" dirty="0">
                <a:solidFill>
                  <a:schemeClr val="accent2"/>
                </a:solidFill>
              </a:rPr>
              <a:t>free category</a:t>
            </a:r>
            <a:endParaRPr lang="en-US" sz="1400" dirty="0"/>
          </a:p>
        </p:txBody>
      </p:sp>
      <p:sp>
        <p:nvSpPr>
          <p:cNvPr id="36" name="Text 34"/>
          <p:cNvSpPr txBox="1"/>
          <p:nvPr/>
        </p:nvSpPr>
        <p:spPr>
          <a:xfrm>
            <a:off x="457200" y="3794760"/>
            <a:ext cx="8229600" cy="457200"/>
          </a:xfrm>
          <a:prstGeom prst="rect">
            <a:avLst/>
          </a:prstGeom>
          <a:noFill/>
          <a:ln/>
        </p:spPr>
        <p:txBody>
          <a:bodyPr wrap="square" lIns="0" tIns="0" rIns="0" bIns="0" rtlCol="0" anchor="t"/>
          <a:lstStyle/>
          <a:p>
            <a:pPr indent="0" marL="0">
              <a:buNone/>
            </a:pPr>
            <a:r>
              <a:rPr lang="en-US" sz="1400" dirty="0">
                <a:solidFill>
                  <a:schemeClr val="accent4"/>
                </a:solidFill>
              </a:rPr>
              <a:t>The game ends when everyone has filled their scorecard. Highest total wins. At least </a:t>
            </a:r>
            <a:r>
              <a:rPr lang="en-US" sz="1400" b="1" dirty="0">
                <a:solidFill>
                  <a:schemeClr val="accent2"/>
                </a:solidFill>
              </a:rPr>
              <a:t>63 points</a:t>
            </a:r>
            <a:r>
              <a:rPr lang="en-US" sz="1400" dirty="0">
                <a:solidFill>
                  <a:schemeClr val="accent4"/>
                </a:solidFill>
              </a:rPr>
              <a:t> on ones–sixes gives a </a:t>
            </a:r>
            <a:r>
              <a:rPr lang="en-US" sz="1400" b="1" dirty="0">
                <a:solidFill>
                  <a:schemeClr val="accent2"/>
                </a:solidFill>
              </a:rPr>
              <a:t>50-point bonus</a:t>
            </a:r>
            <a:r>
              <a:rPr lang="en-US" sz="1400" dirty="0">
                <a:solidFill>
                  <a:schemeClr val="accent4"/>
                </a:solidFill>
              </a:rPr>
              <a:t>.</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Four files: logic and view kept apart</a:t>
            </a:r>
            <a:endParaRPr lang="en-US" sz="2600" dirty="0"/>
          </a:p>
        </p:txBody>
      </p:sp>
      <p:sp>
        <p:nvSpPr>
          <p:cNvPr id="3" name="die-2"/>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617311"/>
            <a:ext cx="71506" cy="71506"/>
          </a:xfrm>
          <a:prstGeom prst="ellipse">
            <a:avLst/>
          </a:prstGeom>
          <a:solidFill>
            <a:schemeClr val="bg1"/>
          </a:solidFill>
          <a:ln w="12700">
            <a:solidFill>
              <a:schemeClr val="bg1"/>
            </a:solidFill>
            <a:prstDash val="solid"/>
          </a:ln>
        </p:spPr>
      </p:sp>
      <p:sp>
        <p:nvSpPr>
          <p:cNvPr id="6" name="file-yatzy.py"/>
          <p:cNvSpPr/>
          <p:nvPr/>
        </p:nvSpPr>
        <p:spPr>
          <a:xfrm>
            <a:off x="457200" y="1143000"/>
            <a:ext cx="3840480" cy="566928"/>
          </a:xfrm>
          <a:prstGeom prst="roundRect">
            <a:avLst>
              <a:gd name="adj" fmla="val 11290"/>
            </a:avLst>
          </a:prstGeom>
          <a:solidFill>
            <a:schemeClr val="accent5"/>
          </a:solidFill>
          <a:ln w="12700">
            <a:solidFill>
              <a:schemeClr val="accent5"/>
            </a:solidFill>
            <a:prstDash val="solid"/>
          </a:ln>
        </p:spPr>
      </p:sp>
      <p:sp>
        <p:nvSpPr>
          <p:cNvPr id="7" name="Text 5"/>
          <p:cNvSpPr txBox="1"/>
          <p:nvPr/>
        </p:nvSpPr>
        <p:spPr>
          <a:xfrm>
            <a:off x="640080" y="1207008"/>
            <a:ext cx="3566160" cy="237744"/>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yatzy.py</a:t>
            </a:r>
            <a:endParaRPr lang="en-US" sz="1400" dirty="0"/>
          </a:p>
        </p:txBody>
      </p:sp>
      <p:sp>
        <p:nvSpPr>
          <p:cNvPr id="8" name="Text 6"/>
          <p:cNvSpPr txBox="1"/>
          <p:nvPr/>
        </p:nvSpPr>
        <p:spPr>
          <a:xfrm>
            <a:off x="640080" y="1444752"/>
            <a:ext cx="3566160" cy="219456"/>
          </a:xfrm>
          <a:prstGeom prst="rect">
            <a:avLst/>
          </a:prstGeom>
          <a:noFill/>
          <a:ln/>
        </p:spPr>
        <p:txBody>
          <a:bodyPr wrap="square" lIns="0" tIns="0" rIns="0" bIns="0" rtlCol="0" anchor="ctr"/>
          <a:lstStyle/>
          <a:p>
            <a:pPr indent="0" marL="0">
              <a:buNone/>
            </a:pPr>
            <a:r>
              <a:rPr lang="en-US" sz="1300" dirty="0">
                <a:solidFill>
                  <a:schemeClr val="accent4"/>
                </a:solidFill>
              </a:rPr>
              <a:t>Starts the game, catches Ctrl+C</a:t>
            </a:r>
            <a:endParaRPr lang="en-US" sz="1300" dirty="0"/>
          </a:p>
        </p:txBody>
      </p:sp>
      <p:sp>
        <p:nvSpPr>
          <p:cNvPr id="9" name="Shape 7"/>
          <p:cNvSpPr/>
          <p:nvPr/>
        </p:nvSpPr>
        <p:spPr>
          <a:xfrm>
            <a:off x="2258568" y="1719072"/>
            <a:ext cx="237744" cy="164592"/>
          </a:xfrm>
          <a:prstGeom prst="downArrow">
            <a:avLst/>
          </a:prstGeom>
          <a:solidFill>
            <a:schemeClr val="accent1"/>
          </a:solidFill>
          <a:ln w="12700">
            <a:solidFill>
              <a:schemeClr val="accent1"/>
            </a:solidFill>
            <a:prstDash val="solid"/>
          </a:ln>
        </p:spPr>
      </p:sp>
      <p:sp>
        <p:nvSpPr>
          <p:cNvPr id="10" name="file-terminal_view.py"/>
          <p:cNvSpPr/>
          <p:nvPr/>
        </p:nvSpPr>
        <p:spPr>
          <a:xfrm>
            <a:off x="457200" y="1892808"/>
            <a:ext cx="3840480" cy="566928"/>
          </a:xfrm>
          <a:prstGeom prst="roundRect">
            <a:avLst>
              <a:gd name="adj" fmla="val 11290"/>
            </a:avLst>
          </a:prstGeom>
          <a:solidFill>
            <a:schemeClr val="accent5"/>
          </a:solidFill>
          <a:ln w="12700">
            <a:solidFill>
              <a:schemeClr val="accent5"/>
            </a:solidFill>
            <a:prstDash val="solid"/>
          </a:ln>
        </p:spPr>
      </p:sp>
      <p:sp>
        <p:nvSpPr>
          <p:cNvPr id="11" name="Text 9"/>
          <p:cNvSpPr txBox="1"/>
          <p:nvPr/>
        </p:nvSpPr>
        <p:spPr>
          <a:xfrm>
            <a:off x="640080" y="1956816"/>
            <a:ext cx="3566160" cy="237744"/>
          </a:xfrm>
          <a:prstGeom prst="rect">
            <a:avLst/>
          </a:prstGeom>
          <a:noFill/>
          <a:ln/>
        </p:spPr>
        <p:txBody>
          <a:bodyPr wrap="square" lIns="0" tIns="0" rIns="0" bIns="0" rtlCol="0" anchor="ctr"/>
          <a:lstStyle/>
          <a:p>
            <a:pPr indent="0" marL="0">
              <a:buNone/>
            </a:pPr>
            <a:r>
              <a:rPr lang="en-US" sz="1400" b="1" dirty="0">
                <a:solidFill>
                  <a:schemeClr val="tx2"/>
                </a:solidFill>
                <a:latin typeface="Courier New" pitchFamily="34" charset="0"/>
                <a:ea typeface="Courier New" pitchFamily="34" charset="-122"/>
                <a:cs typeface="Courier New" pitchFamily="34" charset="-120"/>
              </a:rPr>
              <a:t>terminal_view.py</a:t>
            </a:r>
            <a:endParaRPr lang="en-US" sz="1400" dirty="0"/>
          </a:p>
        </p:txBody>
      </p:sp>
      <p:sp>
        <p:nvSpPr>
          <p:cNvPr id="12" name="Text 10"/>
          <p:cNvSpPr txBox="1"/>
          <p:nvPr/>
        </p:nvSpPr>
        <p:spPr>
          <a:xfrm>
            <a:off x="640080" y="2194560"/>
            <a:ext cx="3566160" cy="219456"/>
          </a:xfrm>
          <a:prstGeom prst="rect">
            <a:avLst/>
          </a:prstGeom>
          <a:noFill/>
          <a:ln/>
        </p:spPr>
        <p:txBody>
          <a:bodyPr wrap="square" lIns="0" tIns="0" rIns="0" bIns="0" rtlCol="0" anchor="ctr"/>
          <a:lstStyle/>
          <a:p>
            <a:pPr indent="0" marL="0">
              <a:buNone/>
            </a:pPr>
            <a:r>
              <a:rPr lang="en-US" sz="1300" dirty="0">
                <a:solidFill>
                  <a:schemeClr val="accent4"/>
                </a:solidFill>
              </a:rPr>
              <a:t>All input and output</a:t>
            </a:r>
            <a:endParaRPr lang="en-US" sz="1300" dirty="0"/>
          </a:p>
        </p:txBody>
      </p:sp>
      <p:sp>
        <p:nvSpPr>
          <p:cNvPr id="13" name="Shape 11"/>
          <p:cNvSpPr/>
          <p:nvPr/>
        </p:nvSpPr>
        <p:spPr>
          <a:xfrm>
            <a:off x="2258568" y="2468880"/>
            <a:ext cx="237744" cy="164592"/>
          </a:xfrm>
          <a:prstGeom prst="downArrow">
            <a:avLst/>
          </a:prstGeom>
          <a:solidFill>
            <a:schemeClr val="accent1"/>
          </a:solidFill>
          <a:ln w="12700">
            <a:solidFill>
              <a:schemeClr val="accent1"/>
            </a:solidFill>
            <a:prstDash val="solid"/>
          </a:ln>
        </p:spPr>
      </p:sp>
      <p:sp>
        <p:nvSpPr>
          <p:cNvPr id="14" name="file-game.py"/>
          <p:cNvSpPr/>
          <p:nvPr/>
        </p:nvSpPr>
        <p:spPr>
          <a:xfrm>
            <a:off x="457200" y="2642616"/>
            <a:ext cx="3840480" cy="566928"/>
          </a:xfrm>
          <a:prstGeom prst="roundRect">
            <a:avLst>
              <a:gd name="adj" fmla="val 11290"/>
            </a:avLst>
          </a:prstGeom>
          <a:solidFill>
            <a:schemeClr val="tx2"/>
          </a:solidFill>
          <a:ln w="12700">
            <a:solidFill>
              <a:schemeClr val="tx2"/>
            </a:solidFill>
            <a:prstDash val="solid"/>
          </a:ln>
        </p:spPr>
      </p:sp>
      <p:sp>
        <p:nvSpPr>
          <p:cNvPr id="15" name="Text 13"/>
          <p:cNvSpPr txBox="1"/>
          <p:nvPr/>
        </p:nvSpPr>
        <p:spPr>
          <a:xfrm>
            <a:off x="640080" y="2706624"/>
            <a:ext cx="3566160" cy="237744"/>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game.py</a:t>
            </a:r>
            <a:endParaRPr lang="en-US" sz="1400" dirty="0"/>
          </a:p>
        </p:txBody>
      </p:sp>
      <p:sp>
        <p:nvSpPr>
          <p:cNvPr id="16" name="Text 14"/>
          <p:cNvSpPr txBox="1"/>
          <p:nvPr/>
        </p:nvSpPr>
        <p:spPr>
          <a:xfrm>
            <a:off x="640080" y="2944368"/>
            <a:ext cx="3566160" cy="219456"/>
          </a:xfrm>
          <a:prstGeom prst="rect">
            <a:avLst/>
          </a:prstGeom>
          <a:noFill/>
          <a:ln/>
        </p:spPr>
        <p:txBody>
          <a:bodyPr wrap="square" lIns="0" tIns="0" rIns="0" bIns="0" rtlCol="0" anchor="ctr"/>
          <a:lstStyle/>
          <a:p>
            <a:pPr indent="0" marL="0">
              <a:buNone/>
            </a:pPr>
            <a:r>
              <a:rPr lang="en-US" sz="1300" dirty="0">
                <a:solidFill>
                  <a:srgbClr val="C9D6E6"/>
                </a:solidFill>
              </a:rPr>
              <a:t>Game rules: Dice, Player, Game</a:t>
            </a:r>
            <a:endParaRPr lang="en-US" sz="1300" dirty="0"/>
          </a:p>
        </p:txBody>
      </p:sp>
      <p:sp>
        <p:nvSpPr>
          <p:cNvPr id="17" name="Shape 15"/>
          <p:cNvSpPr/>
          <p:nvPr/>
        </p:nvSpPr>
        <p:spPr>
          <a:xfrm>
            <a:off x="2258568" y="3218688"/>
            <a:ext cx="237744" cy="164592"/>
          </a:xfrm>
          <a:prstGeom prst="downArrow">
            <a:avLst/>
          </a:prstGeom>
          <a:solidFill>
            <a:schemeClr val="accent1"/>
          </a:solidFill>
          <a:ln w="12700">
            <a:solidFill>
              <a:schemeClr val="accent1"/>
            </a:solidFill>
            <a:prstDash val="solid"/>
          </a:ln>
        </p:spPr>
      </p:sp>
      <p:sp>
        <p:nvSpPr>
          <p:cNvPr id="18" name="file-scoring.py"/>
          <p:cNvSpPr/>
          <p:nvPr/>
        </p:nvSpPr>
        <p:spPr>
          <a:xfrm>
            <a:off x="457200" y="3392424"/>
            <a:ext cx="3840480" cy="566928"/>
          </a:xfrm>
          <a:prstGeom prst="roundRect">
            <a:avLst>
              <a:gd name="adj" fmla="val 11290"/>
            </a:avLst>
          </a:prstGeom>
          <a:solidFill>
            <a:schemeClr val="tx2"/>
          </a:solidFill>
          <a:ln w="12700">
            <a:solidFill>
              <a:schemeClr val="tx2"/>
            </a:solidFill>
            <a:prstDash val="solid"/>
          </a:ln>
        </p:spPr>
      </p:sp>
      <p:sp>
        <p:nvSpPr>
          <p:cNvPr id="19" name="Text 17"/>
          <p:cNvSpPr txBox="1"/>
          <p:nvPr/>
        </p:nvSpPr>
        <p:spPr>
          <a:xfrm>
            <a:off x="640080" y="3456432"/>
            <a:ext cx="3566160" cy="237744"/>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scoring.py</a:t>
            </a:r>
            <a:endParaRPr lang="en-US" sz="1400" dirty="0"/>
          </a:p>
        </p:txBody>
      </p:sp>
      <p:sp>
        <p:nvSpPr>
          <p:cNvPr id="20" name="Text 18"/>
          <p:cNvSpPr txBox="1"/>
          <p:nvPr/>
        </p:nvSpPr>
        <p:spPr>
          <a:xfrm>
            <a:off x="640080" y="3694176"/>
            <a:ext cx="3566160" cy="219456"/>
          </a:xfrm>
          <a:prstGeom prst="rect">
            <a:avLst/>
          </a:prstGeom>
          <a:noFill/>
          <a:ln/>
        </p:spPr>
        <p:txBody>
          <a:bodyPr wrap="square" lIns="0" tIns="0" rIns="0" bIns="0" rtlCol="0" anchor="ctr"/>
          <a:lstStyle/>
          <a:p>
            <a:pPr indent="0" marL="0">
              <a:buNone/>
            </a:pPr>
            <a:r>
              <a:rPr lang="en-US" sz="1300" dirty="0">
                <a:solidFill>
                  <a:srgbClr val="C9D6E6"/>
                </a:solidFill>
              </a:rPr>
              <a:t>The categories and the scoring</a:t>
            </a:r>
            <a:endParaRPr lang="en-US" sz="1300" dirty="0"/>
          </a:p>
        </p:txBody>
      </p:sp>
      <p:sp>
        <p:nvSpPr>
          <p:cNvPr id="21" name="Text 19"/>
          <p:cNvSpPr txBox="1"/>
          <p:nvPr/>
        </p:nvSpPr>
        <p:spPr>
          <a:xfrm>
            <a:off x="457200" y="4206240"/>
            <a:ext cx="3840480" cy="4572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test_yatzy.py</a:t>
            </a:r>
            <a:r>
              <a:rPr lang="en-US" sz="1300" dirty="0">
                <a:solidFill>
                  <a:schemeClr val="accent4"/>
                </a:solidFill>
              </a:rPr>
              <a:t> tests </a:t>
            </a:r>
            <a:r>
              <a:rPr lang="en-US" sz="1200" dirty="0">
                <a:solidFill>
                  <a:schemeClr val="accent4"/>
                </a:solidFill>
                <a:latin typeface="Courier New" pitchFamily="34" charset="0"/>
                <a:ea typeface="Courier New" pitchFamily="34" charset="-122"/>
                <a:cs typeface="Courier New" pitchFamily="34" charset="-120"/>
              </a:rPr>
              <a:t>game.py</a:t>
            </a:r>
            <a:r>
              <a:rPr lang="en-US" sz="1300" dirty="0">
                <a:solidFill>
                  <a:schemeClr val="accent4"/>
                </a:solidFill>
              </a:rPr>
              <a:t> and </a:t>
            </a:r>
            <a:r>
              <a:rPr lang="en-US" sz="1200" dirty="0">
                <a:solidFill>
                  <a:schemeClr val="accent4"/>
                </a:solidFill>
                <a:latin typeface="Courier New" pitchFamily="34" charset="0"/>
                <a:ea typeface="Courier New" pitchFamily="34" charset="-122"/>
                <a:cs typeface="Courier New" pitchFamily="34" charset="-120"/>
              </a:rPr>
              <a:t>scoring.py</a:t>
            </a:r>
            <a:r>
              <a:rPr lang="en-US" sz="1300" dirty="0">
                <a:solidFill>
                  <a:schemeClr val="accent4"/>
                </a:solidFill>
              </a:rPr>
              <a:t> directly with </a:t>
            </a:r>
            <a:r>
              <a:rPr lang="en-US" sz="1300" b="1" dirty="0">
                <a:solidFill>
                  <a:schemeClr val="accent2"/>
                </a:solidFill>
              </a:rPr>
              <a:t>11 tests</a:t>
            </a:r>
            <a:endParaRPr lang="en-US" sz="1200" dirty="0"/>
          </a:p>
        </p:txBody>
      </p:sp>
      <p:sp>
        <p:nvSpPr>
          <p:cNvPr id="22" name="Text 20"/>
          <p:cNvSpPr txBox="1"/>
          <p:nvPr/>
        </p:nvSpPr>
        <p:spPr>
          <a:xfrm>
            <a:off x="4754880" y="1143000"/>
            <a:ext cx="3931920" cy="365760"/>
          </a:xfrm>
          <a:prstGeom prst="rect">
            <a:avLst/>
          </a:prstGeom>
          <a:noFill/>
          <a:ln/>
        </p:spPr>
        <p:txBody>
          <a:bodyPr wrap="square" lIns="0" tIns="0" rIns="0" bIns="0" rtlCol="0" anchor="ctr"/>
          <a:lstStyle/>
          <a:p>
            <a:pPr indent="0" marL="0">
              <a:buNone/>
            </a:pPr>
            <a:r>
              <a:rPr lang="en-US" sz="2000" b="1" dirty="0">
                <a:solidFill>
                  <a:schemeClr val="tx1"/>
                </a:solidFill>
              </a:rPr>
              <a:t>The rule we followed</a:t>
            </a:r>
            <a:endParaRPr lang="en-US" sz="2000" dirty="0"/>
          </a:p>
        </p:txBody>
      </p:sp>
      <p:sp>
        <p:nvSpPr>
          <p:cNvPr id="23" name="Text 21"/>
          <p:cNvSpPr txBox="1"/>
          <p:nvPr/>
        </p:nvSpPr>
        <p:spPr>
          <a:xfrm>
            <a:off x="4754880" y="1572768"/>
            <a:ext cx="3931920" cy="54864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game.py</a:t>
            </a:r>
            <a:r>
              <a:rPr lang="en-US" sz="1500" dirty="0">
                <a:solidFill>
                  <a:schemeClr val="tx1"/>
                </a:solidFill>
              </a:rPr>
              <a:t> and </a:t>
            </a:r>
            <a:r>
              <a:rPr lang="en-US" sz="1400" dirty="0">
                <a:solidFill>
                  <a:schemeClr val="tx2"/>
                </a:solidFill>
                <a:latin typeface="Courier New" pitchFamily="34" charset="0"/>
                <a:ea typeface="Courier New" pitchFamily="34" charset="-122"/>
                <a:cs typeface="Courier New" pitchFamily="34" charset="-120"/>
              </a:rPr>
              <a:t>scoring.py</a:t>
            </a:r>
            <a:r>
              <a:rPr lang="en-US" sz="1500" dirty="0">
                <a:solidFill>
                  <a:schemeClr val="tx1"/>
                </a:solidFill>
              </a:rPr>
              <a:t> </a:t>
            </a:r>
            <a:r>
              <a:rPr lang="en-US" sz="1500" b="1" dirty="0">
                <a:solidFill>
                  <a:schemeClr val="accent2"/>
                </a:solidFill>
              </a:rPr>
              <a:t>never</a:t>
            </a:r>
            <a:r>
              <a:rPr lang="en-US" sz="1500" dirty="0">
                <a:solidFill>
                  <a:schemeClr val="tx1"/>
                </a:solidFill>
              </a:rPr>
              <a:t> use </a:t>
            </a:r>
            <a:r>
              <a:rPr lang="en-US" sz="1400" dirty="0">
                <a:solidFill>
                  <a:schemeClr val="tx2"/>
                </a:solidFill>
                <a:latin typeface="Courier New" pitchFamily="34" charset="0"/>
                <a:ea typeface="Courier New" pitchFamily="34" charset="-122"/>
                <a:cs typeface="Courier New" pitchFamily="34" charset="-120"/>
              </a:rPr>
              <a:t>print()</a:t>
            </a:r>
            <a:r>
              <a:rPr lang="en-US" sz="1500" dirty="0">
                <a:solidFill>
                  <a:schemeClr val="tx1"/>
                </a:solidFill>
              </a:rPr>
              <a:t> or </a:t>
            </a:r>
            <a:r>
              <a:rPr lang="en-US" sz="1400" dirty="0">
                <a:solidFill>
                  <a:schemeClr val="tx2"/>
                </a:solidFill>
                <a:latin typeface="Courier New" pitchFamily="34" charset="0"/>
                <a:ea typeface="Courier New" pitchFamily="34" charset="-122"/>
                <a:cs typeface="Courier New" pitchFamily="34" charset="-120"/>
              </a:rPr>
              <a:t>input()</a:t>
            </a:r>
            <a:r>
              <a:rPr lang="en-US" sz="1500" dirty="0">
                <a:solidFill>
                  <a:schemeClr val="tx1"/>
                </a:solidFill>
              </a:rPr>
              <a:t>.</a:t>
            </a:r>
            <a:endParaRPr lang="en-US" sz="1400" dirty="0"/>
          </a:p>
        </p:txBody>
      </p:sp>
      <p:sp>
        <p:nvSpPr>
          <p:cNvPr id="24" name="card"/>
          <p:cNvSpPr/>
          <p:nvPr/>
        </p:nvSpPr>
        <p:spPr>
          <a:xfrm>
            <a:off x="4754880" y="2286000"/>
            <a:ext cx="3931920" cy="914400"/>
          </a:xfrm>
          <a:prstGeom prst="roundRect">
            <a:avLst>
              <a:gd name="adj" fmla="val 7000"/>
            </a:avLst>
          </a:prstGeom>
          <a:solidFill>
            <a:schemeClr val="accent5"/>
          </a:solidFill>
          <a:ln w="12700">
            <a:solidFill>
              <a:schemeClr val="accent5"/>
            </a:solidFill>
            <a:prstDash val="solid"/>
          </a:ln>
        </p:spPr>
      </p:sp>
      <p:sp>
        <p:nvSpPr>
          <p:cNvPr id="25" name="Text 23"/>
          <p:cNvSpPr txBox="1"/>
          <p:nvPr/>
        </p:nvSpPr>
        <p:spPr>
          <a:xfrm>
            <a:off x="4937760" y="2414016"/>
            <a:ext cx="3566160" cy="274320"/>
          </a:xfrm>
          <a:prstGeom prst="rect">
            <a:avLst/>
          </a:prstGeom>
          <a:noFill/>
          <a:ln/>
        </p:spPr>
        <p:txBody>
          <a:bodyPr wrap="square" lIns="0" tIns="0" rIns="0" bIns="0" rtlCol="0" anchor="t"/>
          <a:lstStyle/>
          <a:p>
            <a:pPr indent="0" marL="0">
              <a:buNone/>
            </a:pPr>
            <a:r>
              <a:rPr lang="en-US" sz="1500" b="1" dirty="0">
                <a:solidFill>
                  <a:schemeClr val="accent2"/>
                </a:solidFill>
              </a:rPr>
              <a:t>The rules can be tested</a:t>
            </a:r>
            <a:endParaRPr lang="en-US" sz="1500" dirty="0"/>
          </a:p>
        </p:txBody>
      </p:sp>
      <p:sp>
        <p:nvSpPr>
          <p:cNvPr id="26" name="Text 24"/>
          <p:cNvSpPr txBox="1"/>
          <p:nvPr/>
        </p:nvSpPr>
        <p:spPr>
          <a:xfrm>
            <a:off x="4937760" y="2743200"/>
            <a:ext cx="3566160" cy="347472"/>
          </a:xfrm>
          <a:prstGeom prst="rect">
            <a:avLst/>
          </a:prstGeom>
          <a:noFill/>
          <a:ln/>
        </p:spPr>
        <p:txBody>
          <a:bodyPr wrap="square" lIns="0" tIns="0" rIns="0" bIns="0" rtlCol="0" anchor="t"/>
          <a:lstStyle/>
          <a:p>
            <a:pPr indent="0" marL="0">
              <a:lnSpc>
                <a:spcPct val="110000"/>
              </a:lnSpc>
              <a:spcAft>
                <a:spcPts val="400"/>
              </a:spcAft>
              <a:buNone/>
            </a:pPr>
            <a:r>
              <a:rPr lang="en-US" sz="1400" dirty="0">
                <a:solidFill>
                  <a:schemeClr val="tx1"/>
                </a:solidFill>
              </a:rPr>
              <a:t>The tests call the game logic directly, without anyone typing answers.</a:t>
            </a:r>
            <a:endParaRPr lang="en-US" sz="1400" dirty="0"/>
          </a:p>
        </p:txBody>
      </p:sp>
      <p:sp>
        <p:nvSpPr>
          <p:cNvPr id="27" name="card"/>
          <p:cNvSpPr/>
          <p:nvPr/>
        </p:nvSpPr>
        <p:spPr>
          <a:xfrm>
            <a:off x="4754880" y="3337560"/>
            <a:ext cx="3931920" cy="914400"/>
          </a:xfrm>
          <a:prstGeom prst="roundRect">
            <a:avLst>
              <a:gd name="adj" fmla="val 7000"/>
            </a:avLst>
          </a:prstGeom>
          <a:solidFill>
            <a:schemeClr val="accent5"/>
          </a:solidFill>
          <a:ln w="12700">
            <a:solidFill>
              <a:schemeClr val="accent5"/>
            </a:solidFill>
            <a:prstDash val="solid"/>
          </a:ln>
        </p:spPr>
      </p:sp>
      <p:sp>
        <p:nvSpPr>
          <p:cNvPr id="28" name="Text 26"/>
          <p:cNvSpPr txBox="1"/>
          <p:nvPr/>
        </p:nvSpPr>
        <p:spPr>
          <a:xfrm>
            <a:off x="4937760" y="3465576"/>
            <a:ext cx="3566160" cy="274320"/>
          </a:xfrm>
          <a:prstGeom prst="rect">
            <a:avLst/>
          </a:prstGeom>
          <a:noFill/>
          <a:ln/>
        </p:spPr>
        <p:txBody>
          <a:bodyPr wrap="square" lIns="0" tIns="0" rIns="0" bIns="0" rtlCol="0" anchor="t"/>
          <a:lstStyle/>
          <a:p>
            <a:pPr indent="0" marL="0">
              <a:buNone/>
            </a:pPr>
            <a:r>
              <a:rPr lang="en-US" sz="1500" b="1" dirty="0">
                <a:solidFill>
                  <a:schemeClr val="accent2"/>
                </a:solidFill>
              </a:rPr>
              <a:t>The view can be replaced</a:t>
            </a:r>
            <a:endParaRPr lang="en-US" sz="1500" dirty="0"/>
          </a:p>
        </p:txBody>
      </p:sp>
      <p:sp>
        <p:nvSpPr>
          <p:cNvPr id="29" name="Text 27"/>
          <p:cNvSpPr txBox="1"/>
          <p:nvPr/>
        </p:nvSpPr>
        <p:spPr>
          <a:xfrm>
            <a:off x="4937760" y="3794760"/>
            <a:ext cx="3566160" cy="347472"/>
          </a:xfrm>
          <a:prstGeom prst="rect">
            <a:avLst/>
          </a:prstGeom>
          <a:noFill/>
          <a:ln/>
        </p:spPr>
        <p:txBody>
          <a:bodyPr wrap="square" lIns="0" tIns="0" rIns="0" bIns="0" rtlCol="0" anchor="t"/>
          <a:lstStyle/>
          <a:p>
            <a:pPr indent="0" marL="0">
              <a:lnSpc>
                <a:spcPct val="110000"/>
              </a:lnSpc>
              <a:spcAft>
                <a:spcPts val="400"/>
              </a:spcAft>
              <a:buNone/>
            </a:pPr>
            <a:r>
              <a:rPr lang="en-US" sz="1400" dirty="0">
                <a:solidFill>
                  <a:schemeClr val="tx1"/>
                </a:solidFill>
              </a:rPr>
              <a:t>A graphical window could use the same rules. Only the view changes.</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Dice: five dice that can be held</a:t>
            </a:r>
            <a:endParaRPr lang="en-US" sz="2600" dirty="0"/>
          </a:p>
        </p:txBody>
      </p:sp>
      <p:sp>
        <p:nvSpPr>
          <p:cNvPr id="3" name="die-3"/>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631759" y="503743"/>
            <a:ext cx="71506" cy="71506"/>
          </a:xfrm>
          <a:prstGeom prst="ellipse">
            <a:avLst/>
          </a:prstGeom>
          <a:solidFill>
            <a:schemeClr val="bg1"/>
          </a:solidFill>
          <a:ln w="12700">
            <a:solidFill>
              <a:schemeClr val="bg1"/>
            </a:solidFill>
            <a:prstDash val="solid"/>
          </a:ln>
        </p:spPr>
      </p:sp>
      <p:sp>
        <p:nvSpPr>
          <p:cNvPr id="6" name="pip"/>
          <p:cNvSpPr/>
          <p:nvPr/>
        </p:nvSpPr>
        <p:spPr>
          <a:xfrm>
            <a:off x="745327" y="617311"/>
            <a:ext cx="71506" cy="71506"/>
          </a:xfrm>
          <a:prstGeom prst="ellipse">
            <a:avLst/>
          </a:prstGeom>
          <a:solidFill>
            <a:schemeClr val="bg1"/>
          </a:solidFill>
          <a:ln w="12700">
            <a:solidFill>
              <a:schemeClr val="bg1"/>
            </a:solidFill>
            <a:prstDash val="solid"/>
          </a:ln>
        </p:spPr>
      </p:sp>
      <p:sp>
        <p:nvSpPr>
          <p:cNvPr id="7" name="code-dice"/>
          <p:cNvSpPr/>
          <p:nvPr/>
        </p:nvSpPr>
        <p:spPr>
          <a:xfrm>
            <a:off x="457200" y="1097280"/>
            <a:ext cx="5715000" cy="3053334"/>
          </a:xfrm>
          <a:prstGeom prst="roundRect">
            <a:avLst>
              <a:gd name="adj" fmla="val 2096"/>
            </a:avLst>
          </a:prstGeom>
          <a:solidFill>
            <a:schemeClr val="accent6"/>
          </a:solidFill>
          <a:ln w="12700">
            <a:solidFill>
              <a:schemeClr val="accent6"/>
            </a:solidFill>
            <a:prstDash val="solid"/>
          </a:ln>
        </p:spPr>
      </p:sp>
      <p:sp>
        <p:nvSpPr>
          <p:cNvPr id="8" name="code-text-dice"/>
          <p:cNvSpPr txBox="1"/>
          <p:nvPr/>
        </p:nvSpPr>
        <p:spPr>
          <a:xfrm>
            <a:off x="914400" y="1261872"/>
            <a:ext cx="5148072" cy="2724150"/>
          </a:xfrm>
          <a:prstGeom prst="rect">
            <a:avLst/>
          </a:prstGeom>
          <a:noFill/>
          <a:ln/>
        </p:spPr>
        <p:txBody>
          <a:bodyPr wrap="none" lIns="0" tIns="0" rIns="0" bIns="0" rtlCol="0" anchor="t"/>
          <a:lstStyle/>
          <a:p>
            <a:pPr indent="0" marL="0">
              <a:lnSpc>
                <a:spcPts val="1650"/>
              </a:lnSpc>
              <a:buNone/>
            </a:pPr>
            <a:r>
              <a:rPr lang="en-US" sz="1100" b="1" dirty="0">
                <a:solidFill>
                  <a:srgbClr val="8DB8FF"/>
                </a:solidFill>
                <a:latin typeface="Courier New" pitchFamily="34" charset="0"/>
                <a:ea typeface="Courier New" pitchFamily="34" charset="-122"/>
                <a:cs typeface="Courier New" pitchFamily="34" charset="-120"/>
              </a:rPr>
              <a:t>class</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Dice</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def</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__init__</a:t>
            </a:r>
            <a:r>
              <a:rPr lang="en-US" sz="1100" b="1" dirty="0">
                <a:solidFill>
                  <a:srgbClr val="E8EEF5"/>
                </a:solidFill>
                <a:latin typeface="Courier New" pitchFamily="34" charset="0"/>
                <a:ea typeface="Courier New" pitchFamily="34" charset="-122"/>
                <a:cs typeface="Courier New" pitchFamily="34" charset="-120"/>
              </a:rPr>
              <a:t>(</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 rng=</a:t>
            </a:r>
            <a:r>
              <a:rPr lang="en-US" sz="1100" b="1" dirty="0">
                <a:solidFill>
                  <a:srgbClr val="8DB8FF"/>
                </a:solidFill>
                <a:latin typeface="Courier New" pitchFamily="34" charset="0"/>
                <a:ea typeface="Courier New" pitchFamily="34" charset="-122"/>
                <a:cs typeface="Courier New" pitchFamily="34" charset="-120"/>
              </a:rPr>
              <a:t>None</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.rng = rng </a:t>
            </a:r>
            <a:r>
              <a:rPr lang="en-US" sz="1100" b="1" dirty="0">
                <a:solidFill>
                  <a:srgbClr val="8DB8FF"/>
                </a:solidFill>
                <a:latin typeface="Courier New" pitchFamily="34" charset="0"/>
                <a:ea typeface="Courier New" pitchFamily="34" charset="-122"/>
                <a:cs typeface="Courier New" pitchFamily="34" charset="-120"/>
              </a:rPr>
              <a:t>if</a:t>
            </a:r>
            <a:r>
              <a:rPr lang="en-US" sz="1100" b="1" dirty="0">
                <a:solidFill>
                  <a:srgbClr val="E8EEF5"/>
                </a:solidFill>
                <a:latin typeface="Courier New" pitchFamily="34" charset="0"/>
                <a:ea typeface="Courier New" pitchFamily="34" charset="-122"/>
                <a:cs typeface="Courier New" pitchFamily="34" charset="-120"/>
              </a:rPr>
              <a:t> rng </a:t>
            </a:r>
            <a:r>
              <a:rPr lang="en-US" sz="1100" b="1" dirty="0">
                <a:solidFill>
                  <a:srgbClr val="8DB8FF"/>
                </a:solidFill>
                <a:latin typeface="Courier New" pitchFamily="34" charset="0"/>
                <a:ea typeface="Courier New" pitchFamily="34" charset="-122"/>
                <a:cs typeface="Courier New" pitchFamily="34" charset="-120"/>
              </a:rPr>
              <a:t>is</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not</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None</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else</a:t>
            </a:r>
            <a:r>
              <a:rPr lang="en-US" sz="1100" b="1" dirty="0">
                <a:solidFill>
                  <a:srgbClr val="E8EEF5"/>
                </a:solidFill>
                <a:latin typeface="Courier New" pitchFamily="34" charset="0"/>
                <a:ea typeface="Courier New" pitchFamily="34" charset="-122"/>
                <a:cs typeface="Courier New" pitchFamily="34" charset="-120"/>
              </a:rPr>
              <a:t> random.Random()</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.values = [</a:t>
            </a:r>
            <a:r>
              <a:rPr lang="en-US" sz="1100" b="1" dirty="0">
                <a:solidFill>
                  <a:srgbClr val="FF9E8A"/>
                </a:solidFill>
                <a:latin typeface="Courier New" pitchFamily="34" charset="0"/>
                <a:ea typeface="Courier New" pitchFamily="34" charset="-122"/>
                <a:cs typeface="Courier New" pitchFamily="34" charset="-120"/>
              </a:rPr>
              <a:t>1</a:t>
            </a:r>
            <a:r>
              <a:rPr lang="en-US" sz="1100" b="1" dirty="0">
                <a:solidFill>
                  <a:srgbClr val="E8EEF5"/>
                </a:solidFill>
                <a:latin typeface="Courier New" pitchFamily="34" charset="0"/>
                <a:ea typeface="Courier New" pitchFamily="34" charset="-122"/>
                <a:cs typeface="Courier New" pitchFamily="34" charset="-120"/>
              </a:rPr>
              <a:t>] * NUM_DICE</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.held = [</a:t>
            </a:r>
            <a:r>
              <a:rPr lang="en-US" sz="1100" b="1" dirty="0">
                <a:solidFill>
                  <a:srgbClr val="8DB8FF"/>
                </a:solidFill>
                <a:latin typeface="Courier New" pitchFamily="34" charset="0"/>
                <a:ea typeface="Courier New" pitchFamily="34" charset="-122"/>
                <a:cs typeface="Courier New" pitchFamily="34" charset="-120"/>
              </a:rPr>
              <a:t>False</a:t>
            </a:r>
            <a:r>
              <a:rPr lang="en-US" sz="1100" b="1" dirty="0">
                <a:solidFill>
                  <a:srgbClr val="E8EEF5"/>
                </a:solidFill>
                <a:latin typeface="Courier New" pitchFamily="34" charset="0"/>
                <a:ea typeface="Courier New" pitchFamily="34" charset="-122"/>
                <a:cs typeface="Courier New" pitchFamily="34" charset="-120"/>
              </a:rPr>
              <a:t>] * NUM_DICE</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def</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roll</a:t>
            </a:r>
            <a:r>
              <a:rPr lang="en-US" sz="1100" b="1" dirty="0">
                <a:solidFill>
                  <a:srgbClr val="E8EEF5"/>
                </a:solidFill>
                <a:latin typeface="Courier New" pitchFamily="34" charset="0"/>
                <a:ea typeface="Courier New" pitchFamily="34" charset="-122"/>
                <a:cs typeface="Courier New" pitchFamily="34" charset="-120"/>
              </a:rPr>
              <a:t>(</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for</a:t>
            </a:r>
            <a:r>
              <a:rPr lang="en-US" sz="1100" b="1" dirty="0">
                <a:solidFill>
                  <a:srgbClr val="E8EEF5"/>
                </a:solidFill>
                <a:latin typeface="Courier New" pitchFamily="34" charset="0"/>
                <a:ea typeface="Courier New" pitchFamily="34" charset="-122"/>
                <a:cs typeface="Courier New" pitchFamily="34" charset="-120"/>
              </a:rPr>
              <a:t> i </a:t>
            </a:r>
            <a:r>
              <a:rPr lang="en-US" sz="1100" b="1" dirty="0">
                <a:solidFill>
                  <a:srgbClr val="8DB8FF"/>
                </a:solidFill>
                <a:latin typeface="Courier New" pitchFamily="34" charset="0"/>
                <a:ea typeface="Courier New" pitchFamily="34" charset="-122"/>
                <a:cs typeface="Courier New" pitchFamily="34" charset="-120"/>
              </a:rPr>
              <a:t>in</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range</a:t>
            </a:r>
            <a:r>
              <a:rPr lang="en-US" sz="1100" b="1" dirty="0">
                <a:solidFill>
                  <a:srgbClr val="E8EEF5"/>
                </a:solidFill>
                <a:latin typeface="Courier New" pitchFamily="34" charset="0"/>
                <a:ea typeface="Courier New" pitchFamily="34" charset="-122"/>
                <a:cs typeface="Courier New" pitchFamily="34" charset="-120"/>
              </a:rPr>
              <a:t>(NUM_DICE):</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if</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not</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.held[i]:</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.values[i] =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.rng.randint(</a:t>
            </a:r>
            <a:r>
              <a:rPr lang="en-US" sz="1100" b="1" dirty="0">
                <a:solidFill>
                  <a:srgbClr val="FF9E8A"/>
                </a:solidFill>
                <a:latin typeface="Courier New" pitchFamily="34" charset="0"/>
                <a:ea typeface="Courier New" pitchFamily="34" charset="-122"/>
                <a:cs typeface="Courier New" pitchFamily="34" charset="-120"/>
              </a:rPr>
              <a:t>1</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FF9E8A"/>
                </a:solidFill>
                <a:latin typeface="Courier New" pitchFamily="34" charset="0"/>
                <a:ea typeface="Courier New" pitchFamily="34" charset="-122"/>
                <a:cs typeface="Courier New" pitchFamily="34" charset="-120"/>
              </a:rPr>
              <a:t>6</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def</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hold_only</a:t>
            </a:r>
            <a:r>
              <a:rPr lang="en-US" sz="1100" b="1" dirty="0">
                <a:solidFill>
                  <a:srgbClr val="E8EEF5"/>
                </a:solidFill>
                <a:latin typeface="Courier New" pitchFamily="34" charset="0"/>
                <a:ea typeface="Courier New" pitchFamily="34" charset="-122"/>
                <a:cs typeface="Courier New" pitchFamily="34" charset="-120"/>
              </a:rPr>
              <a:t>(</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 positions):</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.held = [i </a:t>
            </a:r>
            <a:r>
              <a:rPr lang="en-US" sz="1100" b="1" dirty="0">
                <a:solidFill>
                  <a:srgbClr val="8DB8FF"/>
                </a:solidFill>
                <a:latin typeface="Courier New" pitchFamily="34" charset="0"/>
                <a:ea typeface="Courier New" pitchFamily="34" charset="-122"/>
                <a:cs typeface="Courier New" pitchFamily="34" charset="-120"/>
              </a:rPr>
              <a:t>in</a:t>
            </a:r>
            <a:r>
              <a:rPr lang="en-US" sz="1100" b="1" dirty="0">
                <a:solidFill>
                  <a:srgbClr val="E8EEF5"/>
                </a:solidFill>
                <a:latin typeface="Courier New" pitchFamily="34" charset="0"/>
                <a:ea typeface="Courier New" pitchFamily="34" charset="-122"/>
                <a:cs typeface="Courier New" pitchFamily="34" charset="-120"/>
              </a:rPr>
              <a:t> positions </a:t>
            </a:r>
            <a:r>
              <a:rPr lang="en-US" sz="1100" b="1" dirty="0">
                <a:solidFill>
                  <a:srgbClr val="8DB8FF"/>
                </a:solidFill>
                <a:latin typeface="Courier New" pitchFamily="34" charset="0"/>
                <a:ea typeface="Courier New" pitchFamily="34" charset="-122"/>
                <a:cs typeface="Courier New" pitchFamily="34" charset="-120"/>
              </a:rPr>
              <a:t>for</a:t>
            </a:r>
            <a:r>
              <a:rPr lang="en-US" sz="1100" b="1" dirty="0">
                <a:solidFill>
                  <a:srgbClr val="E8EEF5"/>
                </a:solidFill>
                <a:latin typeface="Courier New" pitchFamily="34" charset="0"/>
                <a:ea typeface="Courier New" pitchFamily="34" charset="-122"/>
                <a:cs typeface="Courier New" pitchFamily="34" charset="-120"/>
              </a:rPr>
              <a:t> i </a:t>
            </a:r>
            <a:r>
              <a:rPr lang="en-US" sz="1100" b="1" dirty="0">
                <a:solidFill>
                  <a:srgbClr val="8DB8FF"/>
                </a:solidFill>
                <a:latin typeface="Courier New" pitchFamily="34" charset="0"/>
                <a:ea typeface="Courier New" pitchFamily="34" charset="-122"/>
                <a:cs typeface="Courier New" pitchFamily="34" charset="-120"/>
              </a:rPr>
              <a:t>in</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range</a:t>
            </a:r>
            <a:r>
              <a:rPr lang="en-US" sz="1100" b="1" dirty="0">
                <a:solidFill>
                  <a:srgbClr val="E8EEF5"/>
                </a:solidFill>
                <a:latin typeface="Courier New" pitchFamily="34" charset="0"/>
                <a:ea typeface="Courier New" pitchFamily="34" charset="-122"/>
                <a:cs typeface="Courier New" pitchFamily="34" charset="-120"/>
              </a:rPr>
              <a:t>(NUM_DICE)]</a:t>
            </a:r>
            <a:endParaRPr lang="en-US" sz="1100" dirty="0"/>
          </a:p>
        </p:txBody>
      </p:sp>
      <p:sp>
        <p:nvSpPr>
          <p:cNvPr id="9" name="marker-1"/>
          <p:cNvSpPr/>
          <p:nvPr/>
        </p:nvSpPr>
        <p:spPr>
          <a:xfrm>
            <a:off x="566928" y="1671447"/>
            <a:ext cx="228600" cy="228600"/>
          </a:xfrm>
          <a:prstGeom prst="ellipse">
            <a:avLst/>
          </a:prstGeom>
          <a:solidFill>
            <a:schemeClr val="accent1"/>
          </a:solidFill>
          <a:ln w="12700">
            <a:solidFill>
              <a:schemeClr val="accent1"/>
            </a:solidFill>
            <a:prstDash val="solid"/>
          </a:ln>
        </p:spPr>
      </p:sp>
      <p:sp>
        <p:nvSpPr>
          <p:cNvPr id="10" name="Text 8"/>
          <p:cNvSpPr txBox="1"/>
          <p:nvPr/>
        </p:nvSpPr>
        <p:spPr>
          <a:xfrm>
            <a:off x="566928" y="167144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marker-2"/>
          <p:cNvSpPr/>
          <p:nvPr/>
        </p:nvSpPr>
        <p:spPr>
          <a:xfrm>
            <a:off x="566928" y="1880997"/>
            <a:ext cx="228600" cy="228600"/>
          </a:xfrm>
          <a:prstGeom prst="ellipse">
            <a:avLst/>
          </a:prstGeom>
          <a:solidFill>
            <a:schemeClr val="accent1"/>
          </a:solidFill>
          <a:ln w="12700">
            <a:solidFill>
              <a:schemeClr val="accent1"/>
            </a:solidFill>
            <a:prstDash val="solid"/>
          </a:ln>
        </p:spPr>
      </p:sp>
      <p:sp>
        <p:nvSpPr>
          <p:cNvPr id="12" name="Text 10"/>
          <p:cNvSpPr txBox="1"/>
          <p:nvPr/>
        </p:nvSpPr>
        <p:spPr>
          <a:xfrm>
            <a:off x="566928" y="188099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marker-3"/>
          <p:cNvSpPr/>
          <p:nvPr/>
        </p:nvSpPr>
        <p:spPr>
          <a:xfrm>
            <a:off x="566928" y="2928747"/>
            <a:ext cx="228600" cy="228600"/>
          </a:xfrm>
          <a:prstGeom prst="ellipse">
            <a:avLst/>
          </a:prstGeom>
          <a:solidFill>
            <a:schemeClr val="accent1"/>
          </a:solidFill>
          <a:ln w="12700">
            <a:solidFill>
              <a:schemeClr val="accent1"/>
            </a:solidFill>
            <a:prstDash val="solid"/>
          </a:ln>
        </p:spPr>
      </p:sp>
      <p:sp>
        <p:nvSpPr>
          <p:cNvPr id="14" name="Text 12"/>
          <p:cNvSpPr txBox="1"/>
          <p:nvPr/>
        </p:nvSpPr>
        <p:spPr>
          <a:xfrm>
            <a:off x="566928" y="292874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marker-4"/>
          <p:cNvSpPr/>
          <p:nvPr/>
        </p:nvSpPr>
        <p:spPr>
          <a:xfrm>
            <a:off x="566928" y="3766947"/>
            <a:ext cx="228600" cy="228600"/>
          </a:xfrm>
          <a:prstGeom prst="ellipse">
            <a:avLst/>
          </a:prstGeom>
          <a:solidFill>
            <a:schemeClr val="accent1"/>
          </a:solidFill>
          <a:ln w="12700">
            <a:solidFill>
              <a:schemeClr val="accent1"/>
            </a:solidFill>
            <a:prstDash val="solid"/>
          </a:ln>
        </p:spPr>
      </p:sp>
      <p:sp>
        <p:nvSpPr>
          <p:cNvPr id="16" name="Text 14"/>
          <p:cNvSpPr txBox="1"/>
          <p:nvPr/>
        </p:nvSpPr>
        <p:spPr>
          <a:xfrm>
            <a:off x="566928" y="376694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marker-1"/>
          <p:cNvSpPr/>
          <p:nvPr/>
        </p:nvSpPr>
        <p:spPr>
          <a:xfrm>
            <a:off x="6355080" y="1133856"/>
            <a:ext cx="246888" cy="246888"/>
          </a:xfrm>
          <a:prstGeom prst="ellipse">
            <a:avLst/>
          </a:prstGeom>
          <a:solidFill>
            <a:schemeClr val="accent1"/>
          </a:solidFill>
          <a:ln w="12700">
            <a:solidFill>
              <a:schemeClr val="accent1"/>
            </a:solidFill>
            <a:prstDash val="solid"/>
          </a:ln>
        </p:spPr>
      </p:sp>
      <p:sp>
        <p:nvSpPr>
          <p:cNvPr id="18" name="Text 16"/>
          <p:cNvSpPr txBox="1"/>
          <p:nvPr/>
        </p:nvSpPr>
        <p:spPr>
          <a:xfrm>
            <a:off x="6355080" y="1133856"/>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9" name="Text 17"/>
          <p:cNvSpPr txBox="1"/>
          <p:nvPr/>
        </p:nvSpPr>
        <p:spPr>
          <a:xfrm>
            <a:off x="6720840" y="1115568"/>
            <a:ext cx="1965960" cy="715518"/>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The random generator can be </a:t>
            </a:r>
            <a:r>
              <a:rPr lang="en-US" sz="1350" b="1" dirty="0">
                <a:solidFill>
                  <a:schemeClr val="accent2"/>
                </a:solidFill>
              </a:rPr>
              <a:t>passed in</a:t>
            </a:r>
            <a:r>
              <a:rPr lang="en-US" sz="1350" dirty="0">
                <a:solidFill>
                  <a:schemeClr val="tx1"/>
                </a:solidFill>
              </a:rPr>
              <a:t>. The tests give it a fixed seed.</a:t>
            </a:r>
            <a:endParaRPr lang="en-US" sz="1350" dirty="0"/>
          </a:p>
        </p:txBody>
      </p:sp>
      <p:sp>
        <p:nvSpPr>
          <p:cNvPr id="20" name="marker-2"/>
          <p:cNvSpPr/>
          <p:nvPr/>
        </p:nvSpPr>
        <p:spPr>
          <a:xfrm>
            <a:off x="6355080" y="1995678"/>
            <a:ext cx="246888" cy="246888"/>
          </a:xfrm>
          <a:prstGeom prst="ellipse">
            <a:avLst/>
          </a:prstGeom>
          <a:solidFill>
            <a:schemeClr val="accent1"/>
          </a:solidFill>
          <a:ln w="12700">
            <a:solidFill>
              <a:schemeClr val="accent1"/>
            </a:solidFill>
            <a:prstDash val="solid"/>
          </a:ln>
        </p:spPr>
      </p:sp>
      <p:sp>
        <p:nvSpPr>
          <p:cNvPr id="21" name="Text 19"/>
          <p:cNvSpPr txBox="1"/>
          <p:nvPr/>
        </p:nvSpPr>
        <p:spPr>
          <a:xfrm>
            <a:off x="6355080" y="1995678"/>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2" name="Text 20"/>
          <p:cNvSpPr txBox="1"/>
          <p:nvPr/>
        </p:nvSpPr>
        <p:spPr>
          <a:xfrm>
            <a:off x="6720840" y="1977390"/>
            <a:ext cx="1965960" cy="715518"/>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Two lists: the dice </a:t>
            </a:r>
            <a:r>
              <a:rPr lang="en-US" sz="1350" b="1" dirty="0">
                <a:solidFill>
                  <a:schemeClr val="accent2"/>
                </a:solidFill>
              </a:rPr>
              <a:t>values</a:t>
            </a:r>
            <a:r>
              <a:rPr lang="en-US" sz="1350" dirty="0">
                <a:solidFill>
                  <a:schemeClr val="tx1"/>
                </a:solidFill>
              </a:rPr>
              <a:t> and whether each die is </a:t>
            </a:r>
            <a:r>
              <a:rPr lang="en-US" sz="1350" b="1" dirty="0">
                <a:solidFill>
                  <a:schemeClr val="accent2"/>
                </a:solidFill>
              </a:rPr>
              <a:t>held</a:t>
            </a:r>
            <a:r>
              <a:rPr lang="en-US" sz="1350" dirty="0">
                <a:solidFill>
                  <a:schemeClr val="tx1"/>
                </a:solidFill>
              </a:rPr>
              <a:t>.</a:t>
            </a:r>
            <a:endParaRPr lang="en-US" sz="1350" dirty="0"/>
          </a:p>
        </p:txBody>
      </p:sp>
      <p:sp>
        <p:nvSpPr>
          <p:cNvPr id="23" name="marker-3"/>
          <p:cNvSpPr/>
          <p:nvPr/>
        </p:nvSpPr>
        <p:spPr>
          <a:xfrm>
            <a:off x="6355080" y="2857500"/>
            <a:ext cx="246888" cy="246888"/>
          </a:xfrm>
          <a:prstGeom prst="ellipse">
            <a:avLst/>
          </a:prstGeom>
          <a:solidFill>
            <a:schemeClr val="accent1"/>
          </a:solidFill>
          <a:ln w="12700">
            <a:solidFill>
              <a:schemeClr val="accent1"/>
            </a:solidFill>
            <a:prstDash val="solid"/>
          </a:ln>
        </p:spPr>
      </p:sp>
      <p:sp>
        <p:nvSpPr>
          <p:cNvPr id="24" name="Text 22"/>
          <p:cNvSpPr txBox="1"/>
          <p:nvPr/>
        </p:nvSpPr>
        <p:spPr>
          <a:xfrm>
            <a:off x="6355080" y="2857500"/>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5" name="Text 23"/>
          <p:cNvSpPr txBox="1"/>
          <p:nvPr/>
        </p:nvSpPr>
        <p:spPr>
          <a:xfrm>
            <a:off x="6720840" y="2839212"/>
            <a:ext cx="1965960" cy="489204"/>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Only dice that are </a:t>
            </a:r>
            <a:r>
              <a:rPr lang="en-US" sz="1350" b="1" dirty="0">
                <a:solidFill>
                  <a:schemeClr val="accent2"/>
                </a:solidFill>
              </a:rPr>
              <a:t>not</a:t>
            </a:r>
            <a:r>
              <a:rPr lang="en-US" sz="1350" dirty="0">
                <a:solidFill>
                  <a:schemeClr val="tx1"/>
                </a:solidFill>
              </a:rPr>
              <a:t> held are rolled again.</a:t>
            </a:r>
            <a:endParaRPr lang="en-US" sz="1350" dirty="0"/>
          </a:p>
        </p:txBody>
      </p:sp>
      <p:sp>
        <p:nvSpPr>
          <p:cNvPr id="26" name="marker-4"/>
          <p:cNvSpPr/>
          <p:nvPr/>
        </p:nvSpPr>
        <p:spPr>
          <a:xfrm>
            <a:off x="6355080" y="3493008"/>
            <a:ext cx="246888" cy="246888"/>
          </a:xfrm>
          <a:prstGeom prst="ellipse">
            <a:avLst/>
          </a:prstGeom>
          <a:solidFill>
            <a:schemeClr val="accent1"/>
          </a:solidFill>
          <a:ln w="12700">
            <a:solidFill>
              <a:schemeClr val="accent1"/>
            </a:solidFill>
            <a:prstDash val="solid"/>
          </a:ln>
        </p:spPr>
      </p:sp>
      <p:sp>
        <p:nvSpPr>
          <p:cNvPr id="27" name="Text 25"/>
          <p:cNvSpPr txBox="1"/>
          <p:nvPr/>
        </p:nvSpPr>
        <p:spPr>
          <a:xfrm>
            <a:off x="6355080" y="3493008"/>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8" name="Text 26"/>
          <p:cNvSpPr txBox="1"/>
          <p:nvPr/>
        </p:nvSpPr>
        <p:spPr>
          <a:xfrm>
            <a:off x="6720840" y="3474720"/>
            <a:ext cx="1965960" cy="941832"/>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A list comprehension: choosing dice 1 and 3 gives </a:t>
            </a:r>
            <a:r>
              <a:rPr lang="en-US" sz="1250" dirty="0">
                <a:solidFill>
                  <a:schemeClr val="tx2"/>
                </a:solidFill>
                <a:latin typeface="Courier New" pitchFamily="34" charset="0"/>
                <a:ea typeface="Courier New" pitchFamily="34" charset="-122"/>
                <a:cs typeface="Courier New" pitchFamily="34" charset="-120"/>
              </a:rPr>
              <a:t>[True, False, True, False, False]</a:t>
            </a:r>
            <a:r>
              <a:rPr lang="en-US" sz="1350" dirty="0">
                <a:solidFill>
                  <a:schemeClr val="tx1"/>
                </a:solidFill>
              </a:rPr>
              <a:t>.</a:t>
            </a:r>
            <a:endParaRPr lang="en-US" sz="135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Game: the rules are enforced in code</a:t>
            </a:r>
            <a:endParaRPr lang="en-US" sz="2600" dirty="0"/>
          </a:p>
        </p:txBody>
      </p:sp>
      <p:sp>
        <p:nvSpPr>
          <p:cNvPr id="3" name="die-4"/>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518190" y="617311"/>
            <a:ext cx="71506" cy="71506"/>
          </a:xfrm>
          <a:prstGeom prst="ellipse">
            <a:avLst/>
          </a:prstGeom>
          <a:solidFill>
            <a:schemeClr val="bg1"/>
          </a:solidFill>
          <a:ln w="12700">
            <a:solidFill>
              <a:schemeClr val="bg1"/>
            </a:solidFill>
            <a:prstDash val="solid"/>
          </a:ln>
        </p:spPr>
      </p:sp>
      <p:sp>
        <p:nvSpPr>
          <p:cNvPr id="7" name="pip"/>
          <p:cNvSpPr/>
          <p:nvPr/>
        </p:nvSpPr>
        <p:spPr>
          <a:xfrm>
            <a:off x="745327" y="617311"/>
            <a:ext cx="71506" cy="71506"/>
          </a:xfrm>
          <a:prstGeom prst="ellipse">
            <a:avLst/>
          </a:prstGeom>
          <a:solidFill>
            <a:schemeClr val="bg1"/>
          </a:solidFill>
          <a:ln w="12700">
            <a:solidFill>
              <a:schemeClr val="bg1"/>
            </a:solidFill>
            <a:prstDash val="solid"/>
          </a:ln>
        </p:spPr>
      </p:sp>
      <p:sp>
        <p:nvSpPr>
          <p:cNvPr id="8" name="code-game"/>
          <p:cNvSpPr/>
          <p:nvPr/>
        </p:nvSpPr>
        <p:spPr>
          <a:xfrm>
            <a:off x="457200" y="1097280"/>
            <a:ext cx="5532120" cy="3567684"/>
          </a:xfrm>
          <a:prstGeom prst="roundRect">
            <a:avLst>
              <a:gd name="adj" fmla="val 1794"/>
            </a:avLst>
          </a:prstGeom>
          <a:solidFill>
            <a:schemeClr val="accent6"/>
          </a:solidFill>
          <a:ln w="12700">
            <a:solidFill>
              <a:schemeClr val="accent6"/>
            </a:solidFill>
            <a:prstDash val="solid"/>
          </a:ln>
        </p:spPr>
      </p:sp>
      <p:sp>
        <p:nvSpPr>
          <p:cNvPr id="9" name="code-text-game"/>
          <p:cNvSpPr txBox="1"/>
          <p:nvPr/>
        </p:nvSpPr>
        <p:spPr>
          <a:xfrm>
            <a:off x="914400" y="1261872"/>
            <a:ext cx="4965192" cy="3238500"/>
          </a:xfrm>
          <a:prstGeom prst="rect">
            <a:avLst/>
          </a:prstGeom>
          <a:noFill/>
          <a:ln/>
        </p:spPr>
        <p:txBody>
          <a:bodyPr wrap="none" lIns="0" tIns="0" rIns="0" bIns="0" rtlCol="0" anchor="t"/>
          <a:lstStyle/>
          <a:p>
            <a:pPr indent="0" marL="0">
              <a:lnSpc>
                <a:spcPts val="1500"/>
              </a:lnSpc>
              <a:buNone/>
            </a:pPr>
            <a:r>
              <a:rPr lang="en-US" sz="1000" b="1" dirty="0">
                <a:solidFill>
                  <a:srgbClr val="8DB8FF"/>
                </a:solidFill>
                <a:latin typeface="Courier New" pitchFamily="34" charset="0"/>
                <a:ea typeface="Courier New" pitchFamily="34" charset="-122"/>
                <a:cs typeface="Courier New" pitchFamily="34" charset="-120"/>
              </a:rPr>
              <a:t>def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roll</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if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not</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.can_roll():</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raise</a:t>
            </a:r>
            <a:r>
              <a:rPr lang="en-US" sz="1000" b="1" dirty="0">
                <a:solidFill>
                  <a:srgbClr val="E8EEF5"/>
                </a:solidFill>
                <a:latin typeface="Courier New" pitchFamily="34" charset="0"/>
                <a:ea typeface="Courier New" pitchFamily="34" charset="-122"/>
                <a:cs typeface="Courier New" pitchFamily="34" charset="-120"/>
              </a:rPr>
              <a:t> RuntimeError(</a:t>
            </a:r>
            <a:r>
              <a:rPr lang="en-US" sz="1000" b="1" dirty="0">
                <a:solidFill>
                  <a:srgbClr val="F2C14E"/>
                </a:solidFill>
                <a:latin typeface="Courier New" pitchFamily="34" charset="0"/>
                <a:ea typeface="Courier New" pitchFamily="34" charset="-122"/>
                <a:cs typeface="Courier New" pitchFamily="34" charset="-120"/>
              </a:rPr>
              <a:t>"Inga slag kvar"</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if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not</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.has_rolled():</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.dice.release_all()</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.dice.roll()</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.rolls_left -= </a:t>
            </a:r>
            <a:r>
              <a:rPr lang="en-US" sz="1000" b="1" dirty="0">
                <a:solidFill>
                  <a:srgbClr val="FF9E8A"/>
                </a:solidFill>
                <a:latin typeface="Courier New" pitchFamily="34" charset="0"/>
                <a:ea typeface="Courier New" pitchFamily="34" charset="-122"/>
                <a:cs typeface="Courier New" pitchFamily="34" charset="-120"/>
              </a:rPr>
              <a:t>1</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b="1" dirty="0">
                <a:solidFill>
                  <a:srgbClr val="8DB8FF"/>
                </a:solidFill>
                <a:latin typeface="Courier New" pitchFamily="34" charset="0"/>
                <a:ea typeface="Courier New" pitchFamily="34" charset="-122"/>
                <a:cs typeface="Courier New" pitchFamily="34" charset="-120"/>
              </a:rPr>
              <a:t>def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choose</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 category):</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if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not</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.has_rolled():</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raise</a:t>
            </a:r>
            <a:r>
              <a:rPr lang="en-US" sz="1000" b="1" dirty="0">
                <a:solidFill>
                  <a:srgbClr val="E8EEF5"/>
                </a:solidFill>
                <a:latin typeface="Courier New" pitchFamily="34" charset="0"/>
                <a:ea typeface="Courier New" pitchFamily="34" charset="-122"/>
                <a:cs typeface="Courier New" pitchFamily="34" charset="-120"/>
              </a:rPr>
              <a:t> RuntimeError(</a:t>
            </a:r>
            <a:r>
              <a:rPr lang="en-US" sz="1000" b="1" dirty="0">
                <a:solidFill>
                  <a:srgbClr val="F2C14E"/>
                </a:solidFill>
                <a:latin typeface="Courier New" pitchFamily="34" charset="0"/>
                <a:ea typeface="Courier New" pitchFamily="34" charset="-122"/>
                <a:cs typeface="Courier New" pitchFamily="34" charset="-120"/>
              </a:rPr>
              <a:t>"Du måste slå minst en gång först"</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if</a:t>
            </a:r>
            <a:r>
              <a:rPr lang="en-US" sz="1000" b="1" dirty="0">
                <a:solidFill>
                  <a:srgbClr val="E8EEF5"/>
                </a:solidFill>
                <a:latin typeface="Courier New" pitchFamily="34" charset="0"/>
                <a:ea typeface="Courier New" pitchFamily="34" charset="-122"/>
                <a:cs typeface="Courier New" pitchFamily="34" charset="-120"/>
              </a:rPr>
              <a:t> category </a:t>
            </a:r>
            <a:r>
              <a:rPr lang="en-US" sz="1000" b="1" dirty="0">
                <a:solidFill>
                  <a:srgbClr val="8DB8FF"/>
                </a:solidFill>
                <a:latin typeface="Courier New" pitchFamily="34" charset="0"/>
                <a:ea typeface="Courier New" pitchFamily="34" charset="-122"/>
                <a:cs typeface="Courier New" pitchFamily="34" charset="-120"/>
              </a:rPr>
              <a:t>not</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in</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.available_categories():</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raise</a:t>
            </a:r>
            <a:r>
              <a:rPr lang="en-US" sz="1000" b="1" dirty="0">
                <a:solidFill>
                  <a:srgbClr val="E8EEF5"/>
                </a:solidFill>
                <a:latin typeface="Courier New" pitchFamily="34" charset="0"/>
                <a:ea typeface="Courier New" pitchFamily="34" charset="-122"/>
                <a:cs typeface="Courier New" pitchFamily="34" charset="-120"/>
              </a:rPr>
              <a:t> ValueError(</a:t>
            </a:r>
            <a:r>
              <a:rPr lang="en-US" sz="1000" b="1" dirty="0">
                <a:solidFill>
                  <a:srgbClr val="F2C14E"/>
                </a:solidFill>
                <a:latin typeface="Courier New" pitchFamily="34" charset="0"/>
                <a:ea typeface="Courier New" pitchFamily="34" charset="-122"/>
                <a:cs typeface="Courier New" pitchFamily="34" charset="-120"/>
              </a:rPr>
              <a:t>"Kategorin är redan använd"</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points =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.preview(category)</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.current_player().scores[category] = points</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.next_turn()</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return</a:t>
            </a:r>
            <a:r>
              <a:rPr lang="en-US" sz="1000" b="1" dirty="0">
                <a:solidFill>
                  <a:srgbClr val="E8EEF5"/>
                </a:solidFill>
                <a:latin typeface="Courier New" pitchFamily="34" charset="0"/>
                <a:ea typeface="Courier New" pitchFamily="34" charset="-122"/>
                <a:cs typeface="Courier New" pitchFamily="34" charset="-120"/>
              </a:rPr>
              <a:t> points</a:t>
            </a:r>
            <a:endParaRPr lang="en-US" sz="1000" dirty="0"/>
          </a:p>
        </p:txBody>
      </p:sp>
      <p:sp>
        <p:nvSpPr>
          <p:cNvPr id="10" name="marker-1"/>
          <p:cNvSpPr/>
          <p:nvPr/>
        </p:nvSpPr>
        <p:spPr>
          <a:xfrm>
            <a:off x="566928" y="1433322"/>
            <a:ext cx="228600" cy="228600"/>
          </a:xfrm>
          <a:prstGeom prst="ellipse">
            <a:avLst/>
          </a:prstGeom>
          <a:solidFill>
            <a:schemeClr val="accent1"/>
          </a:solidFill>
          <a:ln w="12700">
            <a:solidFill>
              <a:schemeClr val="accent1"/>
            </a:solidFill>
            <a:prstDash val="solid"/>
          </a:ln>
        </p:spPr>
      </p:sp>
      <p:sp>
        <p:nvSpPr>
          <p:cNvPr id="11" name="Text 9"/>
          <p:cNvSpPr txBox="1"/>
          <p:nvPr/>
        </p:nvSpPr>
        <p:spPr>
          <a:xfrm>
            <a:off x="566928" y="14333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marker-2"/>
          <p:cNvSpPr/>
          <p:nvPr/>
        </p:nvSpPr>
        <p:spPr>
          <a:xfrm>
            <a:off x="566928" y="1814322"/>
            <a:ext cx="228600" cy="228600"/>
          </a:xfrm>
          <a:prstGeom prst="ellipse">
            <a:avLst/>
          </a:prstGeom>
          <a:solidFill>
            <a:schemeClr val="accent1"/>
          </a:solidFill>
          <a:ln w="12700">
            <a:solidFill>
              <a:schemeClr val="accent1"/>
            </a:solidFill>
            <a:prstDash val="solid"/>
          </a:ln>
        </p:spPr>
      </p:sp>
      <p:sp>
        <p:nvSpPr>
          <p:cNvPr id="13" name="Text 11"/>
          <p:cNvSpPr txBox="1"/>
          <p:nvPr/>
        </p:nvSpPr>
        <p:spPr>
          <a:xfrm>
            <a:off x="566928" y="18143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marker-3"/>
          <p:cNvSpPr/>
          <p:nvPr/>
        </p:nvSpPr>
        <p:spPr>
          <a:xfrm>
            <a:off x="566928" y="2957322"/>
            <a:ext cx="228600" cy="228600"/>
          </a:xfrm>
          <a:prstGeom prst="ellipse">
            <a:avLst/>
          </a:prstGeom>
          <a:solidFill>
            <a:schemeClr val="accent1"/>
          </a:solidFill>
          <a:ln w="12700">
            <a:solidFill>
              <a:schemeClr val="accent1"/>
            </a:solidFill>
            <a:prstDash val="solid"/>
          </a:ln>
        </p:spPr>
      </p:sp>
      <p:sp>
        <p:nvSpPr>
          <p:cNvPr id="15" name="Text 13"/>
          <p:cNvSpPr txBox="1"/>
          <p:nvPr/>
        </p:nvSpPr>
        <p:spPr>
          <a:xfrm>
            <a:off x="566928" y="29573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marker-4"/>
          <p:cNvSpPr/>
          <p:nvPr/>
        </p:nvSpPr>
        <p:spPr>
          <a:xfrm>
            <a:off x="566928" y="3719322"/>
            <a:ext cx="228600" cy="228600"/>
          </a:xfrm>
          <a:prstGeom prst="ellipse">
            <a:avLst/>
          </a:prstGeom>
          <a:solidFill>
            <a:schemeClr val="accent1"/>
          </a:solidFill>
          <a:ln w="12700">
            <a:solidFill>
              <a:schemeClr val="accent1"/>
            </a:solidFill>
            <a:prstDash val="solid"/>
          </a:ln>
        </p:spPr>
      </p:sp>
      <p:sp>
        <p:nvSpPr>
          <p:cNvPr id="17" name="Text 15"/>
          <p:cNvSpPr txBox="1"/>
          <p:nvPr/>
        </p:nvSpPr>
        <p:spPr>
          <a:xfrm>
            <a:off x="566928" y="37193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marker-1"/>
          <p:cNvSpPr/>
          <p:nvPr/>
        </p:nvSpPr>
        <p:spPr>
          <a:xfrm>
            <a:off x="6217920" y="1133856"/>
            <a:ext cx="246888" cy="246888"/>
          </a:xfrm>
          <a:prstGeom prst="ellipse">
            <a:avLst/>
          </a:prstGeom>
          <a:solidFill>
            <a:schemeClr val="accent1"/>
          </a:solidFill>
          <a:ln w="12700">
            <a:solidFill>
              <a:schemeClr val="accent1"/>
            </a:solidFill>
            <a:prstDash val="solid"/>
          </a:ln>
        </p:spPr>
      </p:sp>
      <p:sp>
        <p:nvSpPr>
          <p:cNvPr id="19" name="Text 17"/>
          <p:cNvSpPr txBox="1"/>
          <p:nvPr/>
        </p:nvSpPr>
        <p:spPr>
          <a:xfrm>
            <a:off x="6217920" y="1133856"/>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0" name="Text 18"/>
          <p:cNvSpPr txBox="1"/>
          <p:nvPr/>
        </p:nvSpPr>
        <p:spPr>
          <a:xfrm>
            <a:off x="6583680" y="1115568"/>
            <a:ext cx="2103120" cy="489204"/>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Rolling is only allowed with </a:t>
            </a:r>
            <a:r>
              <a:rPr lang="en-US" sz="1350" b="1" dirty="0">
                <a:solidFill>
                  <a:schemeClr val="accent2"/>
                </a:solidFill>
              </a:rPr>
              <a:t>rolls left</a:t>
            </a:r>
            <a:r>
              <a:rPr lang="en-US" sz="1350" dirty="0">
                <a:solidFill>
                  <a:schemeClr val="tx1"/>
                </a:solidFill>
              </a:rPr>
              <a:t>.</a:t>
            </a:r>
            <a:endParaRPr lang="en-US" sz="1350" dirty="0"/>
          </a:p>
        </p:txBody>
      </p:sp>
      <p:sp>
        <p:nvSpPr>
          <p:cNvPr id="21" name="marker-2"/>
          <p:cNvSpPr/>
          <p:nvPr/>
        </p:nvSpPr>
        <p:spPr>
          <a:xfrm>
            <a:off x="6217920" y="1769364"/>
            <a:ext cx="246888" cy="246888"/>
          </a:xfrm>
          <a:prstGeom prst="ellipse">
            <a:avLst/>
          </a:prstGeom>
          <a:solidFill>
            <a:schemeClr val="accent1"/>
          </a:solidFill>
          <a:ln w="12700">
            <a:solidFill>
              <a:schemeClr val="accent1"/>
            </a:solidFill>
            <a:prstDash val="solid"/>
          </a:ln>
        </p:spPr>
      </p:sp>
      <p:sp>
        <p:nvSpPr>
          <p:cNvPr id="22" name="Text 20"/>
          <p:cNvSpPr txBox="1"/>
          <p:nvPr/>
        </p:nvSpPr>
        <p:spPr>
          <a:xfrm>
            <a:off x="6217920" y="1769364"/>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3" name="Text 21"/>
          <p:cNvSpPr txBox="1"/>
          <p:nvPr/>
        </p:nvSpPr>
        <p:spPr>
          <a:xfrm>
            <a:off x="6583680" y="1751076"/>
            <a:ext cx="2103120" cy="489204"/>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First roll of a turn: held dice are </a:t>
            </a:r>
            <a:r>
              <a:rPr lang="en-US" sz="1350" b="1" dirty="0">
                <a:solidFill>
                  <a:schemeClr val="accent2"/>
                </a:solidFill>
              </a:rPr>
              <a:t>released</a:t>
            </a:r>
            <a:r>
              <a:rPr lang="en-US" sz="1350" dirty="0">
                <a:solidFill>
                  <a:schemeClr val="tx1"/>
                </a:solidFill>
              </a:rPr>
              <a:t>.</a:t>
            </a:r>
            <a:endParaRPr lang="en-US" sz="1350" dirty="0"/>
          </a:p>
        </p:txBody>
      </p:sp>
      <p:sp>
        <p:nvSpPr>
          <p:cNvPr id="24" name="marker-3"/>
          <p:cNvSpPr/>
          <p:nvPr/>
        </p:nvSpPr>
        <p:spPr>
          <a:xfrm>
            <a:off x="6217920" y="2404872"/>
            <a:ext cx="246888" cy="246888"/>
          </a:xfrm>
          <a:prstGeom prst="ellipse">
            <a:avLst/>
          </a:prstGeom>
          <a:solidFill>
            <a:schemeClr val="accent1"/>
          </a:solidFill>
          <a:ln w="12700">
            <a:solidFill>
              <a:schemeClr val="accent1"/>
            </a:solidFill>
            <a:prstDash val="solid"/>
          </a:ln>
        </p:spPr>
      </p:sp>
      <p:sp>
        <p:nvSpPr>
          <p:cNvPr id="25" name="Text 23"/>
          <p:cNvSpPr txBox="1"/>
          <p:nvPr/>
        </p:nvSpPr>
        <p:spPr>
          <a:xfrm>
            <a:off x="6217920" y="2404872"/>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6" name="Text 24"/>
          <p:cNvSpPr txBox="1"/>
          <p:nvPr/>
        </p:nvSpPr>
        <p:spPr>
          <a:xfrm>
            <a:off x="6583680" y="2386584"/>
            <a:ext cx="2103120" cy="489204"/>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You must have </a:t>
            </a:r>
            <a:r>
              <a:rPr lang="en-US" sz="1350" b="1" dirty="0">
                <a:solidFill>
                  <a:schemeClr val="accent2"/>
                </a:solidFill>
              </a:rPr>
              <a:t>rolled</a:t>
            </a:r>
            <a:r>
              <a:rPr lang="en-US" sz="1350" dirty="0">
                <a:solidFill>
                  <a:schemeClr val="tx1"/>
                </a:solidFill>
              </a:rPr>
              <a:t>, and the category must be </a:t>
            </a:r>
            <a:r>
              <a:rPr lang="en-US" sz="1350" b="1" dirty="0">
                <a:solidFill>
                  <a:schemeClr val="accent2"/>
                </a:solidFill>
              </a:rPr>
              <a:t>free</a:t>
            </a:r>
            <a:r>
              <a:rPr lang="en-US" sz="1350" dirty="0">
                <a:solidFill>
                  <a:schemeClr val="tx1"/>
                </a:solidFill>
              </a:rPr>
              <a:t>.</a:t>
            </a:r>
            <a:endParaRPr lang="en-US" sz="1350" dirty="0"/>
          </a:p>
        </p:txBody>
      </p:sp>
      <p:sp>
        <p:nvSpPr>
          <p:cNvPr id="27" name="marker-4"/>
          <p:cNvSpPr/>
          <p:nvPr/>
        </p:nvSpPr>
        <p:spPr>
          <a:xfrm>
            <a:off x="6217920" y="3040380"/>
            <a:ext cx="246888" cy="246888"/>
          </a:xfrm>
          <a:prstGeom prst="ellipse">
            <a:avLst/>
          </a:prstGeom>
          <a:solidFill>
            <a:schemeClr val="accent1"/>
          </a:solidFill>
          <a:ln w="12700">
            <a:solidFill>
              <a:schemeClr val="accent1"/>
            </a:solidFill>
            <a:prstDash val="solid"/>
          </a:ln>
        </p:spPr>
      </p:sp>
      <p:sp>
        <p:nvSpPr>
          <p:cNvPr id="28" name="Text 26"/>
          <p:cNvSpPr txBox="1"/>
          <p:nvPr/>
        </p:nvSpPr>
        <p:spPr>
          <a:xfrm>
            <a:off x="6217920" y="3040380"/>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9" name="Text 27"/>
          <p:cNvSpPr txBox="1"/>
          <p:nvPr/>
        </p:nvSpPr>
        <p:spPr>
          <a:xfrm>
            <a:off x="6583680" y="3022092"/>
            <a:ext cx="2103120" cy="489204"/>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Points are saved and the turn passes on.</a:t>
            </a:r>
            <a:endParaRPr lang="en-US" sz="1350" dirty="0"/>
          </a:p>
        </p:txBody>
      </p:sp>
      <p:sp>
        <p:nvSpPr>
          <p:cNvPr id="30" name="card"/>
          <p:cNvSpPr/>
          <p:nvPr/>
        </p:nvSpPr>
        <p:spPr>
          <a:xfrm>
            <a:off x="6217920" y="3675888"/>
            <a:ext cx="2468880" cy="1051560"/>
          </a:xfrm>
          <a:prstGeom prst="roundRect">
            <a:avLst>
              <a:gd name="adj" fmla="val 6087"/>
            </a:avLst>
          </a:prstGeom>
          <a:solidFill>
            <a:schemeClr val="accent5"/>
          </a:solidFill>
          <a:ln w="12700">
            <a:solidFill>
              <a:schemeClr val="accent5"/>
            </a:solidFill>
            <a:prstDash val="solid"/>
          </a:ln>
        </p:spPr>
      </p:sp>
      <p:sp>
        <p:nvSpPr>
          <p:cNvPr id="31" name="Text 29"/>
          <p:cNvSpPr txBox="1"/>
          <p:nvPr/>
        </p:nvSpPr>
        <p:spPr>
          <a:xfrm>
            <a:off x="6400800" y="3803904"/>
            <a:ext cx="2103120" cy="274320"/>
          </a:xfrm>
          <a:prstGeom prst="rect">
            <a:avLst/>
          </a:prstGeom>
          <a:noFill/>
          <a:ln/>
        </p:spPr>
        <p:txBody>
          <a:bodyPr wrap="square" lIns="0" tIns="0" rIns="0" bIns="0" rtlCol="0" anchor="t"/>
          <a:lstStyle/>
          <a:p>
            <a:pPr indent="0" marL="0">
              <a:buNone/>
            </a:pPr>
            <a:r>
              <a:rPr lang="en-US" sz="1400" b="1" dirty="0">
                <a:solidFill>
                  <a:schemeClr val="accent2"/>
                </a:solidFill>
              </a:rPr>
              <a:t>Why </a:t>
            </a:r>
            <a:r>
              <a:rPr lang="en-US" sz="1300" b="1" dirty="0">
                <a:solidFill>
                  <a:schemeClr val="tx2"/>
                </a:solidFill>
                <a:latin typeface="Courier New" pitchFamily="34" charset="0"/>
                <a:ea typeface="Courier New" pitchFamily="34" charset="-122"/>
                <a:cs typeface="Courier New" pitchFamily="34" charset="-120"/>
              </a:rPr>
              <a:t>raise</a:t>
            </a:r>
            <a:r>
              <a:rPr lang="en-US" sz="1400" b="1" dirty="0">
                <a:solidFill>
                  <a:schemeClr val="accent2"/>
                </a:solidFill>
              </a:rPr>
              <a:t>?</a:t>
            </a:r>
            <a:endParaRPr lang="en-US" sz="1400" dirty="0"/>
          </a:p>
        </p:txBody>
      </p:sp>
      <p:sp>
        <p:nvSpPr>
          <p:cNvPr id="32" name="Text 30"/>
          <p:cNvSpPr txBox="1"/>
          <p:nvPr/>
        </p:nvSpPr>
        <p:spPr>
          <a:xfrm>
            <a:off x="6400800" y="4133088"/>
            <a:ext cx="2103120" cy="484632"/>
          </a:xfrm>
          <a:prstGeom prst="rect">
            <a:avLst/>
          </a:prstGeom>
          <a:noFill/>
          <a:ln/>
        </p:spPr>
        <p:txBody>
          <a:bodyPr wrap="square" lIns="0" tIns="0" rIns="0" bIns="0" rtlCol="0" anchor="t"/>
          <a:lstStyle/>
          <a:p>
            <a:pPr indent="0" marL="0">
              <a:lnSpc>
                <a:spcPct val="110000"/>
              </a:lnSpc>
              <a:spcAft>
                <a:spcPts val="400"/>
              </a:spcAft>
              <a:buNone/>
            </a:pPr>
            <a:r>
              <a:rPr lang="en-US" sz="1350" dirty="0">
                <a:solidFill>
                  <a:schemeClr val="tx1"/>
                </a:solidFill>
              </a:rPr>
              <a:t>Illegal moves are stopped by the logic itself.</a:t>
            </a:r>
            <a:endParaRPr lang="en-US" sz="135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Scorecard, turn order and winners</a:t>
            </a:r>
            <a:endParaRPr lang="en-US" sz="2600" dirty="0"/>
          </a:p>
        </p:txBody>
      </p:sp>
      <p:sp>
        <p:nvSpPr>
          <p:cNvPr id="3" name="die-5"/>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631759" y="503743"/>
            <a:ext cx="71506" cy="71506"/>
          </a:xfrm>
          <a:prstGeom prst="ellipse">
            <a:avLst/>
          </a:prstGeom>
          <a:solidFill>
            <a:schemeClr val="bg1"/>
          </a:solidFill>
          <a:ln w="12700">
            <a:solidFill>
              <a:schemeClr val="bg1"/>
            </a:solidFill>
            <a:prstDash val="solid"/>
          </a:ln>
        </p:spPr>
      </p:sp>
      <p:sp>
        <p:nvSpPr>
          <p:cNvPr id="7" name="pip"/>
          <p:cNvSpPr/>
          <p:nvPr/>
        </p:nvSpPr>
        <p:spPr>
          <a:xfrm>
            <a:off x="518190" y="617311"/>
            <a:ext cx="71506" cy="71506"/>
          </a:xfrm>
          <a:prstGeom prst="ellipse">
            <a:avLst/>
          </a:prstGeom>
          <a:solidFill>
            <a:schemeClr val="bg1"/>
          </a:solidFill>
          <a:ln w="12700">
            <a:solidFill>
              <a:schemeClr val="bg1"/>
            </a:solidFill>
            <a:prstDash val="solid"/>
          </a:ln>
        </p:spPr>
      </p:sp>
      <p:sp>
        <p:nvSpPr>
          <p:cNvPr id="8" name="pip"/>
          <p:cNvSpPr/>
          <p:nvPr/>
        </p:nvSpPr>
        <p:spPr>
          <a:xfrm>
            <a:off x="745327" y="617311"/>
            <a:ext cx="71506" cy="71506"/>
          </a:xfrm>
          <a:prstGeom prst="ellipse">
            <a:avLst/>
          </a:prstGeom>
          <a:solidFill>
            <a:schemeClr val="bg1"/>
          </a:solidFill>
          <a:ln w="12700">
            <a:solidFill>
              <a:schemeClr val="bg1"/>
            </a:solidFill>
            <a:prstDash val="solid"/>
          </a:ln>
        </p:spPr>
      </p:sp>
      <p:sp>
        <p:nvSpPr>
          <p:cNvPr id="9" name="code-player"/>
          <p:cNvSpPr/>
          <p:nvPr/>
        </p:nvSpPr>
        <p:spPr>
          <a:xfrm>
            <a:off x="457200" y="1097280"/>
            <a:ext cx="5806440" cy="3567684"/>
          </a:xfrm>
          <a:prstGeom prst="roundRect">
            <a:avLst>
              <a:gd name="adj" fmla="val 1794"/>
            </a:avLst>
          </a:prstGeom>
          <a:solidFill>
            <a:schemeClr val="accent6"/>
          </a:solidFill>
          <a:ln w="12700">
            <a:solidFill>
              <a:schemeClr val="accent6"/>
            </a:solidFill>
            <a:prstDash val="solid"/>
          </a:ln>
        </p:spPr>
      </p:sp>
      <p:sp>
        <p:nvSpPr>
          <p:cNvPr id="10" name="code-text-player"/>
          <p:cNvSpPr txBox="1"/>
          <p:nvPr/>
        </p:nvSpPr>
        <p:spPr>
          <a:xfrm>
            <a:off x="914400" y="1261872"/>
            <a:ext cx="5239512" cy="3238500"/>
          </a:xfrm>
          <a:prstGeom prst="rect">
            <a:avLst/>
          </a:prstGeom>
          <a:noFill/>
          <a:ln/>
        </p:spPr>
        <p:txBody>
          <a:bodyPr wrap="none" lIns="0" tIns="0" rIns="0" bIns="0" rtlCol="0" anchor="t"/>
          <a:lstStyle/>
          <a:p>
            <a:pPr indent="0" marL="0">
              <a:lnSpc>
                <a:spcPts val="1500"/>
              </a:lnSpc>
              <a:buNone/>
            </a:pPr>
            <a:r>
              <a:rPr lang="en-US" sz="1000" b="1" dirty="0">
                <a:solidFill>
                  <a:srgbClr val="8DB8FF"/>
                </a:solidFill>
                <a:latin typeface="Courier New" pitchFamily="34" charset="0"/>
                <a:ea typeface="Courier New" pitchFamily="34" charset="-122"/>
                <a:cs typeface="Courier New" pitchFamily="34" charset="-120"/>
              </a:rPr>
              <a:t>class</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Player</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def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upper_sum</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return</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sum</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.scores.get(key, </a:t>
            </a:r>
            <a:r>
              <a:rPr lang="en-US" sz="1000" b="1" dirty="0">
                <a:solidFill>
                  <a:srgbClr val="FF9E8A"/>
                </a:solidFill>
                <a:latin typeface="Courier New" pitchFamily="34" charset="0"/>
                <a:ea typeface="Courier New" pitchFamily="34" charset="-122"/>
                <a:cs typeface="Courier New" pitchFamily="34" charset="-120"/>
              </a:rPr>
              <a:t>0</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for</a:t>
            </a:r>
            <a:r>
              <a:rPr lang="en-US" sz="1000" b="1" dirty="0">
                <a:solidFill>
                  <a:srgbClr val="E8EEF5"/>
                </a:solidFill>
                <a:latin typeface="Courier New" pitchFamily="34" charset="0"/>
                <a:ea typeface="Courier New" pitchFamily="34" charset="-122"/>
                <a:cs typeface="Courier New" pitchFamily="34" charset="-120"/>
              </a:rPr>
              <a:t> key </a:t>
            </a:r>
            <a:r>
              <a:rPr lang="en-US" sz="1000" b="1" dirty="0">
                <a:solidFill>
                  <a:srgbClr val="8DB8FF"/>
                </a:solidFill>
                <a:latin typeface="Courier New" pitchFamily="34" charset="0"/>
                <a:ea typeface="Courier New" pitchFamily="34" charset="-122"/>
                <a:cs typeface="Courier New" pitchFamily="34" charset="-120"/>
              </a:rPr>
              <a:t>in</a:t>
            </a:r>
            <a:r>
              <a:rPr lang="en-US" sz="1000" b="1" dirty="0">
                <a:solidFill>
                  <a:srgbClr val="E8EEF5"/>
                </a:solidFill>
                <a:latin typeface="Courier New" pitchFamily="34" charset="0"/>
                <a:ea typeface="Courier New" pitchFamily="34" charset="-122"/>
                <a:cs typeface="Courier New" pitchFamily="34" charset="-120"/>
              </a:rPr>
              <a:t> UPPER)</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def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bonus</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return</a:t>
            </a:r>
            <a:r>
              <a:rPr lang="en-US" sz="1000" b="1" dirty="0">
                <a:solidFill>
                  <a:srgbClr val="E8EEF5"/>
                </a:solidFill>
                <a:latin typeface="Courier New" pitchFamily="34" charset="0"/>
                <a:ea typeface="Courier New" pitchFamily="34" charset="-122"/>
                <a:cs typeface="Courier New" pitchFamily="34" charset="-120"/>
              </a:rPr>
              <a:t> BONUS_POINTS </a:t>
            </a:r>
            <a:r>
              <a:rPr lang="en-US" sz="1000" b="1" dirty="0">
                <a:solidFill>
                  <a:srgbClr val="8DB8FF"/>
                </a:solidFill>
                <a:latin typeface="Courier New" pitchFamily="34" charset="0"/>
                <a:ea typeface="Courier New" pitchFamily="34" charset="-122"/>
                <a:cs typeface="Courier New" pitchFamily="34" charset="-120"/>
              </a:rPr>
              <a:t>if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.upper_sum() &gt;= BONUS_LIMIT </a:t>
            </a:r>
            <a:r>
              <a:rPr lang="en-US" sz="1000" b="1" dirty="0">
                <a:solidFill>
                  <a:srgbClr val="8DB8FF"/>
                </a:solidFill>
                <a:latin typeface="Courier New" pitchFamily="34" charset="0"/>
                <a:ea typeface="Courier New" pitchFamily="34" charset="-122"/>
                <a:cs typeface="Courier New" pitchFamily="34" charset="-120"/>
              </a:rPr>
              <a:t>else</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FF9E8A"/>
                </a:solidFill>
                <a:latin typeface="Courier New" pitchFamily="34" charset="0"/>
                <a:ea typeface="Courier New" pitchFamily="34" charset="-122"/>
                <a:cs typeface="Courier New" pitchFamily="34" charset="-120"/>
              </a:rPr>
              <a:t>0</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b="1" dirty="0">
                <a:solidFill>
                  <a:srgbClr val="8DB8FF"/>
                </a:solidFill>
                <a:latin typeface="Courier New" pitchFamily="34" charset="0"/>
                <a:ea typeface="Courier New" pitchFamily="34" charset="-122"/>
                <a:cs typeface="Courier New" pitchFamily="34" charset="-120"/>
              </a:rPr>
              <a:t>class</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Game</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def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next_turn</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.current =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.current + </a:t>
            </a:r>
            <a:r>
              <a:rPr lang="en-US" sz="1000" b="1" dirty="0">
                <a:solidFill>
                  <a:srgbClr val="FF9E8A"/>
                </a:solidFill>
                <a:latin typeface="Courier New" pitchFamily="34" charset="0"/>
                <a:ea typeface="Courier New" pitchFamily="34" charset="-122"/>
                <a:cs typeface="Courier New" pitchFamily="34" charset="-120"/>
              </a:rPr>
              <a:t>1</a:t>
            </a:r>
            <a:r>
              <a:rPr lang="en-US" sz="1000" b="1" dirty="0">
                <a:solidFill>
                  <a:srgbClr val="E8EEF5"/>
                </a:solidFill>
                <a:latin typeface="Courier New" pitchFamily="34" charset="0"/>
                <a:ea typeface="Courier New" pitchFamily="34" charset="-122"/>
                <a:cs typeface="Courier New" pitchFamily="34" charset="-120"/>
              </a:rPr>
              <a:t>) % </a:t>
            </a:r>
            <a:r>
              <a:rPr lang="en-US" sz="1000" b="1" dirty="0">
                <a:solidFill>
                  <a:srgbClr val="9BE7C4"/>
                </a:solidFill>
                <a:latin typeface="Courier New" pitchFamily="34" charset="0"/>
                <a:ea typeface="Courier New" pitchFamily="34" charset="-122"/>
                <a:cs typeface="Courier New" pitchFamily="34" charset="-120"/>
              </a:rPr>
              <a:t>len</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.players)</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.rolls_left = MAX_ROLLS</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.dice.release_all()</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def</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9BE7C4"/>
                </a:solidFill>
                <a:latin typeface="Courier New" pitchFamily="34" charset="0"/>
                <a:ea typeface="Courier New" pitchFamily="34" charset="-122"/>
                <a:cs typeface="Courier New" pitchFamily="34" charset="-120"/>
              </a:rPr>
              <a:t>winners</a:t>
            </a:r>
            <a:r>
              <a:rPr lang="en-US" sz="1000" b="1" dirty="0">
                <a:solidFill>
                  <a:srgbClr val="E8EEF5"/>
                </a:solidFill>
                <a:latin typeface="Courier New" pitchFamily="34" charset="0"/>
                <a:ea typeface="Courier New" pitchFamily="34" charset="-122"/>
                <a:cs typeface="Courier New" pitchFamily="34" charset="-120"/>
              </a:rPr>
              <a:t>(</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best = </a:t>
            </a:r>
            <a:r>
              <a:rPr lang="en-US" sz="1000" b="1" dirty="0">
                <a:solidFill>
                  <a:srgbClr val="9BE7C4"/>
                </a:solidFill>
                <a:latin typeface="Courier New" pitchFamily="34" charset="0"/>
                <a:ea typeface="Courier New" pitchFamily="34" charset="-122"/>
                <a:cs typeface="Courier New" pitchFamily="34" charset="-120"/>
              </a:rPr>
              <a:t>max</a:t>
            </a:r>
            <a:r>
              <a:rPr lang="en-US" sz="1000" b="1" dirty="0">
                <a:solidFill>
                  <a:srgbClr val="E8EEF5"/>
                </a:solidFill>
                <a:latin typeface="Courier New" pitchFamily="34" charset="0"/>
                <a:ea typeface="Courier New" pitchFamily="34" charset="-122"/>
                <a:cs typeface="Courier New" pitchFamily="34" charset="-120"/>
              </a:rPr>
              <a:t>(player.total() </a:t>
            </a:r>
            <a:r>
              <a:rPr lang="en-US" sz="1000" b="1" dirty="0">
                <a:solidFill>
                  <a:srgbClr val="8DB8FF"/>
                </a:solidFill>
                <a:latin typeface="Courier New" pitchFamily="34" charset="0"/>
                <a:ea typeface="Courier New" pitchFamily="34" charset="-122"/>
                <a:cs typeface="Courier New" pitchFamily="34" charset="-120"/>
              </a:rPr>
              <a:t>for</a:t>
            </a:r>
            <a:r>
              <a:rPr lang="en-US" sz="1000" b="1" dirty="0">
                <a:solidFill>
                  <a:srgbClr val="E8EEF5"/>
                </a:solidFill>
                <a:latin typeface="Courier New" pitchFamily="34" charset="0"/>
                <a:ea typeface="Courier New" pitchFamily="34" charset="-122"/>
                <a:cs typeface="Courier New" pitchFamily="34" charset="-120"/>
              </a:rPr>
              <a:t> player </a:t>
            </a:r>
            <a:r>
              <a:rPr lang="en-US" sz="1000" b="1" dirty="0">
                <a:solidFill>
                  <a:srgbClr val="8DB8FF"/>
                </a:solidFill>
                <a:latin typeface="Courier New" pitchFamily="34" charset="0"/>
                <a:ea typeface="Courier New" pitchFamily="34" charset="-122"/>
                <a:cs typeface="Courier New" pitchFamily="34" charset="-120"/>
              </a:rPr>
              <a:t>in</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.players)</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return</a:t>
            </a:r>
            <a:r>
              <a:rPr lang="en-US" sz="1000" b="1" dirty="0">
                <a:solidFill>
                  <a:srgbClr val="E8EEF5"/>
                </a:solidFill>
                <a:latin typeface="Courier New" pitchFamily="34" charset="0"/>
                <a:ea typeface="Courier New" pitchFamily="34" charset="-122"/>
                <a:cs typeface="Courier New" pitchFamily="34" charset="-120"/>
              </a:rPr>
              <a:t> [player </a:t>
            </a:r>
            <a:r>
              <a:rPr lang="en-US" sz="1000" b="1" dirty="0">
                <a:solidFill>
                  <a:srgbClr val="8DB8FF"/>
                </a:solidFill>
                <a:latin typeface="Courier New" pitchFamily="34" charset="0"/>
                <a:ea typeface="Courier New" pitchFamily="34" charset="-122"/>
                <a:cs typeface="Courier New" pitchFamily="34" charset="-120"/>
              </a:rPr>
              <a:t>for</a:t>
            </a:r>
            <a:r>
              <a:rPr lang="en-US" sz="1000" b="1" dirty="0">
                <a:solidFill>
                  <a:srgbClr val="E8EEF5"/>
                </a:solidFill>
                <a:latin typeface="Courier New" pitchFamily="34" charset="0"/>
                <a:ea typeface="Courier New" pitchFamily="34" charset="-122"/>
                <a:cs typeface="Courier New" pitchFamily="34" charset="-120"/>
              </a:rPr>
              <a:t> player </a:t>
            </a:r>
            <a:r>
              <a:rPr lang="en-US" sz="1000" b="1" dirty="0">
                <a:solidFill>
                  <a:srgbClr val="8DB8FF"/>
                </a:solidFill>
                <a:latin typeface="Courier New" pitchFamily="34" charset="0"/>
                <a:ea typeface="Courier New" pitchFamily="34" charset="-122"/>
                <a:cs typeface="Courier New" pitchFamily="34" charset="-120"/>
              </a:rPr>
              <a:t>in</a:t>
            </a: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C9A7FF"/>
                </a:solidFill>
                <a:latin typeface="Courier New" pitchFamily="34" charset="0"/>
                <a:ea typeface="Courier New" pitchFamily="34" charset="-122"/>
                <a:cs typeface="Courier New" pitchFamily="34" charset="-120"/>
              </a:rPr>
              <a:t>self</a:t>
            </a:r>
            <a:r>
              <a:rPr lang="en-US" sz="1000" b="1" dirty="0">
                <a:solidFill>
                  <a:srgbClr val="E8EEF5"/>
                </a:solidFill>
                <a:latin typeface="Courier New" pitchFamily="34" charset="0"/>
                <a:ea typeface="Courier New" pitchFamily="34" charset="-122"/>
                <a:cs typeface="Courier New" pitchFamily="34" charset="-120"/>
              </a:rPr>
              <a:t>.players</a:t>
            </a:r>
            <a:endParaRPr lang="en-US" sz="1000" dirty="0"/>
          </a:p>
          <a:p>
            <a:pPr indent="0" marL="0">
              <a:lnSpc>
                <a:spcPts val="1500"/>
              </a:lnSpc>
              <a:buNone/>
            </a:pPr>
            <a:r>
              <a:rPr lang="en-US" sz="1000" b="1" dirty="0">
                <a:solidFill>
                  <a:srgbClr val="E8EEF5"/>
                </a:solidFill>
                <a:latin typeface="Courier New" pitchFamily="34" charset="0"/>
                <a:ea typeface="Courier New" pitchFamily="34" charset="-122"/>
                <a:cs typeface="Courier New" pitchFamily="34" charset="-120"/>
              </a:rPr>
              <a:t>                </a:t>
            </a:r>
            <a:r>
              <a:rPr lang="en-US" sz="1000" b="1" dirty="0">
                <a:solidFill>
                  <a:srgbClr val="8DB8FF"/>
                </a:solidFill>
                <a:latin typeface="Courier New" pitchFamily="34" charset="0"/>
                <a:ea typeface="Courier New" pitchFamily="34" charset="-122"/>
                <a:cs typeface="Courier New" pitchFamily="34" charset="-120"/>
              </a:rPr>
              <a:t>if</a:t>
            </a:r>
            <a:r>
              <a:rPr lang="en-US" sz="1000" b="1" dirty="0">
                <a:solidFill>
                  <a:srgbClr val="E8EEF5"/>
                </a:solidFill>
                <a:latin typeface="Courier New" pitchFamily="34" charset="0"/>
                <a:ea typeface="Courier New" pitchFamily="34" charset="-122"/>
                <a:cs typeface="Courier New" pitchFamily="34" charset="-120"/>
              </a:rPr>
              <a:t> player.total() == best]</a:t>
            </a:r>
            <a:endParaRPr lang="en-US" sz="1000" dirty="0"/>
          </a:p>
        </p:txBody>
      </p:sp>
      <p:sp>
        <p:nvSpPr>
          <p:cNvPr id="11" name="marker-1"/>
          <p:cNvSpPr/>
          <p:nvPr/>
        </p:nvSpPr>
        <p:spPr>
          <a:xfrm>
            <a:off x="566928" y="1623822"/>
            <a:ext cx="228600" cy="228600"/>
          </a:xfrm>
          <a:prstGeom prst="ellipse">
            <a:avLst/>
          </a:prstGeom>
          <a:solidFill>
            <a:schemeClr val="accent1"/>
          </a:solidFill>
          <a:ln w="12700">
            <a:solidFill>
              <a:schemeClr val="accent1"/>
            </a:solidFill>
            <a:prstDash val="solid"/>
          </a:ln>
        </p:spPr>
      </p:sp>
      <p:sp>
        <p:nvSpPr>
          <p:cNvPr id="12" name="Text 10"/>
          <p:cNvSpPr txBox="1"/>
          <p:nvPr/>
        </p:nvSpPr>
        <p:spPr>
          <a:xfrm>
            <a:off x="566928" y="16238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 name="marker-2"/>
          <p:cNvSpPr/>
          <p:nvPr/>
        </p:nvSpPr>
        <p:spPr>
          <a:xfrm>
            <a:off x="566928" y="2195322"/>
            <a:ext cx="228600" cy="228600"/>
          </a:xfrm>
          <a:prstGeom prst="ellipse">
            <a:avLst/>
          </a:prstGeom>
          <a:solidFill>
            <a:schemeClr val="accent1"/>
          </a:solidFill>
          <a:ln w="12700">
            <a:solidFill>
              <a:schemeClr val="accent1"/>
            </a:solidFill>
            <a:prstDash val="solid"/>
          </a:ln>
        </p:spPr>
      </p:sp>
      <p:sp>
        <p:nvSpPr>
          <p:cNvPr id="14" name="Text 12"/>
          <p:cNvSpPr txBox="1"/>
          <p:nvPr/>
        </p:nvSpPr>
        <p:spPr>
          <a:xfrm>
            <a:off x="566928" y="21953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marker-3"/>
          <p:cNvSpPr/>
          <p:nvPr/>
        </p:nvSpPr>
        <p:spPr>
          <a:xfrm>
            <a:off x="566928" y="2957322"/>
            <a:ext cx="228600" cy="228600"/>
          </a:xfrm>
          <a:prstGeom prst="ellipse">
            <a:avLst/>
          </a:prstGeom>
          <a:solidFill>
            <a:schemeClr val="accent1"/>
          </a:solidFill>
          <a:ln w="12700">
            <a:solidFill>
              <a:schemeClr val="accent1"/>
            </a:solidFill>
            <a:prstDash val="solid"/>
          </a:ln>
        </p:spPr>
      </p:sp>
      <p:sp>
        <p:nvSpPr>
          <p:cNvPr id="16" name="Text 14"/>
          <p:cNvSpPr txBox="1"/>
          <p:nvPr/>
        </p:nvSpPr>
        <p:spPr>
          <a:xfrm>
            <a:off x="566928" y="29573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marker-4"/>
          <p:cNvSpPr/>
          <p:nvPr/>
        </p:nvSpPr>
        <p:spPr>
          <a:xfrm>
            <a:off x="566928" y="3909822"/>
            <a:ext cx="228600" cy="228600"/>
          </a:xfrm>
          <a:prstGeom prst="ellipse">
            <a:avLst/>
          </a:prstGeom>
          <a:solidFill>
            <a:schemeClr val="accent1"/>
          </a:solidFill>
          <a:ln w="12700">
            <a:solidFill>
              <a:schemeClr val="accent1"/>
            </a:solidFill>
            <a:prstDash val="solid"/>
          </a:ln>
        </p:spPr>
      </p:sp>
      <p:sp>
        <p:nvSpPr>
          <p:cNvPr id="18" name="Text 16"/>
          <p:cNvSpPr txBox="1"/>
          <p:nvPr/>
        </p:nvSpPr>
        <p:spPr>
          <a:xfrm>
            <a:off x="566928" y="3909822"/>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9" name="marker-1"/>
          <p:cNvSpPr/>
          <p:nvPr/>
        </p:nvSpPr>
        <p:spPr>
          <a:xfrm>
            <a:off x="6446520" y="1133856"/>
            <a:ext cx="246888" cy="246888"/>
          </a:xfrm>
          <a:prstGeom prst="ellipse">
            <a:avLst/>
          </a:prstGeom>
          <a:solidFill>
            <a:schemeClr val="accent1"/>
          </a:solidFill>
          <a:ln w="12700">
            <a:solidFill>
              <a:schemeClr val="accent1"/>
            </a:solidFill>
            <a:prstDash val="solid"/>
          </a:ln>
        </p:spPr>
      </p:sp>
      <p:sp>
        <p:nvSpPr>
          <p:cNvPr id="20" name="Text 18"/>
          <p:cNvSpPr txBox="1"/>
          <p:nvPr/>
        </p:nvSpPr>
        <p:spPr>
          <a:xfrm>
            <a:off x="6446520" y="1133856"/>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1" name="Text 19"/>
          <p:cNvSpPr txBox="1"/>
          <p:nvPr/>
        </p:nvSpPr>
        <p:spPr>
          <a:xfrm>
            <a:off x="6812280" y="1115568"/>
            <a:ext cx="1874520" cy="941832"/>
          </a:xfrm>
          <a:prstGeom prst="rect">
            <a:avLst/>
          </a:prstGeom>
          <a:noFill/>
          <a:ln/>
        </p:spPr>
        <p:txBody>
          <a:bodyPr wrap="square" lIns="0" tIns="0" rIns="0" bIns="0" rtlCol="0" anchor="t"/>
          <a:lstStyle/>
          <a:p>
            <a:pPr indent="0" marL="0">
              <a:lnSpc>
                <a:spcPct val="110000"/>
              </a:lnSpc>
              <a:buNone/>
            </a:pPr>
            <a:r>
              <a:rPr lang="en-US" sz="1250" dirty="0">
                <a:solidFill>
                  <a:schemeClr val="tx2"/>
                </a:solidFill>
                <a:latin typeface="Courier New" pitchFamily="34" charset="0"/>
                <a:ea typeface="Courier New" pitchFamily="34" charset="-122"/>
                <a:cs typeface="Courier New" pitchFamily="34" charset="-120"/>
              </a:rPr>
              <a:t>scores</a:t>
            </a:r>
            <a:r>
              <a:rPr lang="en-US" sz="1350" dirty="0">
                <a:solidFill>
                  <a:schemeClr val="tx1"/>
                </a:solidFill>
              </a:rPr>
              <a:t> is a dict of category → points. </a:t>
            </a:r>
            <a:r>
              <a:rPr lang="en-US" sz="1250" dirty="0">
                <a:solidFill>
                  <a:schemeClr val="tx2"/>
                </a:solidFill>
                <a:latin typeface="Courier New" pitchFamily="34" charset="0"/>
                <a:ea typeface="Courier New" pitchFamily="34" charset="-122"/>
                <a:cs typeface="Courier New" pitchFamily="34" charset="-120"/>
              </a:rPr>
              <a:t>.get(key, 0)</a:t>
            </a:r>
            <a:r>
              <a:rPr lang="en-US" sz="1350" dirty="0">
                <a:solidFill>
                  <a:schemeClr val="tx1"/>
                </a:solidFill>
              </a:rPr>
              <a:t> gives 0 for empty boxes.</a:t>
            </a:r>
            <a:endParaRPr lang="en-US" sz="1250" dirty="0"/>
          </a:p>
        </p:txBody>
      </p:sp>
      <p:sp>
        <p:nvSpPr>
          <p:cNvPr id="22" name="marker-2"/>
          <p:cNvSpPr/>
          <p:nvPr/>
        </p:nvSpPr>
        <p:spPr>
          <a:xfrm>
            <a:off x="6446520" y="2221992"/>
            <a:ext cx="246888" cy="246888"/>
          </a:xfrm>
          <a:prstGeom prst="ellipse">
            <a:avLst/>
          </a:prstGeom>
          <a:solidFill>
            <a:schemeClr val="accent1"/>
          </a:solidFill>
          <a:ln w="12700">
            <a:solidFill>
              <a:schemeClr val="accent1"/>
            </a:solidFill>
            <a:prstDash val="solid"/>
          </a:ln>
        </p:spPr>
      </p:sp>
      <p:sp>
        <p:nvSpPr>
          <p:cNvPr id="23" name="Text 21"/>
          <p:cNvSpPr txBox="1"/>
          <p:nvPr/>
        </p:nvSpPr>
        <p:spPr>
          <a:xfrm>
            <a:off x="6446520" y="2221992"/>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4" name="Text 22"/>
          <p:cNvSpPr txBox="1"/>
          <p:nvPr/>
        </p:nvSpPr>
        <p:spPr>
          <a:xfrm>
            <a:off x="6812280" y="2203704"/>
            <a:ext cx="1874520" cy="715518"/>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At least </a:t>
            </a:r>
            <a:r>
              <a:rPr lang="en-US" sz="1350" b="1" dirty="0">
                <a:solidFill>
                  <a:schemeClr val="accent2"/>
                </a:solidFill>
              </a:rPr>
              <a:t>63</a:t>
            </a:r>
            <a:r>
              <a:rPr lang="en-US" sz="1350" dirty="0">
                <a:solidFill>
                  <a:schemeClr val="tx1"/>
                </a:solidFill>
              </a:rPr>
              <a:t> gives a </a:t>
            </a:r>
            <a:r>
              <a:rPr lang="en-US" sz="1350" b="1" dirty="0">
                <a:solidFill>
                  <a:schemeClr val="accent2"/>
                </a:solidFill>
              </a:rPr>
              <a:t>50</a:t>
            </a:r>
            <a:r>
              <a:rPr lang="en-US" sz="1350" dirty="0">
                <a:solidFill>
                  <a:schemeClr val="tx1"/>
                </a:solidFill>
              </a:rPr>
              <a:t> bonus (three of each face).</a:t>
            </a:r>
            <a:endParaRPr lang="en-US" sz="1350" dirty="0"/>
          </a:p>
        </p:txBody>
      </p:sp>
      <p:sp>
        <p:nvSpPr>
          <p:cNvPr id="25" name="marker-3"/>
          <p:cNvSpPr/>
          <p:nvPr/>
        </p:nvSpPr>
        <p:spPr>
          <a:xfrm>
            <a:off x="6446520" y="3083814"/>
            <a:ext cx="246888" cy="246888"/>
          </a:xfrm>
          <a:prstGeom prst="ellipse">
            <a:avLst/>
          </a:prstGeom>
          <a:solidFill>
            <a:schemeClr val="accent1"/>
          </a:solidFill>
          <a:ln w="12700">
            <a:solidFill>
              <a:schemeClr val="accent1"/>
            </a:solidFill>
            <a:prstDash val="solid"/>
          </a:ln>
        </p:spPr>
      </p:sp>
      <p:sp>
        <p:nvSpPr>
          <p:cNvPr id="26" name="Text 24"/>
          <p:cNvSpPr txBox="1"/>
          <p:nvPr/>
        </p:nvSpPr>
        <p:spPr>
          <a:xfrm>
            <a:off x="6446520" y="3083814"/>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7" name="Text 25"/>
          <p:cNvSpPr txBox="1"/>
          <p:nvPr/>
        </p:nvSpPr>
        <p:spPr>
          <a:xfrm>
            <a:off x="6812280" y="3065526"/>
            <a:ext cx="1874520" cy="489204"/>
          </a:xfrm>
          <a:prstGeom prst="rect">
            <a:avLst/>
          </a:prstGeom>
          <a:noFill/>
          <a:ln/>
        </p:spPr>
        <p:txBody>
          <a:bodyPr wrap="square" lIns="0" tIns="0" rIns="0" bIns="0" rtlCol="0" anchor="t"/>
          <a:lstStyle/>
          <a:p>
            <a:pPr indent="0" marL="0">
              <a:lnSpc>
                <a:spcPct val="110000"/>
              </a:lnSpc>
              <a:buNone/>
            </a:pPr>
            <a:r>
              <a:rPr lang="en-US" sz="1250" dirty="0">
                <a:solidFill>
                  <a:schemeClr val="tx2"/>
                </a:solidFill>
                <a:latin typeface="Courier New" pitchFamily="34" charset="0"/>
                <a:ea typeface="Courier New" pitchFamily="34" charset="-122"/>
                <a:cs typeface="Courier New" pitchFamily="34" charset="-120"/>
              </a:rPr>
              <a:t>%</a:t>
            </a:r>
            <a:r>
              <a:rPr lang="en-US" sz="1350" dirty="0">
                <a:solidFill>
                  <a:schemeClr val="tx1"/>
                </a:solidFill>
              </a:rPr>
              <a:t> makes the turn wrap around: 0 → 1 → 2 → 0.</a:t>
            </a:r>
            <a:endParaRPr lang="en-US" sz="1250" dirty="0"/>
          </a:p>
        </p:txBody>
      </p:sp>
      <p:sp>
        <p:nvSpPr>
          <p:cNvPr id="28" name="marker-4"/>
          <p:cNvSpPr/>
          <p:nvPr/>
        </p:nvSpPr>
        <p:spPr>
          <a:xfrm>
            <a:off x="6446520" y="3719322"/>
            <a:ext cx="246888" cy="246888"/>
          </a:xfrm>
          <a:prstGeom prst="ellipse">
            <a:avLst/>
          </a:prstGeom>
          <a:solidFill>
            <a:schemeClr val="accent1"/>
          </a:solidFill>
          <a:ln w="12700">
            <a:solidFill>
              <a:schemeClr val="accent1"/>
            </a:solidFill>
            <a:prstDash val="solid"/>
          </a:ln>
        </p:spPr>
      </p:sp>
      <p:sp>
        <p:nvSpPr>
          <p:cNvPr id="29" name="Text 27"/>
          <p:cNvSpPr txBox="1"/>
          <p:nvPr/>
        </p:nvSpPr>
        <p:spPr>
          <a:xfrm>
            <a:off x="6446520" y="3719322"/>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0" name="Text 28"/>
          <p:cNvSpPr txBox="1"/>
          <p:nvPr/>
        </p:nvSpPr>
        <p:spPr>
          <a:xfrm>
            <a:off x="6812280" y="3701034"/>
            <a:ext cx="1874520" cy="715518"/>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A </a:t>
            </a:r>
            <a:r>
              <a:rPr lang="en-US" sz="1350" b="1" dirty="0">
                <a:solidFill>
                  <a:schemeClr val="accent2"/>
                </a:solidFill>
              </a:rPr>
              <a:t>list</a:t>
            </a:r>
            <a:r>
              <a:rPr lang="en-US" sz="1350" dirty="0">
                <a:solidFill>
                  <a:schemeClr val="tx1"/>
                </a:solidFill>
              </a:rPr>
              <a:t> of winners: on a tie, all top scorers win.</a:t>
            </a:r>
            <a:endParaRPr lang="en-US" sz="135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Scoring: Counter counts the dice</a:t>
            </a:r>
            <a:endParaRPr lang="en-US" sz="2600" dirty="0"/>
          </a:p>
        </p:txBody>
      </p:sp>
      <p:sp>
        <p:nvSpPr>
          <p:cNvPr id="3" name="die-6"/>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518190" y="503743"/>
            <a:ext cx="71506" cy="71506"/>
          </a:xfrm>
          <a:prstGeom prst="ellipse">
            <a:avLst/>
          </a:prstGeom>
          <a:solidFill>
            <a:schemeClr val="bg1"/>
          </a:solidFill>
          <a:ln w="12700">
            <a:solidFill>
              <a:schemeClr val="bg1"/>
            </a:solidFill>
            <a:prstDash val="solid"/>
          </a:ln>
        </p:spPr>
      </p:sp>
      <p:sp>
        <p:nvSpPr>
          <p:cNvPr id="7" name="pip"/>
          <p:cNvSpPr/>
          <p:nvPr/>
        </p:nvSpPr>
        <p:spPr>
          <a:xfrm>
            <a:off x="745327" y="503743"/>
            <a:ext cx="71506" cy="71506"/>
          </a:xfrm>
          <a:prstGeom prst="ellipse">
            <a:avLst/>
          </a:prstGeom>
          <a:solidFill>
            <a:schemeClr val="bg1"/>
          </a:solidFill>
          <a:ln w="12700">
            <a:solidFill>
              <a:schemeClr val="bg1"/>
            </a:solidFill>
            <a:prstDash val="solid"/>
          </a:ln>
        </p:spPr>
      </p:sp>
      <p:sp>
        <p:nvSpPr>
          <p:cNvPr id="8" name="pip"/>
          <p:cNvSpPr/>
          <p:nvPr/>
        </p:nvSpPr>
        <p:spPr>
          <a:xfrm>
            <a:off x="518190" y="617311"/>
            <a:ext cx="71506" cy="71506"/>
          </a:xfrm>
          <a:prstGeom prst="ellipse">
            <a:avLst/>
          </a:prstGeom>
          <a:solidFill>
            <a:schemeClr val="bg1"/>
          </a:solidFill>
          <a:ln w="12700">
            <a:solidFill>
              <a:schemeClr val="bg1"/>
            </a:solidFill>
            <a:prstDash val="solid"/>
          </a:ln>
        </p:spPr>
      </p:sp>
      <p:sp>
        <p:nvSpPr>
          <p:cNvPr id="9" name="pip"/>
          <p:cNvSpPr/>
          <p:nvPr/>
        </p:nvSpPr>
        <p:spPr>
          <a:xfrm>
            <a:off x="745327" y="617311"/>
            <a:ext cx="71506" cy="71506"/>
          </a:xfrm>
          <a:prstGeom prst="ellipse">
            <a:avLst/>
          </a:prstGeom>
          <a:solidFill>
            <a:schemeClr val="bg1"/>
          </a:solidFill>
          <a:ln w="12700">
            <a:solidFill>
              <a:schemeClr val="bg1"/>
            </a:solidFill>
            <a:prstDash val="solid"/>
          </a:ln>
        </p:spPr>
      </p:sp>
      <p:sp>
        <p:nvSpPr>
          <p:cNvPr id="10" name="die-3"/>
          <p:cNvSpPr/>
          <p:nvPr/>
        </p:nvSpPr>
        <p:spPr>
          <a:xfrm>
            <a:off x="457200" y="1207008"/>
            <a:ext cx="457200" cy="457200"/>
          </a:xfrm>
          <a:prstGeom prst="roundRect">
            <a:avLst>
              <a:gd name="adj" fmla="val 18000"/>
            </a:avLst>
          </a:prstGeom>
          <a:solidFill>
            <a:schemeClr val="accent1"/>
          </a:solidFill>
          <a:ln w="12700">
            <a:solidFill>
              <a:schemeClr val="accent1"/>
            </a:solidFill>
            <a:prstDash val="solid"/>
          </a:ln>
        </p:spPr>
      </p:sp>
      <p:sp>
        <p:nvSpPr>
          <p:cNvPr id="11" name="pip"/>
          <p:cNvSpPr/>
          <p:nvPr/>
        </p:nvSpPr>
        <p:spPr>
          <a:xfrm>
            <a:off x="523494" y="1273302"/>
            <a:ext cx="77724" cy="77724"/>
          </a:xfrm>
          <a:prstGeom prst="ellipse">
            <a:avLst/>
          </a:prstGeom>
          <a:solidFill>
            <a:schemeClr val="bg1"/>
          </a:solidFill>
          <a:ln w="12700">
            <a:solidFill>
              <a:schemeClr val="bg1"/>
            </a:solidFill>
            <a:prstDash val="solid"/>
          </a:ln>
        </p:spPr>
      </p:sp>
      <p:sp>
        <p:nvSpPr>
          <p:cNvPr id="12" name="pip"/>
          <p:cNvSpPr/>
          <p:nvPr/>
        </p:nvSpPr>
        <p:spPr>
          <a:xfrm>
            <a:off x="646938" y="1396746"/>
            <a:ext cx="77724" cy="77724"/>
          </a:xfrm>
          <a:prstGeom prst="ellipse">
            <a:avLst/>
          </a:prstGeom>
          <a:solidFill>
            <a:schemeClr val="bg1"/>
          </a:solidFill>
          <a:ln w="12700">
            <a:solidFill>
              <a:schemeClr val="bg1"/>
            </a:solidFill>
            <a:prstDash val="solid"/>
          </a:ln>
        </p:spPr>
      </p:sp>
      <p:sp>
        <p:nvSpPr>
          <p:cNvPr id="13" name="pip"/>
          <p:cNvSpPr/>
          <p:nvPr/>
        </p:nvSpPr>
        <p:spPr>
          <a:xfrm>
            <a:off x="770382" y="1520190"/>
            <a:ext cx="77724" cy="77724"/>
          </a:xfrm>
          <a:prstGeom prst="ellipse">
            <a:avLst/>
          </a:prstGeom>
          <a:solidFill>
            <a:schemeClr val="bg1"/>
          </a:solidFill>
          <a:ln w="12700">
            <a:solidFill>
              <a:schemeClr val="bg1"/>
            </a:solidFill>
            <a:prstDash val="solid"/>
          </a:ln>
        </p:spPr>
      </p:sp>
      <p:sp>
        <p:nvSpPr>
          <p:cNvPr id="14" name="die-3"/>
          <p:cNvSpPr/>
          <p:nvPr/>
        </p:nvSpPr>
        <p:spPr>
          <a:xfrm>
            <a:off x="1024128" y="1207008"/>
            <a:ext cx="457200" cy="457200"/>
          </a:xfrm>
          <a:prstGeom prst="roundRect">
            <a:avLst>
              <a:gd name="adj" fmla="val 18000"/>
            </a:avLst>
          </a:prstGeom>
          <a:solidFill>
            <a:schemeClr val="accent1"/>
          </a:solidFill>
          <a:ln w="12700">
            <a:solidFill>
              <a:schemeClr val="accent1"/>
            </a:solidFill>
            <a:prstDash val="solid"/>
          </a:ln>
        </p:spPr>
      </p:sp>
      <p:sp>
        <p:nvSpPr>
          <p:cNvPr id="15" name="pip"/>
          <p:cNvSpPr/>
          <p:nvPr/>
        </p:nvSpPr>
        <p:spPr>
          <a:xfrm>
            <a:off x="1090422" y="1273302"/>
            <a:ext cx="77724" cy="77724"/>
          </a:xfrm>
          <a:prstGeom prst="ellipse">
            <a:avLst/>
          </a:prstGeom>
          <a:solidFill>
            <a:schemeClr val="bg1"/>
          </a:solidFill>
          <a:ln w="12700">
            <a:solidFill>
              <a:schemeClr val="bg1"/>
            </a:solidFill>
            <a:prstDash val="solid"/>
          </a:ln>
        </p:spPr>
      </p:sp>
      <p:sp>
        <p:nvSpPr>
          <p:cNvPr id="16" name="pip"/>
          <p:cNvSpPr/>
          <p:nvPr/>
        </p:nvSpPr>
        <p:spPr>
          <a:xfrm>
            <a:off x="1213866" y="1396746"/>
            <a:ext cx="77724" cy="77724"/>
          </a:xfrm>
          <a:prstGeom prst="ellipse">
            <a:avLst/>
          </a:prstGeom>
          <a:solidFill>
            <a:schemeClr val="bg1"/>
          </a:solidFill>
          <a:ln w="12700">
            <a:solidFill>
              <a:schemeClr val="bg1"/>
            </a:solidFill>
            <a:prstDash val="solid"/>
          </a:ln>
        </p:spPr>
      </p:sp>
      <p:sp>
        <p:nvSpPr>
          <p:cNvPr id="17" name="pip"/>
          <p:cNvSpPr/>
          <p:nvPr/>
        </p:nvSpPr>
        <p:spPr>
          <a:xfrm>
            <a:off x="1337310" y="1520190"/>
            <a:ext cx="77724" cy="77724"/>
          </a:xfrm>
          <a:prstGeom prst="ellipse">
            <a:avLst/>
          </a:prstGeom>
          <a:solidFill>
            <a:schemeClr val="bg1"/>
          </a:solidFill>
          <a:ln w="12700">
            <a:solidFill>
              <a:schemeClr val="bg1"/>
            </a:solidFill>
            <a:prstDash val="solid"/>
          </a:ln>
        </p:spPr>
      </p:sp>
      <p:sp>
        <p:nvSpPr>
          <p:cNvPr id="18" name="die-5"/>
          <p:cNvSpPr/>
          <p:nvPr/>
        </p:nvSpPr>
        <p:spPr>
          <a:xfrm>
            <a:off x="1591056" y="1207008"/>
            <a:ext cx="457200" cy="457200"/>
          </a:xfrm>
          <a:prstGeom prst="roundRect">
            <a:avLst>
              <a:gd name="adj" fmla="val 18000"/>
            </a:avLst>
          </a:prstGeom>
          <a:solidFill>
            <a:schemeClr val="accent1"/>
          </a:solidFill>
          <a:ln w="12700">
            <a:solidFill>
              <a:schemeClr val="accent1"/>
            </a:solidFill>
            <a:prstDash val="solid"/>
          </a:ln>
        </p:spPr>
      </p:sp>
      <p:sp>
        <p:nvSpPr>
          <p:cNvPr id="19" name="pip"/>
          <p:cNvSpPr/>
          <p:nvPr/>
        </p:nvSpPr>
        <p:spPr>
          <a:xfrm>
            <a:off x="1657350" y="1273302"/>
            <a:ext cx="77724" cy="77724"/>
          </a:xfrm>
          <a:prstGeom prst="ellipse">
            <a:avLst/>
          </a:prstGeom>
          <a:solidFill>
            <a:schemeClr val="bg1"/>
          </a:solidFill>
          <a:ln w="12700">
            <a:solidFill>
              <a:schemeClr val="bg1"/>
            </a:solidFill>
            <a:prstDash val="solid"/>
          </a:ln>
        </p:spPr>
      </p:sp>
      <p:sp>
        <p:nvSpPr>
          <p:cNvPr id="20" name="pip"/>
          <p:cNvSpPr/>
          <p:nvPr/>
        </p:nvSpPr>
        <p:spPr>
          <a:xfrm>
            <a:off x="1904238" y="1273302"/>
            <a:ext cx="77724" cy="77724"/>
          </a:xfrm>
          <a:prstGeom prst="ellipse">
            <a:avLst/>
          </a:prstGeom>
          <a:solidFill>
            <a:schemeClr val="bg1"/>
          </a:solidFill>
          <a:ln w="12700">
            <a:solidFill>
              <a:schemeClr val="bg1"/>
            </a:solidFill>
            <a:prstDash val="solid"/>
          </a:ln>
        </p:spPr>
      </p:sp>
      <p:sp>
        <p:nvSpPr>
          <p:cNvPr id="21" name="pip"/>
          <p:cNvSpPr/>
          <p:nvPr/>
        </p:nvSpPr>
        <p:spPr>
          <a:xfrm>
            <a:off x="1780794" y="1396746"/>
            <a:ext cx="77724" cy="77724"/>
          </a:xfrm>
          <a:prstGeom prst="ellipse">
            <a:avLst/>
          </a:prstGeom>
          <a:solidFill>
            <a:schemeClr val="bg1"/>
          </a:solidFill>
          <a:ln w="12700">
            <a:solidFill>
              <a:schemeClr val="bg1"/>
            </a:solidFill>
            <a:prstDash val="solid"/>
          </a:ln>
        </p:spPr>
      </p:sp>
      <p:sp>
        <p:nvSpPr>
          <p:cNvPr id="22" name="pip"/>
          <p:cNvSpPr/>
          <p:nvPr/>
        </p:nvSpPr>
        <p:spPr>
          <a:xfrm>
            <a:off x="1657350" y="1520190"/>
            <a:ext cx="77724" cy="77724"/>
          </a:xfrm>
          <a:prstGeom prst="ellipse">
            <a:avLst/>
          </a:prstGeom>
          <a:solidFill>
            <a:schemeClr val="bg1"/>
          </a:solidFill>
          <a:ln w="12700">
            <a:solidFill>
              <a:schemeClr val="bg1"/>
            </a:solidFill>
            <a:prstDash val="solid"/>
          </a:ln>
        </p:spPr>
      </p:sp>
      <p:sp>
        <p:nvSpPr>
          <p:cNvPr id="23" name="pip"/>
          <p:cNvSpPr/>
          <p:nvPr/>
        </p:nvSpPr>
        <p:spPr>
          <a:xfrm>
            <a:off x="1904238" y="1520190"/>
            <a:ext cx="77724" cy="77724"/>
          </a:xfrm>
          <a:prstGeom prst="ellipse">
            <a:avLst/>
          </a:prstGeom>
          <a:solidFill>
            <a:schemeClr val="bg1"/>
          </a:solidFill>
          <a:ln w="12700">
            <a:solidFill>
              <a:schemeClr val="bg1"/>
            </a:solidFill>
            <a:prstDash val="solid"/>
          </a:ln>
        </p:spPr>
      </p:sp>
      <p:sp>
        <p:nvSpPr>
          <p:cNvPr id="24" name="die-5"/>
          <p:cNvSpPr/>
          <p:nvPr/>
        </p:nvSpPr>
        <p:spPr>
          <a:xfrm>
            <a:off x="2157984" y="1207008"/>
            <a:ext cx="457200" cy="457200"/>
          </a:xfrm>
          <a:prstGeom prst="roundRect">
            <a:avLst>
              <a:gd name="adj" fmla="val 18000"/>
            </a:avLst>
          </a:prstGeom>
          <a:solidFill>
            <a:schemeClr val="accent1"/>
          </a:solidFill>
          <a:ln w="12700">
            <a:solidFill>
              <a:schemeClr val="accent1"/>
            </a:solidFill>
            <a:prstDash val="solid"/>
          </a:ln>
        </p:spPr>
      </p:sp>
      <p:sp>
        <p:nvSpPr>
          <p:cNvPr id="25" name="pip"/>
          <p:cNvSpPr/>
          <p:nvPr/>
        </p:nvSpPr>
        <p:spPr>
          <a:xfrm>
            <a:off x="2224278" y="1273302"/>
            <a:ext cx="77724" cy="77724"/>
          </a:xfrm>
          <a:prstGeom prst="ellipse">
            <a:avLst/>
          </a:prstGeom>
          <a:solidFill>
            <a:schemeClr val="bg1"/>
          </a:solidFill>
          <a:ln w="12700">
            <a:solidFill>
              <a:schemeClr val="bg1"/>
            </a:solidFill>
            <a:prstDash val="solid"/>
          </a:ln>
        </p:spPr>
      </p:sp>
      <p:sp>
        <p:nvSpPr>
          <p:cNvPr id="26" name="pip"/>
          <p:cNvSpPr/>
          <p:nvPr/>
        </p:nvSpPr>
        <p:spPr>
          <a:xfrm>
            <a:off x="2471166" y="1273302"/>
            <a:ext cx="77724" cy="77724"/>
          </a:xfrm>
          <a:prstGeom prst="ellipse">
            <a:avLst/>
          </a:prstGeom>
          <a:solidFill>
            <a:schemeClr val="bg1"/>
          </a:solidFill>
          <a:ln w="12700">
            <a:solidFill>
              <a:schemeClr val="bg1"/>
            </a:solidFill>
            <a:prstDash val="solid"/>
          </a:ln>
        </p:spPr>
      </p:sp>
      <p:sp>
        <p:nvSpPr>
          <p:cNvPr id="27" name="pip"/>
          <p:cNvSpPr/>
          <p:nvPr/>
        </p:nvSpPr>
        <p:spPr>
          <a:xfrm>
            <a:off x="2347722" y="1396746"/>
            <a:ext cx="77724" cy="77724"/>
          </a:xfrm>
          <a:prstGeom prst="ellipse">
            <a:avLst/>
          </a:prstGeom>
          <a:solidFill>
            <a:schemeClr val="bg1"/>
          </a:solidFill>
          <a:ln w="12700">
            <a:solidFill>
              <a:schemeClr val="bg1"/>
            </a:solidFill>
            <a:prstDash val="solid"/>
          </a:ln>
        </p:spPr>
      </p:sp>
      <p:sp>
        <p:nvSpPr>
          <p:cNvPr id="28" name="pip"/>
          <p:cNvSpPr/>
          <p:nvPr/>
        </p:nvSpPr>
        <p:spPr>
          <a:xfrm>
            <a:off x="2224278" y="1520190"/>
            <a:ext cx="77724" cy="77724"/>
          </a:xfrm>
          <a:prstGeom prst="ellipse">
            <a:avLst/>
          </a:prstGeom>
          <a:solidFill>
            <a:schemeClr val="bg1"/>
          </a:solidFill>
          <a:ln w="12700">
            <a:solidFill>
              <a:schemeClr val="bg1"/>
            </a:solidFill>
            <a:prstDash val="solid"/>
          </a:ln>
        </p:spPr>
      </p:sp>
      <p:sp>
        <p:nvSpPr>
          <p:cNvPr id="29" name="pip"/>
          <p:cNvSpPr/>
          <p:nvPr/>
        </p:nvSpPr>
        <p:spPr>
          <a:xfrm>
            <a:off x="2471166" y="1520190"/>
            <a:ext cx="77724" cy="77724"/>
          </a:xfrm>
          <a:prstGeom prst="ellipse">
            <a:avLst/>
          </a:prstGeom>
          <a:solidFill>
            <a:schemeClr val="bg1"/>
          </a:solidFill>
          <a:ln w="12700">
            <a:solidFill>
              <a:schemeClr val="bg1"/>
            </a:solidFill>
            <a:prstDash val="solid"/>
          </a:ln>
        </p:spPr>
      </p:sp>
      <p:sp>
        <p:nvSpPr>
          <p:cNvPr id="30" name="die-5"/>
          <p:cNvSpPr/>
          <p:nvPr/>
        </p:nvSpPr>
        <p:spPr>
          <a:xfrm>
            <a:off x="2724912" y="1207008"/>
            <a:ext cx="457200" cy="457200"/>
          </a:xfrm>
          <a:prstGeom prst="roundRect">
            <a:avLst>
              <a:gd name="adj" fmla="val 18000"/>
            </a:avLst>
          </a:prstGeom>
          <a:solidFill>
            <a:schemeClr val="accent1"/>
          </a:solidFill>
          <a:ln w="12700">
            <a:solidFill>
              <a:schemeClr val="accent1"/>
            </a:solidFill>
            <a:prstDash val="solid"/>
          </a:ln>
        </p:spPr>
      </p:sp>
      <p:sp>
        <p:nvSpPr>
          <p:cNvPr id="31" name="pip"/>
          <p:cNvSpPr/>
          <p:nvPr/>
        </p:nvSpPr>
        <p:spPr>
          <a:xfrm>
            <a:off x="2791206" y="1273302"/>
            <a:ext cx="77724" cy="77724"/>
          </a:xfrm>
          <a:prstGeom prst="ellipse">
            <a:avLst/>
          </a:prstGeom>
          <a:solidFill>
            <a:schemeClr val="bg1"/>
          </a:solidFill>
          <a:ln w="12700">
            <a:solidFill>
              <a:schemeClr val="bg1"/>
            </a:solidFill>
            <a:prstDash val="solid"/>
          </a:ln>
        </p:spPr>
      </p:sp>
      <p:sp>
        <p:nvSpPr>
          <p:cNvPr id="32" name="pip"/>
          <p:cNvSpPr/>
          <p:nvPr/>
        </p:nvSpPr>
        <p:spPr>
          <a:xfrm>
            <a:off x="3038094" y="1273302"/>
            <a:ext cx="77724" cy="77724"/>
          </a:xfrm>
          <a:prstGeom prst="ellipse">
            <a:avLst/>
          </a:prstGeom>
          <a:solidFill>
            <a:schemeClr val="bg1"/>
          </a:solidFill>
          <a:ln w="12700">
            <a:solidFill>
              <a:schemeClr val="bg1"/>
            </a:solidFill>
            <a:prstDash val="solid"/>
          </a:ln>
        </p:spPr>
      </p:sp>
      <p:sp>
        <p:nvSpPr>
          <p:cNvPr id="33" name="pip"/>
          <p:cNvSpPr/>
          <p:nvPr/>
        </p:nvSpPr>
        <p:spPr>
          <a:xfrm>
            <a:off x="2914650" y="1396746"/>
            <a:ext cx="77724" cy="77724"/>
          </a:xfrm>
          <a:prstGeom prst="ellipse">
            <a:avLst/>
          </a:prstGeom>
          <a:solidFill>
            <a:schemeClr val="bg1"/>
          </a:solidFill>
          <a:ln w="12700">
            <a:solidFill>
              <a:schemeClr val="bg1"/>
            </a:solidFill>
            <a:prstDash val="solid"/>
          </a:ln>
        </p:spPr>
      </p:sp>
      <p:sp>
        <p:nvSpPr>
          <p:cNvPr id="34" name="pip"/>
          <p:cNvSpPr/>
          <p:nvPr/>
        </p:nvSpPr>
        <p:spPr>
          <a:xfrm>
            <a:off x="2791206" y="1520190"/>
            <a:ext cx="77724" cy="77724"/>
          </a:xfrm>
          <a:prstGeom prst="ellipse">
            <a:avLst/>
          </a:prstGeom>
          <a:solidFill>
            <a:schemeClr val="bg1"/>
          </a:solidFill>
          <a:ln w="12700">
            <a:solidFill>
              <a:schemeClr val="bg1"/>
            </a:solidFill>
            <a:prstDash val="solid"/>
          </a:ln>
        </p:spPr>
      </p:sp>
      <p:sp>
        <p:nvSpPr>
          <p:cNvPr id="35" name="pip"/>
          <p:cNvSpPr/>
          <p:nvPr/>
        </p:nvSpPr>
        <p:spPr>
          <a:xfrm>
            <a:off x="3038094" y="1520190"/>
            <a:ext cx="77724" cy="77724"/>
          </a:xfrm>
          <a:prstGeom prst="ellipse">
            <a:avLst/>
          </a:prstGeom>
          <a:solidFill>
            <a:schemeClr val="bg1"/>
          </a:solidFill>
          <a:ln w="12700">
            <a:solidFill>
              <a:schemeClr val="bg1"/>
            </a:solidFill>
            <a:prstDash val="solid"/>
          </a:ln>
        </p:spPr>
      </p:sp>
      <p:sp>
        <p:nvSpPr>
          <p:cNvPr id="36" name="Shape 34"/>
          <p:cNvSpPr/>
          <p:nvPr/>
        </p:nvSpPr>
        <p:spPr>
          <a:xfrm>
            <a:off x="3364992" y="1325880"/>
            <a:ext cx="457200" cy="237744"/>
          </a:xfrm>
          <a:prstGeom prst="rightArrow">
            <a:avLst/>
          </a:prstGeom>
          <a:solidFill>
            <a:schemeClr val="accent4"/>
          </a:solidFill>
          <a:ln w="12700">
            <a:solidFill>
              <a:schemeClr val="accent4"/>
            </a:solidFill>
            <a:prstDash val="solid"/>
          </a:ln>
        </p:spPr>
      </p:sp>
      <p:sp>
        <p:nvSpPr>
          <p:cNvPr id="37" name="count"/>
          <p:cNvSpPr/>
          <p:nvPr/>
        </p:nvSpPr>
        <p:spPr>
          <a:xfrm>
            <a:off x="3977640" y="1170432"/>
            <a:ext cx="914400" cy="548640"/>
          </a:xfrm>
          <a:prstGeom prst="roundRect">
            <a:avLst>
              <a:gd name="adj" fmla="val 11667"/>
            </a:avLst>
          </a:prstGeom>
          <a:solidFill>
            <a:schemeClr val="accent5"/>
          </a:solidFill>
          <a:ln w="12700">
            <a:solidFill>
              <a:schemeClr val="accent5"/>
            </a:solidFill>
            <a:prstDash val="solid"/>
          </a:ln>
        </p:spPr>
      </p:sp>
      <p:sp>
        <p:nvSpPr>
          <p:cNvPr id="38" name="Text 36"/>
          <p:cNvSpPr txBox="1"/>
          <p:nvPr/>
        </p:nvSpPr>
        <p:spPr>
          <a:xfrm>
            <a:off x="3977640" y="1188720"/>
            <a:ext cx="914400" cy="512064"/>
          </a:xfrm>
          <a:prstGeom prst="rect">
            <a:avLst/>
          </a:prstGeom>
          <a:noFill/>
          <a:ln/>
        </p:spPr>
        <p:txBody>
          <a:bodyPr wrap="square" lIns="0" tIns="0" rIns="0" bIns="0" rtlCol="0" anchor="ctr"/>
          <a:lstStyle/>
          <a:p>
            <a:pPr algn="ctr" indent="0" marL="0">
              <a:buNone/>
            </a:pPr>
            <a:r>
              <a:rPr lang="en-US" sz="1800" b="1" dirty="0">
                <a:solidFill>
                  <a:schemeClr val="accent1"/>
                </a:solidFill>
              </a:rPr>
              <a:t>5</a:t>
            </a:r>
            <a:endParaRPr lang="en-US" sz="1800" dirty="0"/>
          </a:p>
          <a:p>
            <a:pPr algn="ctr" indent="0" marL="0">
              <a:buNone/>
            </a:pPr>
            <a:r>
              <a:rPr lang="en-US" sz="1100" dirty="0">
                <a:solidFill>
                  <a:schemeClr val="tx1"/>
                </a:solidFill>
              </a:rPr>
              <a:t>3 times</a:t>
            </a:r>
            <a:endParaRPr lang="en-US" sz="1800" dirty="0"/>
          </a:p>
        </p:txBody>
      </p:sp>
      <p:sp>
        <p:nvSpPr>
          <p:cNvPr id="39" name="count"/>
          <p:cNvSpPr/>
          <p:nvPr/>
        </p:nvSpPr>
        <p:spPr>
          <a:xfrm>
            <a:off x="5001768" y="1170432"/>
            <a:ext cx="914400" cy="548640"/>
          </a:xfrm>
          <a:prstGeom prst="roundRect">
            <a:avLst>
              <a:gd name="adj" fmla="val 11667"/>
            </a:avLst>
          </a:prstGeom>
          <a:solidFill>
            <a:schemeClr val="accent5"/>
          </a:solidFill>
          <a:ln w="12700">
            <a:solidFill>
              <a:schemeClr val="accent5"/>
            </a:solidFill>
            <a:prstDash val="solid"/>
          </a:ln>
        </p:spPr>
      </p:sp>
      <p:sp>
        <p:nvSpPr>
          <p:cNvPr id="40" name="Text 38"/>
          <p:cNvSpPr txBox="1"/>
          <p:nvPr/>
        </p:nvSpPr>
        <p:spPr>
          <a:xfrm>
            <a:off x="5001768" y="1188720"/>
            <a:ext cx="914400" cy="512064"/>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a:p>
            <a:pPr algn="ctr" indent="0" marL="0">
              <a:buNone/>
            </a:pPr>
            <a:r>
              <a:rPr lang="en-US" sz="1100" dirty="0">
                <a:solidFill>
                  <a:schemeClr val="tx1"/>
                </a:solidFill>
              </a:rPr>
              <a:t>2 times</a:t>
            </a:r>
            <a:endParaRPr lang="en-US" sz="1800" dirty="0"/>
          </a:p>
        </p:txBody>
      </p:sp>
      <p:sp>
        <p:nvSpPr>
          <p:cNvPr id="41" name="Text 39"/>
          <p:cNvSpPr txBox="1"/>
          <p:nvPr/>
        </p:nvSpPr>
        <p:spPr>
          <a:xfrm>
            <a:off x="457200" y="1810512"/>
            <a:ext cx="5486400" cy="292608"/>
          </a:xfrm>
          <a:prstGeom prst="rect">
            <a:avLst/>
          </a:prstGeom>
          <a:noFill/>
          <a:ln/>
        </p:spPr>
        <p:txBody>
          <a:bodyPr wrap="square" lIns="0" tIns="0" rIns="0" bIns="0" rtlCol="0" anchor="ctr"/>
          <a:lstStyle/>
          <a:p>
            <a:pPr indent="0" marL="0">
              <a:buNone/>
            </a:pPr>
            <a:r>
              <a:rPr lang="en-US" sz="1300" dirty="0">
                <a:solidFill>
                  <a:schemeClr val="accent4"/>
                </a:solidFill>
                <a:latin typeface="Courier New" pitchFamily="34" charset="0"/>
                <a:ea typeface="Courier New" pitchFamily="34" charset="-122"/>
                <a:cs typeface="Courier New" pitchFamily="34" charset="-120"/>
              </a:rPr>
              <a:t>Counter([3, 3, 5, 5, 5])</a:t>
            </a:r>
            <a:r>
              <a:rPr lang="en-US" sz="1400" dirty="0">
                <a:solidFill>
                  <a:schemeClr val="accent4"/>
                </a:solidFill>
              </a:rPr>
              <a:t>  →  </a:t>
            </a:r>
            <a:r>
              <a:rPr lang="en-US" sz="1300" dirty="0">
                <a:solidFill>
                  <a:schemeClr val="accent4"/>
                </a:solidFill>
                <a:latin typeface="Courier New" pitchFamily="34" charset="0"/>
                <a:ea typeface="Courier New" pitchFamily="34" charset="-122"/>
                <a:cs typeface="Courier New" pitchFamily="34" charset="-120"/>
              </a:rPr>
              <a:t>{5: 3, 3: 2}</a:t>
            </a:r>
            <a:endParaRPr lang="en-US" sz="1300" dirty="0"/>
          </a:p>
        </p:txBody>
      </p:sp>
      <p:sp>
        <p:nvSpPr>
          <p:cNvPr id="42" name="code-score"/>
          <p:cNvSpPr/>
          <p:nvPr/>
        </p:nvSpPr>
        <p:spPr>
          <a:xfrm>
            <a:off x="457200" y="2240280"/>
            <a:ext cx="5532120" cy="1996059"/>
          </a:xfrm>
          <a:prstGeom prst="roundRect">
            <a:avLst>
              <a:gd name="adj" fmla="val 3207"/>
            </a:avLst>
          </a:prstGeom>
          <a:solidFill>
            <a:schemeClr val="accent6"/>
          </a:solidFill>
          <a:ln w="12700">
            <a:solidFill>
              <a:schemeClr val="accent6"/>
            </a:solidFill>
            <a:prstDash val="solid"/>
          </a:ln>
        </p:spPr>
      </p:sp>
      <p:sp>
        <p:nvSpPr>
          <p:cNvPr id="43" name="code-text-score"/>
          <p:cNvSpPr txBox="1"/>
          <p:nvPr/>
        </p:nvSpPr>
        <p:spPr>
          <a:xfrm>
            <a:off x="914400" y="2404872"/>
            <a:ext cx="4965192" cy="1666875"/>
          </a:xfrm>
          <a:prstGeom prst="rect">
            <a:avLst/>
          </a:prstGeom>
          <a:noFill/>
          <a:ln/>
        </p:spPr>
        <p:txBody>
          <a:bodyPr wrap="none" lIns="0" tIns="0" rIns="0" bIns="0" rtlCol="0" anchor="t"/>
          <a:lstStyle/>
          <a:p>
            <a:pPr indent="0" marL="0">
              <a:lnSpc>
                <a:spcPts val="1875"/>
              </a:lnSpc>
              <a:buNone/>
            </a:pPr>
            <a:r>
              <a:rPr lang="en-US" sz="1250" b="1" dirty="0">
                <a:solidFill>
                  <a:srgbClr val="8DB8FF"/>
                </a:solidFill>
                <a:latin typeface="Courier New" pitchFamily="34" charset="0"/>
                <a:ea typeface="Courier New" pitchFamily="34" charset="-122"/>
                <a:cs typeface="Courier New" pitchFamily="34" charset="-120"/>
              </a:rPr>
              <a:t>def</a:t>
            </a:r>
            <a:r>
              <a:rPr lang="en-US" sz="1250" b="1" dirty="0">
                <a:solidFill>
                  <a:srgbClr val="E8EEF5"/>
                </a:solidFill>
                <a:latin typeface="Courier New" pitchFamily="34" charset="0"/>
                <a:ea typeface="Courier New" pitchFamily="34" charset="-122"/>
                <a:cs typeface="Courier New" pitchFamily="34" charset="-120"/>
              </a:rPr>
              <a:t> </a:t>
            </a:r>
            <a:r>
              <a:rPr lang="en-US" sz="1250" b="1" dirty="0">
                <a:solidFill>
                  <a:srgbClr val="9BE7C4"/>
                </a:solidFill>
                <a:latin typeface="Courier New" pitchFamily="34" charset="0"/>
                <a:ea typeface="Courier New" pitchFamily="34" charset="-122"/>
                <a:cs typeface="Courier New" pitchFamily="34" charset="-120"/>
              </a:rPr>
              <a:t>score</a:t>
            </a:r>
            <a:r>
              <a:rPr lang="en-US" sz="1250" b="1" dirty="0">
                <a:solidFill>
                  <a:srgbClr val="E8EEF5"/>
                </a:solidFill>
                <a:latin typeface="Courier New" pitchFamily="34" charset="0"/>
                <a:ea typeface="Courier New" pitchFamily="34" charset="-122"/>
                <a:cs typeface="Courier New" pitchFamily="34" charset="-120"/>
              </a:rPr>
              <a:t>(category, values):</a:t>
            </a:r>
            <a:endParaRPr lang="en-US" sz="1250" dirty="0"/>
          </a:p>
          <a:p>
            <a:pPr indent="0" marL="0">
              <a:lnSpc>
                <a:spcPts val="1875"/>
              </a:lnSpc>
              <a:buNone/>
            </a:pPr>
            <a:r>
              <a:rPr lang="en-US" sz="1250" b="1" dirty="0">
                <a:solidFill>
                  <a:srgbClr val="E8EEF5"/>
                </a:solidFill>
                <a:latin typeface="Courier New" pitchFamily="34" charset="0"/>
                <a:ea typeface="Courier New" pitchFamily="34" charset="-122"/>
                <a:cs typeface="Courier New" pitchFamily="34" charset="-120"/>
              </a:rPr>
              <a:t>    counts = Counter(values)</a:t>
            </a:r>
            <a:endParaRPr lang="en-US" sz="1250" dirty="0"/>
          </a:p>
          <a:p>
            <a:pPr indent="0" marL="0">
              <a:lnSpc>
                <a:spcPts val="1875"/>
              </a:lnSpc>
              <a:buNone/>
            </a:pPr>
            <a:r>
              <a:rPr lang="en-US" sz="1250" b="1" dirty="0">
                <a:solidFill>
                  <a:srgbClr val="E8EEF5"/>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E8EEF5"/>
                </a:solidFill>
                <a:latin typeface="Courier New" pitchFamily="34" charset="0"/>
                <a:ea typeface="Courier New" pitchFamily="34" charset="-122"/>
                <a:cs typeface="Courier New" pitchFamily="34" charset="-120"/>
              </a:rPr>
              <a:t>    </a:t>
            </a:r>
            <a:r>
              <a:rPr lang="en-US" sz="1250" b="1" dirty="0">
                <a:solidFill>
                  <a:srgbClr val="8DB8FF"/>
                </a:solidFill>
                <a:latin typeface="Courier New" pitchFamily="34" charset="0"/>
                <a:ea typeface="Courier New" pitchFamily="34" charset="-122"/>
                <a:cs typeface="Courier New" pitchFamily="34" charset="-120"/>
              </a:rPr>
              <a:t>if</a:t>
            </a:r>
            <a:r>
              <a:rPr lang="en-US" sz="1250" b="1" dirty="0">
                <a:solidFill>
                  <a:srgbClr val="E8EEF5"/>
                </a:solidFill>
                <a:latin typeface="Courier New" pitchFamily="34" charset="0"/>
                <a:ea typeface="Courier New" pitchFamily="34" charset="-122"/>
                <a:cs typeface="Courier New" pitchFamily="34" charset="-120"/>
              </a:rPr>
              <a:t> category </a:t>
            </a:r>
            <a:r>
              <a:rPr lang="en-US" sz="1250" b="1" dirty="0">
                <a:solidFill>
                  <a:srgbClr val="8DB8FF"/>
                </a:solidFill>
                <a:latin typeface="Courier New" pitchFamily="34" charset="0"/>
                <a:ea typeface="Courier New" pitchFamily="34" charset="-122"/>
                <a:cs typeface="Courier New" pitchFamily="34" charset="-120"/>
              </a:rPr>
              <a:t>in</a:t>
            </a:r>
            <a:r>
              <a:rPr lang="en-US" sz="1250" b="1" dirty="0">
                <a:solidFill>
                  <a:srgbClr val="E8EEF5"/>
                </a:solidFill>
                <a:latin typeface="Courier New" pitchFamily="34" charset="0"/>
                <a:ea typeface="Courier New" pitchFamily="34" charset="-122"/>
                <a:cs typeface="Courier New" pitchFamily="34" charset="-120"/>
              </a:rPr>
              <a:t> UPPER:</a:t>
            </a:r>
            <a:endParaRPr lang="en-US" sz="1250" dirty="0"/>
          </a:p>
          <a:p>
            <a:pPr indent="0" marL="0">
              <a:lnSpc>
                <a:spcPts val="1875"/>
              </a:lnSpc>
              <a:buNone/>
            </a:pPr>
            <a:r>
              <a:rPr lang="en-US" sz="1250" b="1" dirty="0">
                <a:solidFill>
                  <a:srgbClr val="E8EEF5"/>
                </a:solidFill>
                <a:latin typeface="Courier New" pitchFamily="34" charset="0"/>
                <a:ea typeface="Courier New" pitchFamily="34" charset="-122"/>
                <a:cs typeface="Courier New" pitchFamily="34" charset="-120"/>
              </a:rPr>
              <a:t>        face = UPPER.index(category) + </a:t>
            </a:r>
            <a:r>
              <a:rPr lang="en-US" sz="1250" b="1" dirty="0">
                <a:solidFill>
                  <a:srgbClr val="FF9E8A"/>
                </a:solidFill>
                <a:latin typeface="Courier New" pitchFamily="34" charset="0"/>
                <a:ea typeface="Courier New" pitchFamily="34" charset="-122"/>
                <a:cs typeface="Courier New" pitchFamily="34" charset="-120"/>
              </a:rPr>
              <a:t>1</a:t>
            </a:r>
            <a:endParaRPr lang="en-US" sz="1250" dirty="0"/>
          </a:p>
          <a:p>
            <a:pPr indent="0" marL="0">
              <a:lnSpc>
                <a:spcPts val="1875"/>
              </a:lnSpc>
              <a:buNone/>
            </a:pPr>
            <a:r>
              <a:rPr lang="en-US" sz="1250" b="1" dirty="0">
                <a:solidFill>
                  <a:srgbClr val="E8EEF5"/>
                </a:solidFill>
                <a:latin typeface="Courier New" pitchFamily="34" charset="0"/>
                <a:ea typeface="Courier New" pitchFamily="34" charset="-122"/>
                <a:cs typeface="Courier New" pitchFamily="34" charset="-120"/>
              </a:rPr>
              <a:t>        </a:t>
            </a:r>
            <a:r>
              <a:rPr lang="en-US" sz="1250" b="1" dirty="0">
                <a:solidFill>
                  <a:srgbClr val="8DB8FF"/>
                </a:solidFill>
                <a:latin typeface="Courier New" pitchFamily="34" charset="0"/>
                <a:ea typeface="Courier New" pitchFamily="34" charset="-122"/>
                <a:cs typeface="Courier New" pitchFamily="34" charset="-120"/>
              </a:rPr>
              <a:t>return</a:t>
            </a:r>
            <a:r>
              <a:rPr lang="en-US" sz="1250" b="1" dirty="0">
                <a:solidFill>
                  <a:srgbClr val="E8EEF5"/>
                </a:solidFill>
                <a:latin typeface="Courier New" pitchFamily="34" charset="0"/>
                <a:ea typeface="Courier New" pitchFamily="34" charset="-122"/>
                <a:cs typeface="Courier New" pitchFamily="34" charset="-120"/>
              </a:rPr>
              <a:t> face * counts[face]</a:t>
            </a:r>
            <a:endParaRPr lang="en-US" sz="1250" dirty="0"/>
          </a:p>
          <a:p>
            <a:pPr indent="0" marL="0">
              <a:lnSpc>
                <a:spcPts val="1875"/>
              </a:lnSpc>
              <a:buNone/>
            </a:pPr>
            <a:r>
              <a:rPr lang="en-US" sz="1250" b="1" dirty="0">
                <a:solidFill>
                  <a:srgbClr val="E8EEF5"/>
                </a:solidFill>
                <a:latin typeface="Courier New" pitchFamily="34" charset="0"/>
                <a:ea typeface="Courier New" pitchFamily="34" charset="-122"/>
                <a:cs typeface="Courier New" pitchFamily="34" charset="-120"/>
              </a:rPr>
              <a:t>    ...</a:t>
            </a:r>
            <a:endParaRPr lang="en-US" sz="1250" dirty="0"/>
          </a:p>
        </p:txBody>
      </p:sp>
      <p:sp>
        <p:nvSpPr>
          <p:cNvPr id="44" name="marker-1"/>
          <p:cNvSpPr/>
          <p:nvPr/>
        </p:nvSpPr>
        <p:spPr>
          <a:xfrm>
            <a:off x="566928" y="2647760"/>
            <a:ext cx="228600" cy="228600"/>
          </a:xfrm>
          <a:prstGeom prst="ellipse">
            <a:avLst/>
          </a:prstGeom>
          <a:solidFill>
            <a:schemeClr val="accent1"/>
          </a:solidFill>
          <a:ln w="12700">
            <a:solidFill>
              <a:schemeClr val="accent1"/>
            </a:solidFill>
            <a:prstDash val="solid"/>
          </a:ln>
        </p:spPr>
      </p:sp>
      <p:sp>
        <p:nvSpPr>
          <p:cNvPr id="45" name="Text 43"/>
          <p:cNvSpPr txBox="1"/>
          <p:nvPr/>
        </p:nvSpPr>
        <p:spPr>
          <a:xfrm>
            <a:off x="566928" y="2647760"/>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6" name="marker-2"/>
          <p:cNvSpPr/>
          <p:nvPr/>
        </p:nvSpPr>
        <p:spPr>
          <a:xfrm>
            <a:off x="566928" y="3362135"/>
            <a:ext cx="228600" cy="228600"/>
          </a:xfrm>
          <a:prstGeom prst="ellipse">
            <a:avLst/>
          </a:prstGeom>
          <a:solidFill>
            <a:schemeClr val="accent1"/>
          </a:solidFill>
          <a:ln w="12700">
            <a:solidFill>
              <a:schemeClr val="accent1"/>
            </a:solidFill>
            <a:prstDash val="solid"/>
          </a:ln>
        </p:spPr>
      </p:sp>
      <p:sp>
        <p:nvSpPr>
          <p:cNvPr id="47" name="Text 45"/>
          <p:cNvSpPr txBox="1"/>
          <p:nvPr/>
        </p:nvSpPr>
        <p:spPr>
          <a:xfrm>
            <a:off x="566928" y="3362135"/>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8" name="marker-1"/>
          <p:cNvSpPr/>
          <p:nvPr/>
        </p:nvSpPr>
        <p:spPr>
          <a:xfrm>
            <a:off x="6217920" y="1207008"/>
            <a:ext cx="246888" cy="246888"/>
          </a:xfrm>
          <a:prstGeom prst="ellipse">
            <a:avLst/>
          </a:prstGeom>
          <a:solidFill>
            <a:schemeClr val="accent1"/>
          </a:solidFill>
          <a:ln w="12700">
            <a:solidFill>
              <a:schemeClr val="accent1"/>
            </a:solidFill>
            <a:prstDash val="solid"/>
          </a:ln>
        </p:spPr>
      </p:sp>
      <p:sp>
        <p:nvSpPr>
          <p:cNvPr id="49" name="Text 47"/>
          <p:cNvSpPr txBox="1"/>
          <p:nvPr/>
        </p:nvSpPr>
        <p:spPr>
          <a:xfrm>
            <a:off x="6217920" y="1207008"/>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0" name="Text 48"/>
          <p:cNvSpPr txBox="1"/>
          <p:nvPr/>
        </p:nvSpPr>
        <p:spPr>
          <a:xfrm>
            <a:off x="6583680" y="1188720"/>
            <a:ext cx="2103120" cy="941832"/>
          </a:xfrm>
          <a:prstGeom prst="rect">
            <a:avLst/>
          </a:prstGeom>
          <a:noFill/>
          <a:ln/>
        </p:spPr>
        <p:txBody>
          <a:bodyPr wrap="square" lIns="0" tIns="0" rIns="0" bIns="0" rtlCol="0" anchor="t"/>
          <a:lstStyle/>
          <a:p>
            <a:pPr indent="0" marL="0">
              <a:lnSpc>
                <a:spcPct val="110000"/>
              </a:lnSpc>
              <a:buNone/>
            </a:pPr>
            <a:r>
              <a:rPr lang="en-US" sz="1350" dirty="0">
                <a:solidFill>
                  <a:schemeClr val="tx1"/>
                </a:solidFill>
              </a:rPr>
              <a:t>All 15 categories are scored in </a:t>
            </a:r>
            <a:r>
              <a:rPr lang="en-US" sz="1350" b="1" dirty="0">
                <a:solidFill>
                  <a:schemeClr val="accent2"/>
                </a:solidFill>
              </a:rPr>
              <a:t>one</a:t>
            </a:r>
            <a:r>
              <a:rPr lang="en-US" sz="1350" dirty="0">
                <a:solidFill>
                  <a:schemeClr val="tx1"/>
                </a:solidFill>
              </a:rPr>
              <a:t> function. First it counts how many there are of each value.</a:t>
            </a:r>
            <a:endParaRPr lang="en-US" sz="1350" dirty="0"/>
          </a:p>
        </p:txBody>
      </p:sp>
      <p:sp>
        <p:nvSpPr>
          <p:cNvPr id="51" name="marker-2"/>
          <p:cNvSpPr/>
          <p:nvPr/>
        </p:nvSpPr>
        <p:spPr>
          <a:xfrm>
            <a:off x="6217920" y="2295144"/>
            <a:ext cx="246888" cy="246888"/>
          </a:xfrm>
          <a:prstGeom prst="ellipse">
            <a:avLst/>
          </a:prstGeom>
          <a:solidFill>
            <a:schemeClr val="accent1"/>
          </a:solidFill>
          <a:ln w="12700">
            <a:solidFill>
              <a:schemeClr val="accent1"/>
            </a:solidFill>
            <a:prstDash val="solid"/>
          </a:ln>
        </p:spPr>
      </p:sp>
      <p:sp>
        <p:nvSpPr>
          <p:cNvPr id="52" name="Text 50"/>
          <p:cNvSpPr txBox="1"/>
          <p:nvPr/>
        </p:nvSpPr>
        <p:spPr>
          <a:xfrm>
            <a:off x="6217920" y="2295144"/>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53" name="Text 51"/>
          <p:cNvSpPr txBox="1"/>
          <p:nvPr/>
        </p:nvSpPr>
        <p:spPr>
          <a:xfrm>
            <a:off x="6583680" y="2276856"/>
            <a:ext cx="2103120" cy="715518"/>
          </a:xfrm>
          <a:prstGeom prst="rect">
            <a:avLst/>
          </a:prstGeom>
          <a:noFill/>
          <a:ln/>
        </p:spPr>
        <p:txBody>
          <a:bodyPr wrap="square" lIns="0" tIns="0" rIns="0" bIns="0" rtlCol="0" anchor="t"/>
          <a:lstStyle/>
          <a:p>
            <a:pPr indent="0" marL="0">
              <a:lnSpc>
                <a:spcPct val="110000"/>
              </a:lnSpc>
              <a:buNone/>
            </a:pPr>
            <a:r>
              <a:rPr lang="en-US" sz="1250" dirty="0">
                <a:solidFill>
                  <a:schemeClr val="tx2"/>
                </a:solidFill>
                <a:latin typeface="Courier New" pitchFamily="34" charset="0"/>
                <a:ea typeface="Courier New" pitchFamily="34" charset="-122"/>
                <a:cs typeface="Courier New" pitchFamily="34" charset="-120"/>
              </a:rPr>
              <a:t>"treor"</a:t>
            </a:r>
            <a:r>
              <a:rPr lang="en-US" sz="1350" dirty="0">
                <a:solidFill>
                  <a:schemeClr val="tx1"/>
                </a:solidFill>
              </a:rPr>
              <a:t> (threes) is at index 2 in </a:t>
            </a:r>
            <a:r>
              <a:rPr lang="en-US" sz="1250" dirty="0">
                <a:solidFill>
                  <a:schemeClr val="tx2"/>
                </a:solidFill>
                <a:latin typeface="Courier New" pitchFamily="34" charset="0"/>
                <a:ea typeface="Courier New" pitchFamily="34" charset="-122"/>
                <a:cs typeface="Courier New" pitchFamily="34" charset="-120"/>
              </a:rPr>
              <a:t>UPPER</a:t>
            </a:r>
            <a:r>
              <a:rPr lang="en-US" sz="1350" dirty="0">
                <a:solidFill>
                  <a:schemeClr val="tx1"/>
                </a:solidFill>
              </a:rPr>
              <a:t>, plus 1 gives </a:t>
            </a:r>
            <a:r>
              <a:rPr lang="en-US" sz="1350" b="1" dirty="0">
                <a:solidFill>
                  <a:schemeClr val="accent2"/>
                </a:solidFill>
              </a:rPr>
              <a:t>3</a:t>
            </a:r>
            <a:r>
              <a:rPr lang="en-US" sz="1350" dirty="0">
                <a:solidFill>
                  <a:schemeClr val="tx1"/>
                </a:solidFill>
              </a:rPr>
              <a:t>.</a:t>
            </a:r>
            <a:endParaRPr lang="en-US" sz="1250" dirty="0"/>
          </a:p>
        </p:txBody>
      </p:sp>
      <p:sp>
        <p:nvSpPr>
          <p:cNvPr id="54" name="card"/>
          <p:cNvSpPr/>
          <p:nvPr/>
        </p:nvSpPr>
        <p:spPr>
          <a:xfrm>
            <a:off x="6217920" y="3246120"/>
            <a:ext cx="2468880" cy="960120"/>
          </a:xfrm>
          <a:prstGeom prst="roundRect">
            <a:avLst>
              <a:gd name="adj" fmla="val 6667"/>
            </a:avLst>
          </a:prstGeom>
          <a:solidFill>
            <a:schemeClr val="accent5"/>
          </a:solidFill>
          <a:ln w="12700">
            <a:solidFill>
              <a:schemeClr val="accent5"/>
            </a:solidFill>
            <a:prstDash val="solid"/>
          </a:ln>
        </p:spPr>
      </p:sp>
      <p:sp>
        <p:nvSpPr>
          <p:cNvPr id="55" name="Text 53"/>
          <p:cNvSpPr txBox="1"/>
          <p:nvPr/>
        </p:nvSpPr>
        <p:spPr>
          <a:xfrm>
            <a:off x="6400800" y="3374136"/>
            <a:ext cx="2103120" cy="274320"/>
          </a:xfrm>
          <a:prstGeom prst="rect">
            <a:avLst/>
          </a:prstGeom>
          <a:noFill/>
          <a:ln/>
        </p:spPr>
        <p:txBody>
          <a:bodyPr wrap="square" lIns="0" tIns="0" rIns="0" bIns="0" rtlCol="0" anchor="t"/>
          <a:lstStyle/>
          <a:p>
            <a:pPr indent="0" marL="0">
              <a:buNone/>
            </a:pPr>
            <a:r>
              <a:rPr lang="en-US" sz="1400" b="1" dirty="0">
                <a:solidFill>
                  <a:schemeClr val="accent2"/>
                </a:solidFill>
              </a:rPr>
              <a:t>Example: threes</a:t>
            </a:r>
            <a:endParaRPr lang="en-US" sz="1400" dirty="0"/>
          </a:p>
        </p:txBody>
      </p:sp>
      <p:sp>
        <p:nvSpPr>
          <p:cNvPr id="56" name="Text 54"/>
          <p:cNvSpPr txBox="1"/>
          <p:nvPr/>
        </p:nvSpPr>
        <p:spPr>
          <a:xfrm>
            <a:off x="6400800" y="3703320"/>
            <a:ext cx="2103120" cy="393192"/>
          </a:xfrm>
          <a:prstGeom prst="rect">
            <a:avLst/>
          </a:prstGeom>
          <a:noFill/>
          <a:ln/>
        </p:spPr>
        <p:txBody>
          <a:bodyPr wrap="square" lIns="0" tIns="0" rIns="0" bIns="0" rtlCol="0" anchor="t"/>
          <a:lstStyle/>
          <a:p>
            <a:pPr indent="0" marL="0">
              <a:lnSpc>
                <a:spcPct val="110000"/>
              </a:lnSpc>
              <a:spcAft>
                <a:spcPts val="400"/>
              </a:spcAft>
              <a:buNone/>
            </a:pPr>
            <a:r>
              <a:rPr lang="en-US" sz="1300" dirty="0">
                <a:solidFill>
                  <a:schemeClr val="tx2"/>
                </a:solidFill>
                <a:latin typeface="Courier New" pitchFamily="34" charset="0"/>
                <a:ea typeface="Courier New" pitchFamily="34" charset="-122"/>
                <a:cs typeface="Courier New" pitchFamily="34" charset="-120"/>
              </a:rPr>
              <a:t>[3,3,1,3,6]</a:t>
            </a:r>
            <a:r>
              <a:rPr lang="en-US" sz="1400" dirty="0">
                <a:solidFill>
                  <a:schemeClr val="tx1"/>
                </a:solidFill>
              </a:rPr>
              <a:t> → 3 × 3 = </a:t>
            </a:r>
            <a:r>
              <a:rPr lang="en-US" sz="1400" b="1" dirty="0">
                <a:solidFill>
                  <a:schemeClr val="accent2"/>
                </a:solidFill>
              </a:rPr>
              <a:t>9</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The combinations: each rule asks about counts</a:t>
            </a:r>
            <a:endParaRPr lang="en-US" sz="2600" dirty="0"/>
          </a:p>
        </p:txBody>
      </p:sp>
      <p:sp>
        <p:nvSpPr>
          <p:cNvPr id="3" name="die-6"/>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518190" y="503743"/>
            <a:ext cx="71506" cy="71506"/>
          </a:xfrm>
          <a:prstGeom prst="ellipse">
            <a:avLst/>
          </a:prstGeom>
          <a:solidFill>
            <a:schemeClr val="bg1"/>
          </a:solidFill>
          <a:ln w="12700">
            <a:solidFill>
              <a:schemeClr val="bg1"/>
            </a:solidFill>
            <a:prstDash val="solid"/>
          </a:ln>
        </p:spPr>
      </p:sp>
      <p:sp>
        <p:nvSpPr>
          <p:cNvPr id="7" name="pip"/>
          <p:cNvSpPr/>
          <p:nvPr/>
        </p:nvSpPr>
        <p:spPr>
          <a:xfrm>
            <a:off x="745327" y="503743"/>
            <a:ext cx="71506" cy="71506"/>
          </a:xfrm>
          <a:prstGeom prst="ellipse">
            <a:avLst/>
          </a:prstGeom>
          <a:solidFill>
            <a:schemeClr val="bg1"/>
          </a:solidFill>
          <a:ln w="12700">
            <a:solidFill>
              <a:schemeClr val="bg1"/>
            </a:solidFill>
            <a:prstDash val="solid"/>
          </a:ln>
        </p:spPr>
      </p:sp>
      <p:sp>
        <p:nvSpPr>
          <p:cNvPr id="8" name="pip"/>
          <p:cNvSpPr/>
          <p:nvPr/>
        </p:nvSpPr>
        <p:spPr>
          <a:xfrm>
            <a:off x="518190" y="617311"/>
            <a:ext cx="71506" cy="71506"/>
          </a:xfrm>
          <a:prstGeom prst="ellipse">
            <a:avLst/>
          </a:prstGeom>
          <a:solidFill>
            <a:schemeClr val="bg1"/>
          </a:solidFill>
          <a:ln w="12700">
            <a:solidFill>
              <a:schemeClr val="bg1"/>
            </a:solidFill>
            <a:prstDash val="solid"/>
          </a:ln>
        </p:spPr>
      </p:sp>
      <p:sp>
        <p:nvSpPr>
          <p:cNvPr id="9" name="pip"/>
          <p:cNvSpPr/>
          <p:nvPr/>
        </p:nvSpPr>
        <p:spPr>
          <a:xfrm>
            <a:off x="745327" y="617311"/>
            <a:ext cx="71506" cy="71506"/>
          </a:xfrm>
          <a:prstGeom prst="ellipse">
            <a:avLst/>
          </a:prstGeom>
          <a:solidFill>
            <a:schemeClr val="bg1"/>
          </a:solidFill>
          <a:ln w="12700">
            <a:solidFill>
              <a:schemeClr val="bg1"/>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3291840"/>
                <a:gridCol w="3017520"/>
              </a:tblGrid>
              <a:tr h="384048">
                <a:tc>
                  <a:txBody>
                    <a:bodyPr/>
                    <a:lstStyle/>
                    <a:p>
                      <a:pPr indent="0" marL="0">
                        <a:buNone/>
                      </a:pPr>
                      <a:r>
                        <a:rPr lang="en-US" sz="1300" b="1" dirty="0">
                          <a:solidFill>
                            <a:schemeClr val="bg1"/>
                          </a:solidFill>
                        </a:rPr>
                        <a:t>Category</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The rule in the code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Example → points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r>
              <a:tr h="384048">
                <a:tc>
                  <a:txBody>
                    <a:bodyPr/>
                    <a:lstStyle/>
                    <a:p>
                      <a:pPr indent="0" marL="0">
                        <a:buNone/>
                      </a:pPr>
                      <a:r>
                        <a:rPr lang="en-US" sz="1300" b="1" dirty="0">
                          <a:solidFill>
                            <a:schemeClr val="tx1"/>
                          </a:solidFill>
                        </a:rPr>
                        <a:t>One pair</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highest value that appears at least 2 times, × 2</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[2,2,5,5,1]</a:t>
                      </a:r>
                      <a:r>
                        <a:rPr lang="en-US" sz="1300" dirty="0">
                          <a:solidFill>
                            <a:schemeClr val="tx1"/>
                          </a:solidFill>
                        </a:rPr>
                        <a:t> → </a:t>
                      </a:r>
                      <a:r>
                        <a:rPr lang="en-US" sz="1300" b="1" dirty="0">
                          <a:solidFill>
                            <a:schemeClr val="accent2"/>
                          </a:solidFill>
                        </a:rPr>
                        <a:t>10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Two pairs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exactly two different values that appear at least 2 times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[2,2,5,5,1]</a:t>
                      </a:r>
                      <a:r>
                        <a:rPr lang="en-US" sz="1300" dirty="0">
                          <a:solidFill>
                            <a:schemeClr val="tx1"/>
                          </a:solidFill>
                        </a:rPr>
                        <a:t> → </a:t>
                      </a:r>
                      <a:r>
                        <a:rPr lang="en-US" sz="1300" b="1" dirty="0">
                          <a:solidFill>
                            <a:schemeClr val="accent2"/>
                          </a:solidFill>
                        </a:rPr>
                        <a:t>14</a:t>
                      </a:r>
                      <a:r>
                        <a:rPr lang="en-US" sz="1300" dirty="0">
                          <a:solidFill>
                            <a:schemeClr val="tx1"/>
                          </a:solidFill>
                        </a:rPr>
                        <a:t>   </a:t>
                      </a:r>
                      <a:r>
                        <a:rPr lang="en-US" sz="1200" dirty="0">
                          <a:solidFill>
                            <a:schemeClr val="tx2"/>
                          </a:solidFill>
                          <a:latin typeface="Courier New" pitchFamily="34" charset="0"/>
                          <a:ea typeface="Courier New" pitchFamily="34" charset="-122"/>
                          <a:cs typeface="Courier New" pitchFamily="34" charset="-120"/>
                        </a:rPr>
                        <a:t>[4,4,4,4,1]</a:t>
                      </a:r>
                      <a:r>
                        <a:rPr lang="en-US" sz="1300" dirty="0">
                          <a:solidFill>
                            <a:schemeClr val="tx1"/>
                          </a:solidFill>
                        </a:rPr>
                        <a:t> → </a:t>
                      </a:r>
                      <a:r>
                        <a:rPr lang="en-US" sz="1300" b="1" dirty="0">
                          <a:solidFill>
                            <a:schemeClr val="accent2"/>
                          </a:solidFill>
                        </a:rPr>
                        <a:t>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384048">
                <a:tc>
                  <a:txBody>
                    <a:bodyPr/>
                    <a:lstStyle/>
                    <a:p>
                      <a:pPr indent="0" marL="0">
                        <a:buNone/>
                      </a:pPr>
                      <a:r>
                        <a:rPr lang="en-US" sz="1300" b="1" dirty="0">
                          <a:solidFill>
                            <a:schemeClr val="tx1"/>
                          </a:solidFill>
                        </a:rPr>
                        <a:t>Three / Four of a kind</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value that appears at least 3 / 4 times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[4,4,4,2,1]</a:t>
                      </a:r>
                      <a:r>
                        <a:rPr lang="en-US" sz="1300" dirty="0">
                          <a:solidFill>
                            <a:schemeClr val="tx1"/>
                          </a:solidFill>
                        </a:rPr>
                        <a:t> → </a:t>
                      </a:r>
                      <a:r>
                        <a:rPr lang="en-US" sz="1300" b="1" dirty="0">
                          <a:solidFill>
                            <a:schemeClr val="accent2"/>
                          </a:solidFill>
                        </a:rPr>
                        <a:t>12</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Small / Large straight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sorted dice are </a:t>
                      </a:r>
                      <a:r>
                        <a:rPr lang="en-US" sz="1200" dirty="0">
                          <a:solidFill>
                            <a:schemeClr val="tx2"/>
                          </a:solidFill>
                          <a:latin typeface="Courier New" pitchFamily="34" charset="0"/>
                          <a:ea typeface="Courier New" pitchFamily="34" charset="-122"/>
                          <a:cs typeface="Courier New" pitchFamily="34" charset="-120"/>
                        </a:rPr>
                        <a:t>[1,2,3,4,5]</a:t>
                      </a:r>
                      <a:r>
                        <a:rPr lang="en-US" sz="1300" dirty="0">
                          <a:solidFill>
                            <a:schemeClr val="tx1"/>
                          </a:solidFill>
                        </a:rPr>
                        <a:t> / </a:t>
                      </a:r>
                      <a:r>
                        <a:rPr lang="en-US" sz="1200" dirty="0">
                          <a:solidFill>
                            <a:schemeClr val="tx2"/>
                          </a:solidFill>
                          <a:latin typeface="Courier New" pitchFamily="34" charset="0"/>
                          <a:ea typeface="Courier New" pitchFamily="34" charset="-122"/>
                          <a:cs typeface="Courier New" pitchFamily="34" charset="-120"/>
                        </a:rPr>
                        <a:t>[2,3,4,5,6]</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b="1" dirty="0">
                          <a:solidFill>
                            <a:schemeClr val="accent2"/>
                          </a:solidFill>
                        </a:rPr>
                        <a:t>15</a:t>
                      </a:r>
                      <a:r>
                        <a:rPr lang="en-US" sz="1300" dirty="0">
                          <a:solidFill>
                            <a:schemeClr val="tx1"/>
                          </a:solidFill>
                        </a:rPr>
                        <a:t> / </a:t>
                      </a:r>
                      <a:r>
                        <a:rPr lang="en-US" sz="1300" b="1" dirty="0">
                          <a:solidFill>
                            <a:schemeClr val="accent2"/>
                          </a:solidFill>
                        </a:rPr>
                        <a:t>20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384048">
                <a:tc>
                  <a:txBody>
                    <a:bodyPr/>
                    <a:lstStyle/>
                    <a:p>
                      <a:pPr indent="0" marL="0">
                        <a:buNone/>
                      </a:pPr>
                      <a:r>
                        <a:rPr lang="en-US" sz="1300" b="1" dirty="0">
                          <a:solidFill>
                            <a:schemeClr val="tx1"/>
                          </a:solidFill>
                        </a:rPr>
                        <a:t>Full house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counts, sorted, are exactly </a:t>
                      </a:r>
                      <a:r>
                        <a:rPr lang="en-US" sz="1200" dirty="0">
                          <a:solidFill>
                            <a:schemeClr val="tx2"/>
                          </a:solidFill>
                          <a:latin typeface="Courier New" pitchFamily="34" charset="0"/>
                          <a:ea typeface="Courier New" pitchFamily="34" charset="-122"/>
                          <a:cs typeface="Courier New" pitchFamily="34" charset="-120"/>
                        </a:rPr>
                        <a:t>[2, 3]</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[3,3,5,5,5]</a:t>
                      </a:r>
                      <a:r>
                        <a:rPr lang="en-US" sz="1300" dirty="0">
                          <a:solidFill>
                            <a:schemeClr val="tx1"/>
                          </a:solidFill>
                        </a:rPr>
                        <a:t> → </a:t>
                      </a:r>
                      <a:r>
                        <a:rPr lang="en-US" sz="1300" b="1" dirty="0">
                          <a:solidFill>
                            <a:schemeClr val="accent2"/>
                          </a:solidFill>
                        </a:rPr>
                        <a:t>21</a:t>
                      </a:r>
                      <a:r>
                        <a:rPr lang="en-US" sz="1300" dirty="0">
                          <a:solidFill>
                            <a:schemeClr val="tx1"/>
                          </a:solidFill>
                        </a:rPr>
                        <a:t>   </a:t>
                      </a:r>
                      <a:r>
                        <a:rPr lang="en-US" sz="1200" dirty="0">
                          <a:solidFill>
                            <a:schemeClr val="tx2"/>
                          </a:solidFill>
                          <a:latin typeface="Courier New" pitchFamily="34" charset="0"/>
                          <a:ea typeface="Courier New" pitchFamily="34" charset="-122"/>
                          <a:cs typeface="Courier New" pitchFamily="34" charset="-120"/>
                        </a:rPr>
                        <a:t>[5,5,5,5,5]</a:t>
                      </a:r>
                      <a:r>
                        <a:rPr lang="en-US" sz="1300" dirty="0">
                          <a:solidFill>
                            <a:schemeClr val="tx1"/>
                          </a:solidFill>
                        </a:rPr>
                        <a:t> → </a:t>
                      </a:r>
                      <a:r>
                        <a:rPr lang="en-US" sz="1300" b="1" dirty="0">
                          <a:solidFill>
                            <a:schemeClr val="accent2"/>
                          </a:solidFill>
                        </a:rPr>
                        <a:t>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Chance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the sum of all dice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[1,2,3,4,6]</a:t>
                      </a:r>
                      <a:r>
                        <a:rPr lang="en-US" sz="1300" dirty="0">
                          <a:solidFill>
                            <a:schemeClr val="tx1"/>
                          </a:solidFill>
                        </a:rPr>
                        <a:t> → </a:t>
                      </a:r>
                      <a:r>
                        <a:rPr lang="en-US" sz="1300" b="1" dirty="0">
                          <a:solidFill>
                            <a:schemeClr val="accent2"/>
                          </a:solidFill>
                        </a:rPr>
                        <a:t>16</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384048">
                <a:tc>
                  <a:txBody>
                    <a:bodyPr/>
                    <a:lstStyle/>
                    <a:p>
                      <a:pPr indent="0" marL="0">
                        <a:buNone/>
                      </a:pPr>
                      <a:r>
                        <a:rPr lang="en-US" sz="1300" b="1" dirty="0">
                          <a:solidFill>
                            <a:schemeClr val="tx1"/>
                          </a:solidFill>
                        </a:rPr>
                        <a:t>Yatzy</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only one single value: </a:t>
                      </a:r>
                      <a:r>
                        <a:rPr lang="en-US" sz="1200" dirty="0">
                          <a:solidFill>
                            <a:schemeClr val="tx2"/>
                          </a:solidFill>
                          <a:latin typeface="Courier New" pitchFamily="34" charset="0"/>
                          <a:ea typeface="Courier New" pitchFamily="34" charset="-122"/>
                          <a:cs typeface="Courier New" pitchFamily="34" charset="-120"/>
                        </a:rPr>
                        <a:t>len(counts) == 1</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[2,2,2,2,2]</a:t>
                      </a:r>
                      <a:r>
                        <a:rPr lang="en-US" sz="1300" dirty="0">
                          <a:solidFill>
                            <a:schemeClr val="tx1"/>
                          </a:solidFill>
                        </a:rPr>
                        <a:t> → </a:t>
                      </a:r>
                      <a:r>
                        <a:rPr lang="en-US" sz="1300" b="1" dirty="0">
                          <a:solidFill>
                            <a:schemeClr val="accent2"/>
                          </a:solidFill>
                        </a:rPr>
                        <a:t>50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bl>
          </a:graphicData>
        </a:graphic>
      </p:graphicFrame>
      <p:sp>
        <p:nvSpPr>
          <p:cNvPr id="11" name="Text 8"/>
          <p:cNvSpPr txBox="1"/>
          <p:nvPr/>
        </p:nvSpPr>
        <p:spPr>
          <a:xfrm>
            <a:off x="457200" y="4462272"/>
            <a:ext cx="7315200" cy="274320"/>
          </a:xfrm>
          <a:prstGeom prst="rect">
            <a:avLst/>
          </a:prstGeom>
          <a:noFill/>
          <a:ln/>
        </p:spPr>
        <p:txBody>
          <a:bodyPr wrap="square" lIns="0" tIns="0" rIns="0" bIns="0" rtlCol="0" anchor="ctr"/>
          <a:lstStyle/>
          <a:p>
            <a:pPr indent="0" marL="0">
              <a:buNone/>
            </a:pPr>
            <a:r>
              <a:rPr lang="en-US" sz="1300" dirty="0">
                <a:solidFill>
                  <a:schemeClr val="accent4"/>
                </a:solidFill>
              </a:rPr>
              <a:t>Every example in the table is also a test in </a:t>
            </a:r>
            <a:r>
              <a:rPr lang="en-US" sz="1200" dirty="0">
                <a:solidFill>
                  <a:schemeClr val="accent4"/>
                </a:solidFill>
                <a:latin typeface="Courier New" pitchFamily="34" charset="0"/>
                <a:ea typeface="Courier New" pitchFamily="34" charset="-122"/>
                <a:cs typeface="Courier New" pitchFamily="34" charset="-120"/>
              </a:rPr>
              <a:t>test_yatzy.py</a:t>
            </a:r>
            <a:r>
              <a:rPr lang="en-US" sz="1300" dirty="0">
                <a:solidFill>
                  <a:schemeClr val="accent4"/>
                </a:solidFill>
              </a:rPr>
              <a:t>.</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The terminal view: what the player sees</a:t>
            </a:r>
            <a:endParaRPr lang="en-US" sz="2600" dirty="0"/>
          </a:p>
        </p:txBody>
      </p:sp>
      <p:sp>
        <p:nvSpPr>
          <p:cNvPr id="3" name="die-5"/>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631759" y="503743"/>
            <a:ext cx="71506" cy="71506"/>
          </a:xfrm>
          <a:prstGeom prst="ellipse">
            <a:avLst/>
          </a:prstGeom>
          <a:solidFill>
            <a:schemeClr val="bg1"/>
          </a:solidFill>
          <a:ln w="12700">
            <a:solidFill>
              <a:schemeClr val="bg1"/>
            </a:solidFill>
            <a:prstDash val="solid"/>
          </a:ln>
        </p:spPr>
      </p:sp>
      <p:sp>
        <p:nvSpPr>
          <p:cNvPr id="7" name="pip"/>
          <p:cNvSpPr/>
          <p:nvPr/>
        </p:nvSpPr>
        <p:spPr>
          <a:xfrm>
            <a:off x="518190" y="617311"/>
            <a:ext cx="71506" cy="71506"/>
          </a:xfrm>
          <a:prstGeom prst="ellipse">
            <a:avLst/>
          </a:prstGeom>
          <a:solidFill>
            <a:schemeClr val="bg1"/>
          </a:solidFill>
          <a:ln w="12700">
            <a:solidFill>
              <a:schemeClr val="bg1"/>
            </a:solidFill>
            <a:prstDash val="solid"/>
          </a:ln>
        </p:spPr>
      </p:sp>
      <p:sp>
        <p:nvSpPr>
          <p:cNvPr id="8" name="pip"/>
          <p:cNvSpPr/>
          <p:nvPr/>
        </p:nvSpPr>
        <p:spPr>
          <a:xfrm>
            <a:off x="745327" y="617311"/>
            <a:ext cx="71506" cy="71506"/>
          </a:xfrm>
          <a:prstGeom prst="ellipse">
            <a:avLst/>
          </a:prstGeom>
          <a:solidFill>
            <a:schemeClr val="bg1"/>
          </a:solidFill>
          <a:ln w="12700">
            <a:solidFill>
              <a:schemeClr val="bg1"/>
            </a:solidFill>
            <a:prstDash val="solid"/>
          </a:ln>
        </p:spPr>
      </p:sp>
      <p:sp>
        <p:nvSpPr>
          <p:cNvPr id="9" name="code-ascii"/>
          <p:cNvSpPr/>
          <p:nvPr/>
        </p:nvSpPr>
        <p:spPr>
          <a:xfrm>
            <a:off x="457200" y="1097280"/>
            <a:ext cx="5120640" cy="2843784"/>
          </a:xfrm>
          <a:prstGeom prst="roundRect">
            <a:avLst>
              <a:gd name="adj" fmla="val 2251"/>
            </a:avLst>
          </a:prstGeom>
          <a:solidFill>
            <a:schemeClr val="accent6"/>
          </a:solidFill>
          <a:ln w="12700">
            <a:solidFill>
              <a:schemeClr val="accent6"/>
            </a:solidFill>
            <a:prstDash val="solid"/>
          </a:ln>
        </p:spPr>
      </p:sp>
      <p:sp>
        <p:nvSpPr>
          <p:cNvPr id="10" name="code-text-ascii"/>
          <p:cNvSpPr txBox="1"/>
          <p:nvPr/>
        </p:nvSpPr>
        <p:spPr>
          <a:xfrm>
            <a:off x="658368" y="1261872"/>
            <a:ext cx="4809744" cy="2514600"/>
          </a:xfrm>
          <a:prstGeom prst="rect">
            <a:avLst/>
          </a:prstGeom>
          <a:noFill/>
          <a:ln/>
        </p:spPr>
        <p:txBody>
          <a:bodyPr wrap="none" lIns="0" tIns="0" rIns="0" bIns="0" rtlCol="0" anchor="t"/>
          <a:lstStyle/>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  +-------+  +-------+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o   o |  | o   o |  | o     |  | o   o |  |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o   o |  | o   o |  |   o   |  | o   o |  |   o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o   o |  | o   o |  |     o |  | o   o |  |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  +-------+  +-------+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1          2          3          4          5</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SPARAD     SPARAD                SPARAD</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Slag kvar: 1</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Skriv numren på tärningarna du vill spara (t.ex. 135)</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Enter = slå om alla, p = sätt poäng, v = visa protokollet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&gt; 124</a:t>
            </a:r>
            <a:endParaRPr lang="en-US" sz="1100" dirty="0"/>
          </a:p>
        </p:txBody>
      </p:sp>
      <p:sp>
        <p:nvSpPr>
          <p:cNvPr id="11" name="Text 9"/>
          <p:cNvSpPr txBox="1"/>
          <p:nvPr/>
        </p:nvSpPr>
        <p:spPr>
          <a:xfrm>
            <a:off x="457200" y="4078224"/>
            <a:ext cx="5120640" cy="457200"/>
          </a:xfrm>
          <a:prstGeom prst="rect">
            <a:avLst/>
          </a:prstGeom>
          <a:noFill/>
          <a:ln/>
        </p:spPr>
        <p:txBody>
          <a:bodyPr wrap="square" lIns="0" tIns="0" rIns="0" bIns="0" rtlCol="0" anchor="t"/>
          <a:lstStyle/>
          <a:p>
            <a:pPr indent="0" marL="0">
              <a:buNone/>
            </a:pPr>
            <a:r>
              <a:rPr lang="en-US" sz="1200" dirty="0">
                <a:solidFill>
                  <a:schemeClr val="accent4"/>
                </a:solidFill>
              </a:rPr>
              <a:t>The game speaks Swedish: </a:t>
            </a:r>
            <a:r>
              <a:rPr lang="en-US" sz="1200" b="1" dirty="0">
                <a:solidFill>
                  <a:schemeClr val="accent2"/>
                </a:solidFill>
              </a:rPr>
              <a:t>SPARAD</a:t>
            </a:r>
            <a:r>
              <a:rPr lang="en-US" sz="1200" dirty="0">
                <a:solidFill>
                  <a:schemeClr val="accent4"/>
                </a:solidFill>
              </a:rPr>
              <a:t> = held · </a:t>
            </a:r>
            <a:r>
              <a:rPr lang="en-US" sz="1200" b="1" dirty="0">
                <a:solidFill>
                  <a:schemeClr val="accent2"/>
                </a:solidFill>
              </a:rPr>
              <a:t>Slag kvar</a:t>
            </a:r>
            <a:r>
              <a:rPr lang="en-US" sz="1200" dirty="0">
                <a:solidFill>
                  <a:schemeClr val="accent4"/>
                </a:solidFill>
              </a:rPr>
              <a:t> = rolls left · </a:t>
            </a:r>
            <a:r>
              <a:rPr lang="en-US" sz="1200" b="1" dirty="0">
                <a:solidFill>
                  <a:schemeClr val="accent2"/>
                </a:solidFill>
              </a:rPr>
              <a:t>Enter</a:t>
            </a:r>
            <a:r>
              <a:rPr lang="en-US" sz="1200" dirty="0">
                <a:solidFill>
                  <a:schemeClr val="accent4"/>
                </a:solidFill>
              </a:rPr>
              <a:t> = reroll all · </a:t>
            </a:r>
            <a:r>
              <a:rPr lang="en-US" sz="1200" b="1" dirty="0">
                <a:solidFill>
                  <a:schemeClr val="accent2"/>
                </a:solidFill>
              </a:rPr>
              <a:t>p</a:t>
            </a:r>
            <a:r>
              <a:rPr lang="en-US" sz="1200" dirty="0">
                <a:solidFill>
                  <a:schemeClr val="accent4"/>
                </a:solidFill>
              </a:rPr>
              <a:t> = score · </a:t>
            </a:r>
            <a:r>
              <a:rPr lang="en-US" sz="1200" b="1" dirty="0">
                <a:solidFill>
                  <a:schemeClr val="accent2"/>
                </a:solidFill>
              </a:rPr>
              <a:t>v</a:t>
            </a:r>
            <a:r>
              <a:rPr lang="en-US" sz="1200" dirty="0">
                <a:solidFill>
                  <a:schemeClr val="accent4"/>
                </a:solidFill>
              </a:rPr>
              <a:t> = view the scorecard</a:t>
            </a:r>
            <a:endParaRPr lang="en-US" sz="1200" dirty="0"/>
          </a:p>
        </p:txBody>
      </p:sp>
      <p:sp>
        <p:nvSpPr>
          <p:cNvPr id="12" name="card"/>
          <p:cNvSpPr/>
          <p:nvPr/>
        </p:nvSpPr>
        <p:spPr>
          <a:xfrm>
            <a:off x="5760720" y="1097280"/>
            <a:ext cx="2926080" cy="1143000"/>
          </a:xfrm>
          <a:prstGeom prst="roundRect">
            <a:avLst>
              <a:gd name="adj" fmla="val 5600"/>
            </a:avLst>
          </a:prstGeom>
          <a:solidFill>
            <a:schemeClr val="accent5"/>
          </a:solidFill>
          <a:ln w="12700">
            <a:solidFill>
              <a:schemeClr val="accent5"/>
            </a:solidFill>
            <a:prstDash val="solid"/>
          </a:ln>
        </p:spPr>
      </p:sp>
      <p:sp>
        <p:nvSpPr>
          <p:cNvPr id="13" name="Text 11"/>
          <p:cNvSpPr txBox="1"/>
          <p:nvPr/>
        </p:nvSpPr>
        <p:spPr>
          <a:xfrm>
            <a:off x="5943600" y="1225296"/>
            <a:ext cx="2560320" cy="274320"/>
          </a:xfrm>
          <a:prstGeom prst="rect">
            <a:avLst/>
          </a:prstGeom>
          <a:noFill/>
          <a:ln/>
        </p:spPr>
        <p:txBody>
          <a:bodyPr wrap="square" lIns="0" tIns="0" rIns="0" bIns="0" rtlCol="0" anchor="t"/>
          <a:lstStyle/>
          <a:p>
            <a:pPr indent="0" marL="0">
              <a:buNone/>
            </a:pPr>
            <a:r>
              <a:rPr lang="en-US" sz="1500" b="1" dirty="0">
                <a:solidFill>
                  <a:schemeClr val="accent2"/>
                </a:solidFill>
              </a:rPr>
              <a:t>Dice as text</a:t>
            </a:r>
            <a:endParaRPr lang="en-US" sz="1500" dirty="0"/>
          </a:p>
        </p:txBody>
      </p:sp>
      <p:sp>
        <p:nvSpPr>
          <p:cNvPr id="14" name="Text 12"/>
          <p:cNvSpPr txBox="1"/>
          <p:nvPr/>
        </p:nvSpPr>
        <p:spPr>
          <a:xfrm>
            <a:off x="5943600" y="1554480"/>
            <a:ext cx="2560320" cy="576072"/>
          </a:xfrm>
          <a:prstGeom prst="rect">
            <a:avLst/>
          </a:prstGeom>
          <a:noFill/>
          <a:ln/>
        </p:spPr>
        <p:txBody>
          <a:bodyPr wrap="square" lIns="0" tIns="0" rIns="0" bIns="0" rtlCol="0" anchor="t"/>
          <a:lstStyle/>
          <a:p>
            <a:pPr indent="0" marL="0">
              <a:lnSpc>
                <a:spcPct val="110000"/>
              </a:lnSpc>
              <a:spcAft>
                <a:spcPts val="400"/>
              </a:spcAft>
              <a:buNone/>
            </a:pPr>
            <a:r>
              <a:rPr lang="en-US" sz="1250" dirty="0">
                <a:solidFill>
                  <a:schemeClr val="tx2"/>
                </a:solidFill>
                <a:latin typeface="Courier New" pitchFamily="34" charset="0"/>
                <a:ea typeface="Courier New" pitchFamily="34" charset="-122"/>
                <a:cs typeface="Courier New" pitchFamily="34" charset="-120"/>
              </a:rPr>
              <a:t>PIPS</a:t>
            </a:r>
            <a:r>
              <a:rPr lang="en-US" sz="1350" dirty="0">
                <a:solidFill>
                  <a:schemeClr val="tx1"/>
                </a:solidFill>
              </a:rPr>
              <a:t> holds the dots for each face. </a:t>
            </a:r>
            <a:r>
              <a:rPr lang="en-US" sz="1250" dirty="0">
                <a:solidFill>
                  <a:schemeClr val="tx2"/>
                </a:solidFill>
                <a:latin typeface="Courier New" pitchFamily="34" charset="0"/>
                <a:ea typeface="Courier New" pitchFamily="34" charset="-122"/>
                <a:cs typeface="Courier New" pitchFamily="34" charset="-120"/>
              </a:rPr>
              <a:t>dice_lines</a:t>
            </a:r>
            <a:r>
              <a:rPr lang="en-US" sz="1350" dirty="0">
                <a:solidFill>
                  <a:schemeClr val="tx1"/>
                </a:solidFill>
              </a:rPr>
              <a:t> draws the row.</a:t>
            </a:r>
            <a:endParaRPr lang="en-US" sz="1250" dirty="0"/>
          </a:p>
        </p:txBody>
      </p:sp>
      <p:sp>
        <p:nvSpPr>
          <p:cNvPr id="15" name="card"/>
          <p:cNvSpPr/>
          <p:nvPr/>
        </p:nvSpPr>
        <p:spPr>
          <a:xfrm>
            <a:off x="5760720" y="2331720"/>
            <a:ext cx="2926080" cy="1143000"/>
          </a:xfrm>
          <a:prstGeom prst="roundRect">
            <a:avLst>
              <a:gd name="adj" fmla="val 5600"/>
            </a:avLst>
          </a:prstGeom>
          <a:solidFill>
            <a:schemeClr val="accent5"/>
          </a:solidFill>
          <a:ln w="12700">
            <a:solidFill>
              <a:schemeClr val="accent5"/>
            </a:solidFill>
            <a:prstDash val="solid"/>
          </a:ln>
        </p:spPr>
      </p:sp>
      <p:sp>
        <p:nvSpPr>
          <p:cNvPr id="16" name="Text 14"/>
          <p:cNvSpPr txBox="1"/>
          <p:nvPr/>
        </p:nvSpPr>
        <p:spPr>
          <a:xfrm>
            <a:off x="5943600" y="2459736"/>
            <a:ext cx="2560320" cy="274320"/>
          </a:xfrm>
          <a:prstGeom prst="rect">
            <a:avLst/>
          </a:prstGeom>
          <a:noFill/>
          <a:ln/>
        </p:spPr>
        <p:txBody>
          <a:bodyPr wrap="square" lIns="0" tIns="0" rIns="0" bIns="0" rtlCol="0" anchor="t"/>
          <a:lstStyle/>
          <a:p>
            <a:pPr indent="0" marL="0">
              <a:buNone/>
            </a:pPr>
            <a:r>
              <a:rPr lang="en-US" sz="1500" b="1" dirty="0">
                <a:solidFill>
                  <a:schemeClr val="accent2"/>
                </a:solidFill>
              </a:rPr>
              <a:t>Flexible input</a:t>
            </a:r>
            <a:endParaRPr lang="en-US" sz="1500" dirty="0"/>
          </a:p>
        </p:txBody>
      </p:sp>
      <p:sp>
        <p:nvSpPr>
          <p:cNvPr id="17" name="Text 15"/>
          <p:cNvSpPr txBox="1"/>
          <p:nvPr/>
        </p:nvSpPr>
        <p:spPr>
          <a:xfrm>
            <a:off x="5943600" y="2788920"/>
            <a:ext cx="2560320" cy="576072"/>
          </a:xfrm>
          <a:prstGeom prst="rect">
            <a:avLst/>
          </a:prstGeom>
          <a:noFill/>
          <a:ln/>
        </p:spPr>
        <p:txBody>
          <a:bodyPr wrap="square" lIns="0" tIns="0" rIns="0" bIns="0" rtlCol="0" anchor="t"/>
          <a:lstStyle/>
          <a:p>
            <a:pPr indent="0" marL="0">
              <a:lnSpc>
                <a:spcPct val="110000"/>
              </a:lnSpc>
              <a:spcAft>
                <a:spcPts val="400"/>
              </a:spcAft>
              <a:buNone/>
            </a:pPr>
            <a:r>
              <a:rPr lang="en-US" sz="1250" dirty="0">
                <a:solidFill>
                  <a:schemeClr val="tx2"/>
                </a:solidFill>
                <a:latin typeface="Courier New" pitchFamily="34" charset="0"/>
                <a:ea typeface="Courier New" pitchFamily="34" charset="-122"/>
                <a:cs typeface="Courier New" pitchFamily="34" charset="-120"/>
              </a:rPr>
              <a:t>parse_positions</a:t>
            </a:r>
            <a:r>
              <a:rPr lang="en-US" sz="1350" dirty="0">
                <a:solidFill>
                  <a:schemeClr val="tx1"/>
                </a:solidFill>
              </a:rPr>
              <a:t> reads </a:t>
            </a:r>
            <a:r>
              <a:rPr lang="en-US" sz="1250" dirty="0">
                <a:solidFill>
                  <a:schemeClr val="tx2"/>
                </a:solidFill>
                <a:latin typeface="Courier New" pitchFamily="34" charset="0"/>
                <a:ea typeface="Courier New" pitchFamily="34" charset="-122"/>
                <a:cs typeface="Courier New" pitchFamily="34" charset="-120"/>
              </a:rPr>
              <a:t>135</a:t>
            </a:r>
            <a:r>
              <a:rPr lang="en-US" sz="1350" dirty="0">
                <a:solidFill>
                  <a:schemeClr val="tx1"/>
                </a:solidFill>
              </a:rPr>
              <a:t>, </a:t>
            </a:r>
            <a:r>
              <a:rPr lang="en-US" sz="1250" dirty="0">
                <a:solidFill>
                  <a:schemeClr val="tx2"/>
                </a:solidFill>
                <a:latin typeface="Courier New" pitchFamily="34" charset="0"/>
                <a:ea typeface="Courier New" pitchFamily="34" charset="-122"/>
                <a:cs typeface="Courier New" pitchFamily="34" charset="-120"/>
              </a:rPr>
              <a:t>1 3 5</a:t>
            </a:r>
            <a:r>
              <a:rPr lang="en-US" sz="1350" dirty="0">
                <a:solidFill>
                  <a:schemeClr val="tx1"/>
                </a:solidFill>
              </a:rPr>
              <a:t> and </a:t>
            </a:r>
            <a:r>
              <a:rPr lang="en-US" sz="1250" dirty="0">
                <a:solidFill>
                  <a:schemeClr val="tx2"/>
                </a:solidFill>
                <a:latin typeface="Courier New" pitchFamily="34" charset="0"/>
                <a:ea typeface="Courier New" pitchFamily="34" charset="-122"/>
                <a:cs typeface="Courier New" pitchFamily="34" charset="-120"/>
              </a:rPr>
              <a:t>1,3,5</a:t>
            </a:r>
            <a:r>
              <a:rPr lang="en-US" sz="1350" dirty="0">
                <a:solidFill>
                  <a:schemeClr val="tx1"/>
                </a:solidFill>
              </a:rPr>
              <a:t> the same way.</a:t>
            </a:r>
            <a:endParaRPr lang="en-US" sz="1250" dirty="0"/>
          </a:p>
        </p:txBody>
      </p:sp>
      <p:sp>
        <p:nvSpPr>
          <p:cNvPr id="18" name="card"/>
          <p:cNvSpPr/>
          <p:nvPr/>
        </p:nvSpPr>
        <p:spPr>
          <a:xfrm>
            <a:off x="5760720" y="3566160"/>
            <a:ext cx="2926080" cy="1143000"/>
          </a:xfrm>
          <a:prstGeom prst="roundRect">
            <a:avLst>
              <a:gd name="adj" fmla="val 5600"/>
            </a:avLst>
          </a:prstGeom>
          <a:solidFill>
            <a:schemeClr val="accent5"/>
          </a:solidFill>
          <a:ln w="12700">
            <a:solidFill>
              <a:schemeClr val="accent5"/>
            </a:solidFill>
            <a:prstDash val="solid"/>
          </a:ln>
        </p:spPr>
      </p:sp>
      <p:sp>
        <p:nvSpPr>
          <p:cNvPr id="19" name="Text 17"/>
          <p:cNvSpPr txBox="1"/>
          <p:nvPr/>
        </p:nvSpPr>
        <p:spPr>
          <a:xfrm>
            <a:off x="5943600" y="3694176"/>
            <a:ext cx="2560320" cy="274320"/>
          </a:xfrm>
          <a:prstGeom prst="rect">
            <a:avLst/>
          </a:prstGeom>
          <a:noFill/>
          <a:ln/>
        </p:spPr>
        <p:txBody>
          <a:bodyPr wrap="square" lIns="0" tIns="0" rIns="0" bIns="0" rtlCol="0" anchor="t"/>
          <a:lstStyle/>
          <a:p>
            <a:pPr indent="0" marL="0">
              <a:buNone/>
            </a:pPr>
            <a:r>
              <a:rPr lang="en-US" sz="1500" b="1" dirty="0">
                <a:solidFill>
                  <a:schemeClr val="accent2"/>
                </a:solidFill>
              </a:rPr>
              <a:t>Does not crash</a:t>
            </a:r>
            <a:endParaRPr lang="en-US" sz="1500" dirty="0"/>
          </a:p>
        </p:txBody>
      </p:sp>
      <p:sp>
        <p:nvSpPr>
          <p:cNvPr id="20" name="Text 18"/>
          <p:cNvSpPr txBox="1"/>
          <p:nvPr/>
        </p:nvSpPr>
        <p:spPr>
          <a:xfrm>
            <a:off x="5943600" y="4023360"/>
            <a:ext cx="2560320" cy="576072"/>
          </a:xfrm>
          <a:prstGeom prst="rect">
            <a:avLst/>
          </a:prstGeom>
          <a:noFill/>
          <a:ln/>
        </p:spPr>
        <p:txBody>
          <a:bodyPr wrap="square" lIns="0" tIns="0" rIns="0" bIns="0" rtlCol="0" anchor="t"/>
          <a:lstStyle/>
          <a:p>
            <a:pPr indent="0" marL="0">
              <a:lnSpc>
                <a:spcPct val="110000"/>
              </a:lnSpc>
              <a:spcAft>
                <a:spcPts val="400"/>
              </a:spcAft>
              <a:buNone/>
            </a:pPr>
            <a:r>
              <a:rPr lang="en-US" sz="1350" dirty="0">
                <a:solidFill>
                  <a:schemeClr val="tx1"/>
                </a:solidFill>
              </a:rPr>
              <a:t>Invalid input (</a:t>
            </a:r>
            <a:r>
              <a:rPr lang="en-US" sz="1250" dirty="0">
                <a:solidFill>
                  <a:schemeClr val="tx2"/>
                </a:solidFill>
                <a:latin typeface="Courier New" pitchFamily="34" charset="0"/>
                <a:ea typeface="Courier New" pitchFamily="34" charset="-122"/>
                <a:cs typeface="Courier New" pitchFamily="34" charset="-120"/>
              </a:rPr>
              <a:t>6</a:t>
            </a:r>
            <a:r>
              <a:rPr lang="en-US" sz="1350" dirty="0">
                <a:solidFill>
                  <a:schemeClr val="tx1"/>
                </a:solidFill>
              </a:rPr>
              <a:t>, </a:t>
            </a:r>
            <a:r>
              <a:rPr lang="en-US" sz="1250" dirty="0">
                <a:solidFill>
                  <a:schemeClr val="tx2"/>
                </a:solidFill>
                <a:latin typeface="Courier New" pitchFamily="34" charset="0"/>
                <a:ea typeface="Courier New" pitchFamily="34" charset="-122"/>
                <a:cs typeface="Courier New" pitchFamily="34" charset="-120"/>
              </a:rPr>
              <a:t>abc</a:t>
            </a:r>
            <a:r>
              <a:rPr lang="en-US" sz="1350" dirty="0">
                <a:solidFill>
                  <a:schemeClr val="tx1"/>
                </a:solidFill>
              </a:rPr>
              <a:t>) returns </a:t>
            </a:r>
            <a:r>
              <a:rPr lang="en-US" sz="1250" dirty="0">
                <a:solidFill>
                  <a:schemeClr val="tx2"/>
                </a:solidFill>
                <a:latin typeface="Courier New" pitchFamily="34" charset="0"/>
                <a:ea typeface="Courier New" pitchFamily="34" charset="-122"/>
                <a:cs typeface="Courier New" pitchFamily="34" charset="-120"/>
              </a:rPr>
              <a:t>None</a:t>
            </a:r>
            <a:r>
              <a:rPr lang="en-US" sz="1350" dirty="0">
                <a:solidFill>
                  <a:schemeClr val="tx1"/>
                </a:solidFill>
              </a:rPr>
              <a:t>, and the question is asked again.</a:t>
            </a:r>
            <a:endParaRPr lang="en-US" sz="135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The tests: 11 of 11 pass</a:t>
            </a:r>
            <a:endParaRPr lang="en-US" sz="2600" dirty="0"/>
          </a:p>
        </p:txBody>
      </p:sp>
      <p:sp>
        <p:nvSpPr>
          <p:cNvPr id="3" name="die-6"/>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518190" y="503743"/>
            <a:ext cx="71506" cy="71506"/>
          </a:xfrm>
          <a:prstGeom prst="ellipse">
            <a:avLst/>
          </a:prstGeom>
          <a:solidFill>
            <a:schemeClr val="bg1"/>
          </a:solidFill>
          <a:ln w="12700">
            <a:solidFill>
              <a:schemeClr val="bg1"/>
            </a:solidFill>
            <a:prstDash val="solid"/>
          </a:ln>
        </p:spPr>
      </p:sp>
      <p:sp>
        <p:nvSpPr>
          <p:cNvPr id="7" name="pip"/>
          <p:cNvSpPr/>
          <p:nvPr/>
        </p:nvSpPr>
        <p:spPr>
          <a:xfrm>
            <a:off x="745327" y="503743"/>
            <a:ext cx="71506" cy="71506"/>
          </a:xfrm>
          <a:prstGeom prst="ellipse">
            <a:avLst/>
          </a:prstGeom>
          <a:solidFill>
            <a:schemeClr val="bg1"/>
          </a:solidFill>
          <a:ln w="12700">
            <a:solidFill>
              <a:schemeClr val="bg1"/>
            </a:solidFill>
            <a:prstDash val="solid"/>
          </a:ln>
        </p:spPr>
      </p:sp>
      <p:sp>
        <p:nvSpPr>
          <p:cNvPr id="8" name="pip"/>
          <p:cNvSpPr/>
          <p:nvPr/>
        </p:nvSpPr>
        <p:spPr>
          <a:xfrm>
            <a:off x="518190" y="617311"/>
            <a:ext cx="71506" cy="71506"/>
          </a:xfrm>
          <a:prstGeom prst="ellipse">
            <a:avLst/>
          </a:prstGeom>
          <a:solidFill>
            <a:schemeClr val="bg1"/>
          </a:solidFill>
          <a:ln w="12700">
            <a:solidFill>
              <a:schemeClr val="bg1"/>
            </a:solidFill>
            <a:prstDash val="solid"/>
          </a:ln>
        </p:spPr>
      </p:sp>
      <p:sp>
        <p:nvSpPr>
          <p:cNvPr id="9" name="pip"/>
          <p:cNvSpPr/>
          <p:nvPr/>
        </p:nvSpPr>
        <p:spPr>
          <a:xfrm>
            <a:off x="745327" y="617311"/>
            <a:ext cx="71506" cy="71506"/>
          </a:xfrm>
          <a:prstGeom prst="ellipse">
            <a:avLst/>
          </a:prstGeom>
          <a:solidFill>
            <a:schemeClr val="bg1"/>
          </a:solidFill>
          <a:ln w="12700">
            <a:solidFill>
              <a:schemeClr val="bg1"/>
            </a:solidFill>
            <a:prstDash val="solid"/>
          </a:ln>
        </p:spPr>
      </p:sp>
      <p:sp>
        <p:nvSpPr>
          <p:cNvPr id="10" name="test-stat"/>
          <p:cNvSpPr/>
          <p:nvPr/>
        </p:nvSpPr>
        <p:spPr>
          <a:xfrm>
            <a:off x="457200" y="1097280"/>
            <a:ext cx="2240280" cy="2788920"/>
          </a:xfrm>
          <a:prstGeom prst="roundRect">
            <a:avLst>
              <a:gd name="adj" fmla="val 3265"/>
            </a:avLst>
          </a:prstGeom>
          <a:solidFill>
            <a:schemeClr val="tx2"/>
          </a:solidFill>
          <a:ln w="12700">
            <a:solidFill>
              <a:schemeClr val="tx2"/>
            </a:solidFill>
            <a:prstDash val="solid"/>
          </a:ln>
        </p:spPr>
      </p:sp>
      <p:sp>
        <p:nvSpPr>
          <p:cNvPr id="11" name="Text 9"/>
          <p:cNvSpPr txBox="1"/>
          <p:nvPr/>
        </p:nvSpPr>
        <p:spPr>
          <a:xfrm>
            <a:off x="457200" y="1280160"/>
            <a:ext cx="2240280" cy="777240"/>
          </a:xfrm>
          <a:prstGeom prst="rect">
            <a:avLst/>
          </a:prstGeom>
          <a:noFill/>
          <a:ln/>
        </p:spPr>
        <p:txBody>
          <a:bodyPr wrap="square" lIns="0" tIns="0" rIns="0" bIns="0" rtlCol="0" anchor="ctr"/>
          <a:lstStyle/>
          <a:p>
            <a:pPr algn="ctr" indent="0" marL="0">
              <a:buNone/>
            </a:pPr>
            <a:r>
              <a:rPr lang="en-US" sz="4600" b="1" dirty="0">
                <a:solidFill>
                  <a:schemeClr val="bg1"/>
                </a:solidFill>
              </a:rPr>
              <a:t>11/11</a:t>
            </a:r>
            <a:endParaRPr lang="en-US" sz="4600" dirty="0"/>
          </a:p>
        </p:txBody>
      </p:sp>
      <p:sp>
        <p:nvSpPr>
          <p:cNvPr id="12" name="Text 10"/>
          <p:cNvSpPr txBox="1"/>
          <p:nvPr/>
        </p:nvSpPr>
        <p:spPr>
          <a:xfrm>
            <a:off x="548640" y="2057400"/>
            <a:ext cx="2057400" cy="274320"/>
          </a:xfrm>
          <a:prstGeom prst="rect">
            <a:avLst/>
          </a:prstGeom>
          <a:noFill/>
          <a:ln/>
        </p:spPr>
        <p:txBody>
          <a:bodyPr wrap="square" lIns="0" tIns="0" rIns="0" bIns="0" rtlCol="0" anchor="ctr"/>
          <a:lstStyle/>
          <a:p>
            <a:pPr algn="ctr" indent="0" marL="0">
              <a:buNone/>
            </a:pPr>
            <a:r>
              <a:rPr lang="en-US" sz="1300" dirty="0">
                <a:solidFill>
                  <a:srgbClr val="C9D6E6"/>
                </a:solidFill>
              </a:rPr>
              <a:t>tests OK with unittest</a:t>
            </a:r>
            <a:endParaRPr lang="en-US" sz="1300" dirty="0"/>
          </a:p>
        </p:txBody>
      </p:sp>
      <p:sp>
        <p:nvSpPr>
          <p:cNvPr id="13" name="Text 11"/>
          <p:cNvSpPr txBox="1"/>
          <p:nvPr/>
        </p:nvSpPr>
        <p:spPr>
          <a:xfrm>
            <a:off x="640080" y="2514600"/>
            <a:ext cx="1920240" cy="14630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accent5"/>
                </a:solidFill>
              </a:rPr>
              <a:t>6</a:t>
            </a:r>
            <a:r>
              <a:rPr lang="en-US" sz="1400" dirty="0">
                <a:solidFill>
                  <a:schemeClr val="bg1"/>
                </a:solidFill>
              </a:rPr>
              <a:t> for the scoring rules</a:t>
            </a:r>
            <a:endParaRPr lang="en-US" sz="1400" dirty="0"/>
          </a:p>
          <a:p>
            <a:pPr marL="177800" indent="-177800">
              <a:spcAft>
                <a:spcPts val="600"/>
              </a:spcAft>
              <a:buSzPct val="100000"/>
              <a:buChar char="•"/>
            </a:pPr>
            <a:r>
              <a:rPr lang="en-US" sz="1400" b="1" dirty="0">
                <a:solidFill>
                  <a:schemeClr val="accent5"/>
                </a:solidFill>
              </a:rPr>
              <a:t>5</a:t>
            </a:r>
            <a:r>
              <a:rPr lang="en-US" sz="1400" dirty="0">
                <a:solidFill>
                  <a:schemeClr val="bg1"/>
                </a:solidFill>
              </a:rPr>
              <a:t> for the game flow</a:t>
            </a:r>
            <a:endParaRPr lang="en-US" sz="1400" dirty="0"/>
          </a:p>
          <a:p>
            <a:pPr marL="177800" indent="-177800">
              <a:spcAft>
                <a:spcPts val="600"/>
              </a:spcAft>
              <a:buSzPct val="100000"/>
              <a:buChar char="•"/>
            </a:pPr>
            <a:r>
              <a:rPr lang="en-US" sz="1400" dirty="0">
                <a:solidFill>
                  <a:schemeClr val="bg1"/>
                </a:solidFill>
              </a:rPr>
              <a:t>We tested the view by </a:t>
            </a:r>
            <a:r>
              <a:rPr lang="en-US" sz="1400" b="1" dirty="0">
                <a:solidFill>
                  <a:schemeClr val="accent5"/>
                </a:solidFill>
              </a:rPr>
              <a:t>playing</a:t>
            </a:r>
            <a:endParaRPr lang="en-US" sz="1400" dirty="0"/>
          </a:p>
        </p:txBody>
      </p:sp>
      <p:sp>
        <p:nvSpPr>
          <p:cNvPr id="14" name="code-test"/>
          <p:cNvSpPr/>
          <p:nvPr/>
        </p:nvSpPr>
        <p:spPr>
          <a:xfrm>
            <a:off x="2926080" y="1097280"/>
            <a:ext cx="5760720" cy="2424684"/>
          </a:xfrm>
          <a:prstGeom prst="roundRect">
            <a:avLst>
              <a:gd name="adj" fmla="val 2640"/>
            </a:avLst>
          </a:prstGeom>
          <a:solidFill>
            <a:schemeClr val="accent6"/>
          </a:solidFill>
          <a:ln w="12700">
            <a:solidFill>
              <a:schemeClr val="accent6"/>
            </a:solidFill>
            <a:prstDash val="solid"/>
          </a:ln>
        </p:spPr>
      </p:sp>
      <p:sp>
        <p:nvSpPr>
          <p:cNvPr id="15" name="code-text-test"/>
          <p:cNvSpPr txBox="1"/>
          <p:nvPr/>
        </p:nvSpPr>
        <p:spPr>
          <a:xfrm>
            <a:off x="3383280" y="1261872"/>
            <a:ext cx="5193792" cy="2095500"/>
          </a:xfrm>
          <a:prstGeom prst="rect">
            <a:avLst/>
          </a:prstGeom>
          <a:noFill/>
          <a:ln/>
        </p:spPr>
        <p:txBody>
          <a:bodyPr wrap="none" lIns="0" tIns="0" rIns="0" bIns="0" rtlCol="0" anchor="t"/>
          <a:lstStyle/>
          <a:p>
            <a:pPr indent="0" marL="0">
              <a:lnSpc>
                <a:spcPts val="1650"/>
              </a:lnSpc>
              <a:buNone/>
            </a:pPr>
            <a:r>
              <a:rPr lang="en-US" sz="1100" b="1" dirty="0">
                <a:solidFill>
                  <a:srgbClr val="8DB8FF"/>
                </a:solidFill>
                <a:latin typeface="Courier New" pitchFamily="34" charset="0"/>
                <a:ea typeface="Courier New" pitchFamily="34" charset="-122"/>
                <a:cs typeface="Courier New" pitchFamily="34" charset="-120"/>
              </a:rPr>
              <a:t>def</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test_full_game</a:t>
            </a:r>
            <a:r>
              <a:rPr lang="en-US" sz="1100" b="1" dirty="0">
                <a:solidFill>
                  <a:srgbClr val="E8EEF5"/>
                </a:solidFill>
                <a:latin typeface="Courier New" pitchFamily="34" charset="0"/>
                <a:ea typeface="Courier New" pitchFamily="34" charset="-122"/>
                <a:cs typeface="Courier New" pitchFamily="34" charset="-120"/>
              </a:rPr>
              <a:t>(</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game = Game([</a:t>
            </a:r>
            <a:r>
              <a:rPr lang="en-US" sz="1100" b="1" dirty="0">
                <a:solidFill>
                  <a:srgbClr val="F2C14E"/>
                </a:solidFill>
                <a:latin typeface="Courier New" pitchFamily="34" charset="0"/>
                <a:ea typeface="Courier New" pitchFamily="34" charset="-122"/>
                <a:cs typeface="Courier New" pitchFamily="34" charset="-120"/>
              </a:rPr>
              <a:t>"A"</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F2C14E"/>
                </a:solidFill>
                <a:latin typeface="Courier New" pitchFamily="34" charset="0"/>
                <a:ea typeface="Courier New" pitchFamily="34" charset="-122"/>
                <a:cs typeface="Courier New" pitchFamily="34" charset="-120"/>
              </a:rPr>
              <a:t>"B"</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F2C14E"/>
                </a:solidFill>
                <a:latin typeface="Courier New" pitchFamily="34" charset="0"/>
                <a:ea typeface="Courier New" pitchFamily="34" charset="-122"/>
                <a:cs typeface="Courier New" pitchFamily="34" charset="-120"/>
              </a:rPr>
              <a:t>"C"</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F2C14E"/>
                </a:solidFill>
                <a:latin typeface="Courier New" pitchFamily="34" charset="0"/>
                <a:ea typeface="Courier New" pitchFamily="34" charset="-122"/>
                <a:cs typeface="Courier New" pitchFamily="34" charset="-120"/>
              </a:rPr>
              <a:t>"D"</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F2C14E"/>
                </a:solidFill>
                <a:latin typeface="Courier New" pitchFamily="34" charset="0"/>
                <a:ea typeface="Courier New" pitchFamily="34" charset="-122"/>
                <a:cs typeface="Courier New" pitchFamily="34" charset="-120"/>
              </a:rPr>
              <a:t>"E"</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F2C14E"/>
                </a:solidFill>
                <a:latin typeface="Courier New" pitchFamily="34" charset="0"/>
                <a:ea typeface="Courier New" pitchFamily="34" charset="-122"/>
                <a:cs typeface="Courier New" pitchFamily="34" charset="-120"/>
              </a:rPr>
              <a:t>"F"</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random.Random(</a:t>
            </a:r>
            <a:r>
              <a:rPr lang="en-US" sz="1100" b="1" dirty="0">
                <a:solidFill>
                  <a:srgbClr val="FF9E8A"/>
                </a:solidFill>
                <a:latin typeface="Courier New" pitchFamily="34" charset="0"/>
                <a:ea typeface="Courier New" pitchFamily="34" charset="-122"/>
                <a:cs typeface="Courier New" pitchFamily="34" charset="-120"/>
              </a:rPr>
              <a:t>7</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while</a:t>
            </a: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not</a:t>
            </a:r>
            <a:r>
              <a:rPr lang="en-US" sz="1100" b="1" dirty="0">
                <a:solidFill>
                  <a:srgbClr val="E8EEF5"/>
                </a:solidFill>
                <a:latin typeface="Courier New" pitchFamily="34" charset="0"/>
                <a:ea typeface="Courier New" pitchFamily="34" charset="-122"/>
                <a:cs typeface="Courier New" pitchFamily="34" charset="-120"/>
              </a:rPr>
              <a:t> game.is_over():</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game.roll()</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game.choose(game.available_categories()[</a:t>
            </a:r>
            <a:r>
              <a:rPr lang="en-US" sz="1100" b="1" dirty="0">
                <a:solidFill>
                  <a:srgbClr val="FF9E8A"/>
                </a:solidFill>
                <a:latin typeface="Courier New" pitchFamily="34" charset="0"/>
                <a:ea typeface="Courier New" pitchFamily="34" charset="-122"/>
                <a:cs typeface="Courier New" pitchFamily="34" charset="-120"/>
              </a:rPr>
              <a:t>0</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8DB8FF"/>
                </a:solidFill>
                <a:latin typeface="Courier New" pitchFamily="34" charset="0"/>
                <a:ea typeface="Courier New" pitchFamily="34" charset="-122"/>
                <a:cs typeface="Courier New" pitchFamily="34" charset="-120"/>
              </a:rPr>
              <a:t>for</a:t>
            </a:r>
            <a:r>
              <a:rPr lang="en-US" sz="1100" b="1" dirty="0">
                <a:solidFill>
                  <a:srgbClr val="E8EEF5"/>
                </a:solidFill>
                <a:latin typeface="Courier New" pitchFamily="34" charset="0"/>
                <a:ea typeface="Courier New" pitchFamily="34" charset="-122"/>
                <a:cs typeface="Courier New" pitchFamily="34" charset="-120"/>
              </a:rPr>
              <a:t> player </a:t>
            </a:r>
            <a:r>
              <a:rPr lang="en-US" sz="1100" b="1" dirty="0">
                <a:solidFill>
                  <a:srgbClr val="8DB8FF"/>
                </a:solidFill>
                <a:latin typeface="Courier New" pitchFamily="34" charset="0"/>
                <a:ea typeface="Courier New" pitchFamily="34" charset="-122"/>
                <a:cs typeface="Courier New" pitchFamily="34" charset="-120"/>
              </a:rPr>
              <a:t>in</a:t>
            </a:r>
            <a:r>
              <a:rPr lang="en-US" sz="1100" b="1" dirty="0">
                <a:solidFill>
                  <a:srgbClr val="E8EEF5"/>
                </a:solidFill>
                <a:latin typeface="Courier New" pitchFamily="34" charset="0"/>
                <a:ea typeface="Courier New" pitchFamily="34" charset="-122"/>
                <a:cs typeface="Courier New" pitchFamily="34" charset="-120"/>
              </a:rPr>
              <a:t> game.players:</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.assertEqual(</a:t>
            </a:r>
            <a:r>
              <a:rPr lang="en-US" sz="1100" b="1" dirty="0">
                <a:solidFill>
                  <a:srgbClr val="9BE7C4"/>
                </a:solidFill>
                <a:latin typeface="Courier New" pitchFamily="34" charset="0"/>
                <a:ea typeface="Courier New" pitchFamily="34" charset="-122"/>
                <a:cs typeface="Courier New" pitchFamily="34" charset="-120"/>
              </a:rPr>
              <a:t>len</a:t>
            </a:r>
            <a:r>
              <a:rPr lang="en-US" sz="1100" b="1" dirty="0">
                <a:solidFill>
                  <a:srgbClr val="E8EEF5"/>
                </a:solidFill>
                <a:latin typeface="Courier New" pitchFamily="34" charset="0"/>
                <a:ea typeface="Courier New" pitchFamily="34" charset="-122"/>
                <a:cs typeface="Courier New" pitchFamily="34" charset="-120"/>
              </a:rPr>
              <a:t>(player.scores),</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9BE7C4"/>
                </a:solidFill>
                <a:latin typeface="Courier New" pitchFamily="34" charset="0"/>
                <a:ea typeface="Courier New" pitchFamily="34" charset="-122"/>
                <a:cs typeface="Courier New" pitchFamily="34" charset="-120"/>
              </a:rPr>
              <a:t>len</a:t>
            </a:r>
            <a:r>
              <a:rPr lang="en-US" sz="1100" b="1" dirty="0">
                <a:solidFill>
                  <a:srgbClr val="E8EEF5"/>
                </a:solidFill>
                <a:latin typeface="Courier New" pitchFamily="34" charset="0"/>
                <a:ea typeface="Courier New" pitchFamily="34" charset="-122"/>
                <a:cs typeface="Courier New" pitchFamily="34" charset="-120"/>
              </a:rPr>
              <a:t>(CATEGORIES))</a:t>
            </a:r>
            <a:endParaRPr lang="en-US" sz="1100" dirty="0"/>
          </a:p>
          <a:p>
            <a:pPr indent="0" marL="0">
              <a:lnSpc>
                <a:spcPts val="1650"/>
              </a:lnSpc>
              <a:buNone/>
            </a:pPr>
            <a:r>
              <a:rPr lang="en-US" sz="1100" b="1" dirty="0">
                <a:solidFill>
                  <a:srgbClr val="E8EEF5"/>
                </a:solidFill>
                <a:latin typeface="Courier New" pitchFamily="34" charset="0"/>
                <a:ea typeface="Courier New" pitchFamily="34" charset="-122"/>
                <a:cs typeface="Courier New" pitchFamily="34" charset="-120"/>
              </a:rPr>
              <a:t>    </a:t>
            </a:r>
            <a:r>
              <a:rPr lang="en-US" sz="1100" b="1" dirty="0">
                <a:solidFill>
                  <a:srgbClr val="C9A7FF"/>
                </a:solidFill>
                <a:latin typeface="Courier New" pitchFamily="34" charset="0"/>
                <a:ea typeface="Courier New" pitchFamily="34" charset="-122"/>
                <a:cs typeface="Courier New" pitchFamily="34" charset="-120"/>
              </a:rPr>
              <a:t>self</a:t>
            </a:r>
            <a:r>
              <a:rPr lang="en-US" sz="1100" b="1" dirty="0">
                <a:solidFill>
                  <a:srgbClr val="E8EEF5"/>
                </a:solidFill>
                <a:latin typeface="Courier New" pitchFamily="34" charset="0"/>
                <a:ea typeface="Courier New" pitchFamily="34" charset="-122"/>
                <a:cs typeface="Courier New" pitchFamily="34" charset="-120"/>
              </a:rPr>
              <a:t>.assertTrue(</a:t>
            </a:r>
            <a:r>
              <a:rPr lang="en-US" sz="1100" b="1" dirty="0">
                <a:solidFill>
                  <a:srgbClr val="9BE7C4"/>
                </a:solidFill>
                <a:latin typeface="Courier New" pitchFamily="34" charset="0"/>
                <a:ea typeface="Courier New" pitchFamily="34" charset="-122"/>
                <a:cs typeface="Courier New" pitchFamily="34" charset="-120"/>
              </a:rPr>
              <a:t>len</a:t>
            </a:r>
            <a:r>
              <a:rPr lang="en-US" sz="1100" b="1" dirty="0">
                <a:solidFill>
                  <a:srgbClr val="E8EEF5"/>
                </a:solidFill>
                <a:latin typeface="Courier New" pitchFamily="34" charset="0"/>
                <a:ea typeface="Courier New" pitchFamily="34" charset="-122"/>
                <a:cs typeface="Courier New" pitchFamily="34" charset="-120"/>
              </a:rPr>
              <a:t>(game.winners()) &gt;= </a:t>
            </a:r>
            <a:r>
              <a:rPr lang="en-US" sz="1100" b="1" dirty="0">
                <a:solidFill>
                  <a:srgbClr val="FF9E8A"/>
                </a:solidFill>
                <a:latin typeface="Courier New" pitchFamily="34" charset="0"/>
                <a:ea typeface="Courier New" pitchFamily="34" charset="-122"/>
                <a:cs typeface="Courier New" pitchFamily="34" charset="-120"/>
              </a:rPr>
              <a:t>1</a:t>
            </a:r>
            <a:r>
              <a:rPr lang="en-US" sz="1100" b="1" dirty="0">
                <a:solidFill>
                  <a:srgbClr val="E8EEF5"/>
                </a:solidFill>
                <a:latin typeface="Courier New" pitchFamily="34" charset="0"/>
                <a:ea typeface="Courier New" pitchFamily="34" charset="-122"/>
                <a:cs typeface="Courier New" pitchFamily="34" charset="-120"/>
              </a:rPr>
              <a:t>)</a:t>
            </a:r>
            <a:endParaRPr lang="en-US" sz="1100" dirty="0"/>
          </a:p>
        </p:txBody>
      </p:sp>
      <p:sp>
        <p:nvSpPr>
          <p:cNvPr id="16" name="marker-1"/>
          <p:cNvSpPr/>
          <p:nvPr/>
        </p:nvSpPr>
        <p:spPr>
          <a:xfrm>
            <a:off x="3035808" y="1671447"/>
            <a:ext cx="228600" cy="228600"/>
          </a:xfrm>
          <a:prstGeom prst="ellipse">
            <a:avLst/>
          </a:prstGeom>
          <a:solidFill>
            <a:schemeClr val="accent1"/>
          </a:solidFill>
          <a:ln w="12700">
            <a:solidFill>
              <a:schemeClr val="accent1"/>
            </a:solidFill>
            <a:prstDash val="solid"/>
          </a:ln>
        </p:spPr>
      </p:sp>
      <p:sp>
        <p:nvSpPr>
          <p:cNvPr id="17" name="Text 15"/>
          <p:cNvSpPr txBox="1"/>
          <p:nvPr/>
        </p:nvSpPr>
        <p:spPr>
          <a:xfrm>
            <a:off x="3035808" y="167144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8" name="marker-2"/>
          <p:cNvSpPr/>
          <p:nvPr/>
        </p:nvSpPr>
        <p:spPr>
          <a:xfrm>
            <a:off x="3035808" y="1880997"/>
            <a:ext cx="228600" cy="228600"/>
          </a:xfrm>
          <a:prstGeom prst="ellipse">
            <a:avLst/>
          </a:prstGeom>
          <a:solidFill>
            <a:schemeClr val="accent1"/>
          </a:solidFill>
          <a:ln w="12700">
            <a:solidFill>
              <a:schemeClr val="accent1"/>
            </a:solidFill>
            <a:prstDash val="solid"/>
          </a:ln>
        </p:spPr>
      </p:sp>
      <p:sp>
        <p:nvSpPr>
          <p:cNvPr id="19" name="Text 17"/>
          <p:cNvSpPr txBox="1"/>
          <p:nvPr/>
        </p:nvSpPr>
        <p:spPr>
          <a:xfrm>
            <a:off x="3035808" y="188099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0" name="marker-3"/>
          <p:cNvSpPr/>
          <p:nvPr/>
        </p:nvSpPr>
        <p:spPr>
          <a:xfrm>
            <a:off x="3035808" y="2719197"/>
            <a:ext cx="228600" cy="228600"/>
          </a:xfrm>
          <a:prstGeom prst="ellipse">
            <a:avLst/>
          </a:prstGeom>
          <a:solidFill>
            <a:schemeClr val="accent1"/>
          </a:solidFill>
          <a:ln w="12700">
            <a:solidFill>
              <a:schemeClr val="accent1"/>
            </a:solidFill>
            <a:prstDash val="solid"/>
          </a:ln>
        </p:spPr>
      </p:sp>
      <p:sp>
        <p:nvSpPr>
          <p:cNvPr id="21" name="Text 19"/>
          <p:cNvSpPr txBox="1"/>
          <p:nvPr/>
        </p:nvSpPr>
        <p:spPr>
          <a:xfrm>
            <a:off x="3035808" y="2719197"/>
            <a:ext cx="228600" cy="22860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marker-1"/>
          <p:cNvSpPr/>
          <p:nvPr/>
        </p:nvSpPr>
        <p:spPr>
          <a:xfrm>
            <a:off x="2926080" y="3741420"/>
            <a:ext cx="246888" cy="246888"/>
          </a:xfrm>
          <a:prstGeom prst="ellipse">
            <a:avLst/>
          </a:prstGeom>
          <a:solidFill>
            <a:schemeClr val="accent1"/>
          </a:solidFill>
          <a:ln w="12700">
            <a:solidFill>
              <a:schemeClr val="accent1"/>
            </a:solidFill>
            <a:prstDash val="solid"/>
          </a:ln>
        </p:spPr>
      </p:sp>
      <p:sp>
        <p:nvSpPr>
          <p:cNvPr id="23" name="Text 21"/>
          <p:cNvSpPr txBox="1"/>
          <p:nvPr/>
        </p:nvSpPr>
        <p:spPr>
          <a:xfrm>
            <a:off x="2926080" y="3741420"/>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4" name="Text 22"/>
          <p:cNvSpPr txBox="1"/>
          <p:nvPr/>
        </p:nvSpPr>
        <p:spPr>
          <a:xfrm>
            <a:off x="3291840" y="3723132"/>
            <a:ext cx="1417320" cy="472440"/>
          </a:xfrm>
          <a:prstGeom prst="rect">
            <a:avLst/>
          </a:prstGeom>
          <a:noFill/>
          <a:ln/>
        </p:spPr>
        <p:txBody>
          <a:bodyPr wrap="square" lIns="0" tIns="0" rIns="0" bIns="0" rtlCol="0" anchor="t"/>
          <a:lstStyle/>
          <a:p>
            <a:pPr indent="0" marL="0">
              <a:lnSpc>
                <a:spcPct val="110000"/>
              </a:lnSpc>
              <a:buNone/>
            </a:pPr>
            <a:r>
              <a:rPr lang="en-US" sz="1300" b="1" dirty="0">
                <a:solidFill>
                  <a:schemeClr val="accent2"/>
                </a:solidFill>
              </a:rPr>
              <a:t>Fixed seed:</a:t>
            </a:r>
            <a:r>
              <a:rPr lang="en-US" sz="1300" dirty="0">
                <a:solidFill>
                  <a:schemeClr val="tx1"/>
                </a:solidFill>
              </a:rPr>
              <a:t> same dice on every run.</a:t>
            </a:r>
            <a:endParaRPr lang="en-US" sz="1300" dirty="0"/>
          </a:p>
        </p:txBody>
      </p:sp>
      <p:sp>
        <p:nvSpPr>
          <p:cNvPr id="25" name="marker-2"/>
          <p:cNvSpPr/>
          <p:nvPr/>
        </p:nvSpPr>
        <p:spPr>
          <a:xfrm>
            <a:off x="4910328" y="3741420"/>
            <a:ext cx="246888" cy="246888"/>
          </a:xfrm>
          <a:prstGeom prst="ellipse">
            <a:avLst/>
          </a:prstGeom>
          <a:solidFill>
            <a:schemeClr val="accent1"/>
          </a:solidFill>
          <a:ln w="12700">
            <a:solidFill>
              <a:schemeClr val="accent1"/>
            </a:solidFill>
            <a:prstDash val="solid"/>
          </a:ln>
        </p:spPr>
      </p:sp>
      <p:sp>
        <p:nvSpPr>
          <p:cNvPr id="26" name="Text 24"/>
          <p:cNvSpPr txBox="1"/>
          <p:nvPr/>
        </p:nvSpPr>
        <p:spPr>
          <a:xfrm>
            <a:off x="4910328" y="3741420"/>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7" name="Text 25"/>
          <p:cNvSpPr txBox="1"/>
          <p:nvPr/>
        </p:nvSpPr>
        <p:spPr>
          <a:xfrm>
            <a:off x="5276088" y="3723132"/>
            <a:ext cx="1417320" cy="472440"/>
          </a:xfrm>
          <a:prstGeom prst="rect">
            <a:avLst/>
          </a:prstGeom>
          <a:noFill/>
          <a:ln/>
        </p:spPr>
        <p:txBody>
          <a:bodyPr wrap="square" lIns="0" tIns="0" rIns="0" bIns="0" rtlCol="0" anchor="t"/>
          <a:lstStyle/>
          <a:p>
            <a:pPr indent="0" marL="0">
              <a:lnSpc>
                <a:spcPct val="110000"/>
              </a:lnSpc>
              <a:buNone/>
            </a:pPr>
            <a:r>
              <a:rPr lang="en-US" sz="1300" dirty="0">
                <a:solidFill>
                  <a:schemeClr val="tx1"/>
                </a:solidFill>
              </a:rPr>
              <a:t>Plays a </a:t>
            </a:r>
            <a:r>
              <a:rPr lang="en-US" sz="1300" b="1" dirty="0">
                <a:solidFill>
                  <a:schemeClr val="accent2"/>
                </a:solidFill>
              </a:rPr>
              <a:t>full game</a:t>
            </a:r>
            <a:r>
              <a:rPr lang="en-US" sz="1300" dirty="0">
                <a:solidFill>
                  <a:schemeClr val="tx1"/>
                </a:solidFill>
              </a:rPr>
              <a:t> with 6 players.</a:t>
            </a:r>
            <a:endParaRPr lang="en-US" sz="1300" dirty="0"/>
          </a:p>
        </p:txBody>
      </p:sp>
      <p:sp>
        <p:nvSpPr>
          <p:cNvPr id="28" name="marker-3"/>
          <p:cNvSpPr/>
          <p:nvPr/>
        </p:nvSpPr>
        <p:spPr>
          <a:xfrm>
            <a:off x="6894576" y="3741420"/>
            <a:ext cx="246888" cy="246888"/>
          </a:xfrm>
          <a:prstGeom prst="ellipse">
            <a:avLst/>
          </a:prstGeom>
          <a:solidFill>
            <a:schemeClr val="accent1"/>
          </a:solidFill>
          <a:ln w="12700">
            <a:solidFill>
              <a:schemeClr val="accent1"/>
            </a:solidFill>
            <a:prstDash val="solid"/>
          </a:ln>
        </p:spPr>
      </p:sp>
      <p:sp>
        <p:nvSpPr>
          <p:cNvPr id="29" name="Text 27"/>
          <p:cNvSpPr txBox="1"/>
          <p:nvPr/>
        </p:nvSpPr>
        <p:spPr>
          <a:xfrm>
            <a:off x="6894576" y="3741420"/>
            <a:ext cx="246888" cy="24688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0" name="Text 28"/>
          <p:cNvSpPr txBox="1"/>
          <p:nvPr/>
        </p:nvSpPr>
        <p:spPr>
          <a:xfrm>
            <a:off x="7260336" y="3723132"/>
            <a:ext cx="1417320" cy="690372"/>
          </a:xfrm>
          <a:prstGeom prst="rect">
            <a:avLst/>
          </a:prstGeom>
          <a:noFill/>
          <a:ln/>
        </p:spPr>
        <p:txBody>
          <a:bodyPr wrap="square" lIns="0" tIns="0" rIns="0" bIns="0" rtlCol="0" anchor="t"/>
          <a:lstStyle/>
          <a:p>
            <a:pPr indent="0" marL="0">
              <a:lnSpc>
                <a:spcPct val="110000"/>
              </a:lnSpc>
              <a:buNone/>
            </a:pPr>
            <a:r>
              <a:rPr lang="en-US" sz="1300" dirty="0">
                <a:solidFill>
                  <a:schemeClr val="tx1"/>
                </a:solidFill>
              </a:rPr>
              <a:t>Everyone has filled all </a:t>
            </a:r>
            <a:r>
              <a:rPr lang="en-US" sz="1300" b="1" dirty="0">
                <a:solidFill>
                  <a:schemeClr val="accent2"/>
                </a:solidFill>
              </a:rPr>
              <a:t>15 categories</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What we learned and what we would improve</a:t>
            </a:r>
            <a:endParaRPr lang="en-US" sz="2600" dirty="0"/>
          </a:p>
        </p:txBody>
      </p:sp>
      <p:sp>
        <p:nvSpPr>
          <p:cNvPr id="3" name="die-6"/>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518190" y="503743"/>
            <a:ext cx="71506" cy="71506"/>
          </a:xfrm>
          <a:prstGeom prst="ellipse">
            <a:avLst/>
          </a:prstGeom>
          <a:solidFill>
            <a:schemeClr val="bg1"/>
          </a:solidFill>
          <a:ln w="12700">
            <a:solidFill>
              <a:schemeClr val="bg1"/>
            </a:solidFill>
            <a:prstDash val="solid"/>
          </a:ln>
        </p:spPr>
      </p:sp>
      <p:sp>
        <p:nvSpPr>
          <p:cNvPr id="7" name="pip"/>
          <p:cNvSpPr/>
          <p:nvPr/>
        </p:nvSpPr>
        <p:spPr>
          <a:xfrm>
            <a:off x="745327" y="503743"/>
            <a:ext cx="71506" cy="71506"/>
          </a:xfrm>
          <a:prstGeom prst="ellipse">
            <a:avLst/>
          </a:prstGeom>
          <a:solidFill>
            <a:schemeClr val="bg1"/>
          </a:solidFill>
          <a:ln w="12700">
            <a:solidFill>
              <a:schemeClr val="bg1"/>
            </a:solidFill>
            <a:prstDash val="solid"/>
          </a:ln>
        </p:spPr>
      </p:sp>
      <p:sp>
        <p:nvSpPr>
          <p:cNvPr id="8" name="pip"/>
          <p:cNvSpPr/>
          <p:nvPr/>
        </p:nvSpPr>
        <p:spPr>
          <a:xfrm>
            <a:off x="518190" y="617311"/>
            <a:ext cx="71506" cy="71506"/>
          </a:xfrm>
          <a:prstGeom prst="ellipse">
            <a:avLst/>
          </a:prstGeom>
          <a:solidFill>
            <a:schemeClr val="bg1"/>
          </a:solidFill>
          <a:ln w="12700">
            <a:solidFill>
              <a:schemeClr val="bg1"/>
            </a:solidFill>
            <a:prstDash val="solid"/>
          </a:ln>
        </p:spPr>
      </p:sp>
      <p:sp>
        <p:nvSpPr>
          <p:cNvPr id="9" name="pip"/>
          <p:cNvSpPr/>
          <p:nvPr/>
        </p:nvSpPr>
        <p:spPr>
          <a:xfrm>
            <a:off x="745327" y="617311"/>
            <a:ext cx="71506" cy="71506"/>
          </a:xfrm>
          <a:prstGeom prst="ellipse">
            <a:avLst/>
          </a:prstGeom>
          <a:solidFill>
            <a:schemeClr val="bg1"/>
          </a:solidFill>
          <a:ln w="12700">
            <a:solidFill>
              <a:schemeClr val="bg1"/>
            </a:solidFill>
            <a:prstDash val="solid"/>
          </a:ln>
        </p:spPr>
      </p:sp>
      <p:sp>
        <p:nvSpPr>
          <p:cNvPr id="10" name="card"/>
          <p:cNvSpPr/>
          <p:nvPr/>
        </p:nvSpPr>
        <p:spPr>
          <a:xfrm>
            <a:off x="457200" y="1143000"/>
            <a:ext cx="3977640" cy="2788920"/>
          </a:xfrm>
          <a:prstGeom prst="roundRect">
            <a:avLst>
              <a:gd name="adj" fmla="val 2295"/>
            </a:avLst>
          </a:prstGeom>
          <a:solidFill>
            <a:schemeClr val="accent5"/>
          </a:solidFill>
          <a:ln w="12700">
            <a:solidFill>
              <a:schemeClr val="accent5"/>
            </a:solidFill>
            <a:prstDash val="solid"/>
          </a:ln>
        </p:spPr>
      </p:sp>
      <p:sp>
        <p:nvSpPr>
          <p:cNvPr id="11" name="Text 9"/>
          <p:cNvSpPr txBox="1"/>
          <p:nvPr/>
        </p:nvSpPr>
        <p:spPr>
          <a:xfrm>
            <a:off x="640080" y="1271016"/>
            <a:ext cx="3611880" cy="274320"/>
          </a:xfrm>
          <a:prstGeom prst="rect">
            <a:avLst/>
          </a:prstGeom>
          <a:noFill/>
          <a:ln/>
        </p:spPr>
        <p:txBody>
          <a:bodyPr wrap="square" lIns="0" tIns="0" rIns="0" bIns="0" rtlCol="0" anchor="t"/>
          <a:lstStyle/>
          <a:p>
            <a:pPr indent="0" marL="0">
              <a:buNone/>
            </a:pPr>
            <a:r>
              <a:rPr lang="en-US" sz="2000" b="1" dirty="0">
                <a:solidFill>
                  <a:schemeClr val="accent2"/>
                </a:solidFill>
              </a:rPr>
              <a:t>Lessons</a:t>
            </a:r>
            <a:endParaRPr lang="en-US" sz="2000" dirty="0"/>
          </a:p>
        </p:txBody>
      </p:sp>
      <p:sp>
        <p:nvSpPr>
          <p:cNvPr id="12" name="Text 10"/>
          <p:cNvSpPr txBox="1"/>
          <p:nvPr/>
        </p:nvSpPr>
        <p:spPr>
          <a:xfrm>
            <a:off x="640080" y="1600200"/>
            <a:ext cx="3611880" cy="2221992"/>
          </a:xfrm>
          <a:prstGeom prst="rect">
            <a:avLst/>
          </a:prstGeom>
          <a:noFill/>
          <a:ln/>
        </p:spPr>
        <p:txBody>
          <a:bodyPr wrap="square" lIns="0" tIns="0" rIns="0" bIns="0" rtlCol="0" anchor="t"/>
          <a:lstStyle/>
          <a:p>
            <a:pPr marL="177800" indent="-177800">
              <a:lnSpc>
                <a:spcPct val="110000"/>
              </a:lnSpc>
              <a:spcAft>
                <a:spcPts val="1200"/>
              </a:spcAft>
              <a:buSzPct val="100000"/>
              <a:buChar char="•"/>
            </a:pPr>
            <a:r>
              <a:rPr lang="en-US" sz="1600" dirty="0">
                <a:solidFill>
                  <a:schemeClr val="tx1"/>
                </a:solidFill>
              </a:rPr>
              <a:t>Keep </a:t>
            </a:r>
            <a:r>
              <a:rPr lang="en-US" sz="1600" b="1" dirty="0">
                <a:solidFill>
                  <a:schemeClr val="accent2"/>
                </a:solidFill>
              </a:rPr>
              <a:t>logic and view apart</a:t>
            </a:r>
            <a:r>
              <a:rPr lang="en-US" sz="1600" dirty="0">
                <a:solidFill>
                  <a:schemeClr val="tx1"/>
                </a:solidFill>
              </a:rPr>
              <a:t>: the code becomes easy to test and extend</a:t>
            </a:r>
            <a:endParaRPr lang="en-US" sz="1600" dirty="0"/>
          </a:p>
          <a:p>
            <a:pPr marL="177800" indent="-177800">
              <a:lnSpc>
                <a:spcPct val="110000"/>
              </a:lnSpc>
              <a:spcAft>
                <a:spcPts val="1200"/>
              </a:spcAft>
              <a:buSzPct val="100000"/>
              <a:buChar char="•"/>
            </a:pPr>
            <a:r>
              <a:rPr lang="en-US" sz="1600" dirty="0">
                <a:solidFill>
                  <a:schemeClr val="tx1"/>
                </a:solidFill>
              </a:rPr>
              <a:t>The right tool (</a:t>
            </a:r>
            <a:r>
              <a:rPr lang="en-US" sz="1450" dirty="0">
                <a:solidFill>
                  <a:schemeClr val="tx2"/>
                </a:solidFill>
                <a:latin typeface="Courier New" pitchFamily="34" charset="0"/>
                <a:ea typeface="Courier New" pitchFamily="34" charset="-122"/>
                <a:cs typeface="Courier New" pitchFamily="34" charset="-120"/>
              </a:rPr>
              <a:t>Counter</a:t>
            </a:r>
            <a:r>
              <a:rPr lang="en-US" sz="1600" dirty="0">
                <a:solidFill>
                  <a:schemeClr val="tx1"/>
                </a:solidFill>
              </a:rPr>
              <a:t>) makes rules </a:t>
            </a:r>
            <a:r>
              <a:rPr lang="en-US" sz="1600" b="1" dirty="0">
                <a:solidFill>
                  <a:schemeClr val="accent2"/>
                </a:solidFill>
              </a:rPr>
              <a:t>short and readable</a:t>
            </a:r>
            <a:endParaRPr lang="en-US" sz="1600" dirty="0"/>
          </a:p>
          <a:p>
            <a:pPr marL="177800" indent="-177800">
              <a:lnSpc>
                <a:spcPct val="110000"/>
              </a:lnSpc>
              <a:spcAft>
                <a:spcPts val="1200"/>
              </a:spcAft>
              <a:buSzPct val="100000"/>
              <a:buChar char="•"/>
            </a:pPr>
            <a:r>
              <a:rPr lang="en-US" sz="1600" dirty="0">
                <a:solidFill>
                  <a:schemeClr val="tx1"/>
                </a:solidFill>
              </a:rPr>
              <a:t>A </a:t>
            </a:r>
            <a:r>
              <a:rPr lang="en-US" sz="1600" b="1" dirty="0">
                <a:solidFill>
                  <a:schemeClr val="accent2"/>
                </a:solidFill>
              </a:rPr>
              <a:t>fixed seed</a:t>
            </a:r>
            <a:r>
              <a:rPr lang="en-US" sz="1600" dirty="0">
                <a:solidFill>
                  <a:schemeClr val="tx1"/>
                </a:solidFill>
              </a:rPr>
              <a:t> makes randomness predictable in tests</a:t>
            </a:r>
            <a:endParaRPr lang="en-US" sz="1600" dirty="0"/>
          </a:p>
        </p:txBody>
      </p:sp>
      <p:sp>
        <p:nvSpPr>
          <p:cNvPr id="13" name="card"/>
          <p:cNvSpPr/>
          <p:nvPr/>
        </p:nvSpPr>
        <p:spPr>
          <a:xfrm>
            <a:off x="4709160" y="1143000"/>
            <a:ext cx="3977640" cy="2788920"/>
          </a:xfrm>
          <a:prstGeom prst="roundRect">
            <a:avLst>
              <a:gd name="adj" fmla="val 2295"/>
            </a:avLst>
          </a:prstGeom>
          <a:solidFill>
            <a:srgbClr val="F1F1F1"/>
          </a:solidFill>
          <a:ln w="12700">
            <a:solidFill>
              <a:srgbClr val="F1F1F1"/>
            </a:solidFill>
            <a:prstDash val="solid"/>
          </a:ln>
        </p:spPr>
      </p:sp>
      <p:sp>
        <p:nvSpPr>
          <p:cNvPr id="14" name="Text 12"/>
          <p:cNvSpPr txBox="1"/>
          <p:nvPr/>
        </p:nvSpPr>
        <p:spPr>
          <a:xfrm>
            <a:off x="4892040" y="1271016"/>
            <a:ext cx="3611880" cy="274320"/>
          </a:xfrm>
          <a:prstGeom prst="rect">
            <a:avLst/>
          </a:prstGeom>
          <a:noFill/>
          <a:ln/>
        </p:spPr>
        <p:txBody>
          <a:bodyPr wrap="square" lIns="0" tIns="0" rIns="0" bIns="0" rtlCol="0" anchor="t"/>
          <a:lstStyle/>
          <a:p>
            <a:pPr indent="0" marL="0">
              <a:buNone/>
            </a:pPr>
            <a:r>
              <a:rPr lang="en-US" sz="2000" b="1" dirty="0">
                <a:solidFill>
                  <a:schemeClr val="accent2"/>
                </a:solidFill>
              </a:rPr>
              <a:t>Next steps</a:t>
            </a:r>
            <a:endParaRPr lang="en-US" sz="2000" dirty="0"/>
          </a:p>
        </p:txBody>
      </p:sp>
      <p:sp>
        <p:nvSpPr>
          <p:cNvPr id="15" name="Text 13"/>
          <p:cNvSpPr txBox="1"/>
          <p:nvPr/>
        </p:nvSpPr>
        <p:spPr>
          <a:xfrm>
            <a:off x="4892040" y="1600200"/>
            <a:ext cx="3611880" cy="2221992"/>
          </a:xfrm>
          <a:prstGeom prst="rect">
            <a:avLst/>
          </a:prstGeom>
          <a:noFill/>
          <a:ln/>
        </p:spPr>
        <p:txBody>
          <a:bodyPr wrap="square" lIns="0" tIns="0" rIns="0" bIns="0" rtlCol="0" anchor="t"/>
          <a:lstStyle/>
          <a:p>
            <a:pPr marL="177800" indent="-177800">
              <a:lnSpc>
                <a:spcPct val="110000"/>
              </a:lnSpc>
              <a:spcAft>
                <a:spcPts val="1200"/>
              </a:spcAft>
              <a:buSzPct val="100000"/>
              <a:buChar char="•"/>
            </a:pPr>
            <a:r>
              <a:rPr lang="en-US" sz="1450" dirty="0">
                <a:solidFill>
                  <a:schemeClr val="tx2"/>
                </a:solidFill>
                <a:latin typeface="Courier New" pitchFamily="34" charset="0"/>
                <a:ea typeface="Courier New" pitchFamily="34" charset="-122"/>
                <a:cs typeface="Courier New" pitchFamily="34" charset="-120"/>
              </a:rPr>
              <a:t>score()</a:t>
            </a:r>
            <a:r>
              <a:rPr lang="en-US" sz="1600" dirty="0">
                <a:solidFill>
                  <a:schemeClr val="tx1"/>
                </a:solidFill>
              </a:rPr>
              <a:t> is a long chain of </a:t>
            </a:r>
            <a:r>
              <a:rPr lang="en-US" sz="1450" dirty="0">
                <a:solidFill>
                  <a:schemeClr val="tx2"/>
                </a:solidFill>
                <a:latin typeface="Courier New" pitchFamily="34" charset="0"/>
                <a:ea typeface="Courier New" pitchFamily="34" charset="-122"/>
                <a:cs typeface="Courier New" pitchFamily="34" charset="-120"/>
              </a:rPr>
              <a:t>if</a:t>
            </a:r>
            <a:r>
              <a:rPr lang="en-US" sz="1600" dirty="0">
                <a:solidFill>
                  <a:schemeClr val="tx1"/>
                </a:solidFill>
              </a:rPr>
              <a:t>s. It could become a </a:t>
            </a:r>
            <a:r>
              <a:rPr lang="en-US" sz="1600" b="1" dirty="0">
                <a:solidFill>
                  <a:schemeClr val="accent2"/>
                </a:solidFill>
              </a:rPr>
              <a:t>dict</a:t>
            </a:r>
            <a:r>
              <a:rPr lang="en-US" sz="1600" dirty="0">
                <a:solidFill>
                  <a:schemeClr val="tx1"/>
                </a:solidFill>
              </a:rPr>
              <a:t> with one function per category</a:t>
            </a:r>
            <a:endParaRPr lang="en-US" sz="1450" dirty="0"/>
          </a:p>
          <a:p>
            <a:pPr marL="177800" indent="-177800">
              <a:lnSpc>
                <a:spcPct val="110000"/>
              </a:lnSpc>
              <a:spcAft>
                <a:spcPts val="1200"/>
              </a:spcAft>
              <a:buSzPct val="100000"/>
              <a:buChar char="•"/>
            </a:pPr>
            <a:r>
              <a:rPr lang="en-US" sz="1600" dirty="0">
                <a:solidFill>
                  <a:schemeClr val="tx1"/>
                </a:solidFill>
              </a:rPr>
              <a:t>A </a:t>
            </a:r>
            <a:r>
              <a:rPr lang="en-US" sz="1600" b="1" dirty="0">
                <a:solidFill>
                  <a:schemeClr val="accent2"/>
                </a:solidFill>
              </a:rPr>
              <a:t>graphical view</a:t>
            </a:r>
            <a:r>
              <a:rPr lang="en-US" sz="1600" dirty="0">
                <a:solidFill>
                  <a:schemeClr val="tx1"/>
                </a:solidFill>
              </a:rPr>
              <a:t>, e.g. with tkinter, that uses the same </a:t>
            </a:r>
            <a:r>
              <a:rPr lang="en-US" sz="1450" dirty="0">
                <a:solidFill>
                  <a:schemeClr val="tx2"/>
                </a:solidFill>
                <a:latin typeface="Courier New" pitchFamily="34" charset="0"/>
                <a:ea typeface="Courier New" pitchFamily="34" charset="-122"/>
                <a:cs typeface="Courier New" pitchFamily="34" charset="-120"/>
              </a:rPr>
              <a:t>Game</a:t>
            </a:r>
            <a:endParaRPr lang="en-US" sz="1450" dirty="0"/>
          </a:p>
          <a:p>
            <a:pPr marL="177800" indent="-177800">
              <a:lnSpc>
                <a:spcPct val="110000"/>
              </a:lnSpc>
              <a:spcAft>
                <a:spcPts val="1200"/>
              </a:spcAft>
              <a:buSzPct val="100000"/>
              <a:buChar char="•"/>
            </a:pPr>
            <a:r>
              <a:rPr lang="en-US" sz="1600" b="1" dirty="0">
                <a:solidFill>
                  <a:schemeClr val="accent2"/>
                </a:solidFill>
              </a:rPr>
              <a:t>Tests for the view</a:t>
            </a:r>
            <a:r>
              <a:rPr lang="en-US" sz="1600" dirty="0">
                <a:solidFill>
                  <a:schemeClr val="tx1"/>
                </a:solidFill>
              </a:rPr>
              <a:t>, e.g. for </a:t>
            </a:r>
            <a:r>
              <a:rPr lang="en-US" sz="1450" dirty="0">
                <a:solidFill>
                  <a:schemeClr val="tx2"/>
                </a:solidFill>
                <a:latin typeface="Courier New" pitchFamily="34" charset="0"/>
                <a:ea typeface="Courier New" pitchFamily="34" charset="-122"/>
                <a:cs typeface="Courier New" pitchFamily="34" charset="-120"/>
              </a:rPr>
              <a:t>parse_positions</a:t>
            </a:r>
            <a:endParaRPr lang="en-US" sz="145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822960"/>
          </a:xfrm>
          <a:prstGeom prst="rect">
            <a:avLst/>
          </a:prstGeom>
          <a:noFill/>
          <a:ln/>
        </p:spPr>
        <p:txBody>
          <a:bodyPr wrap="square" lIns="0" tIns="0" rIns="0" bIns="0" rtlCol="0" anchor="ctr"/>
          <a:lstStyle/>
          <a:p>
            <a:pPr algn="ctr" indent="0" marL="0">
              <a:buNone/>
            </a:pPr>
            <a:r>
              <a:rPr lang="en-US" sz="4000" b="1" dirty="0">
                <a:solidFill>
                  <a:schemeClr val="bg1"/>
                </a:solidFill>
              </a:rPr>
              <a:t>Thank you! Questions?</a:t>
            </a:r>
            <a:endParaRPr lang="en-US" sz="4000" dirty="0"/>
          </a:p>
        </p:txBody>
      </p:sp>
      <p:sp>
        <p:nvSpPr>
          <p:cNvPr id="3" name="qr-card"/>
          <p:cNvSpPr/>
          <p:nvPr/>
        </p:nvSpPr>
        <p:spPr>
          <a:xfrm>
            <a:off x="7178040" y="2926080"/>
            <a:ext cx="1508760" cy="1508760"/>
          </a:xfrm>
          <a:prstGeom prst="roundRect">
            <a:avLst>
              <a:gd name="adj" fmla="val 6061"/>
            </a:avLst>
          </a:prstGeom>
          <a:solidFill>
            <a:schemeClr val="bg1"/>
          </a:solidFill>
          <a:ln w="12700">
            <a:solidFill>
              <a:schemeClr val="bg1"/>
            </a:solidFill>
            <a:prstDash val="solid"/>
          </a:ln>
        </p:spPr>
      </p:sp>
      <p:pic>
        <p:nvPicPr>
          <p:cNvPr id="4" name="qr" descr="QR code to neonemesis.github.io/intro">    </p:cNvPr>
          <p:cNvPicPr>
            <a:picLocks noChangeAspect="1"/>
          </p:cNvPicPr>
          <p:nvPr/>
        </p:nvPicPr>
        <p:blipFill>
          <a:blip r:embed="rId1"/>
          <a:stretch>
            <a:fillRect/>
          </a:stretch>
        </p:blipFill>
        <p:spPr>
          <a:xfrm>
            <a:off x="7251192" y="2999232"/>
            <a:ext cx="1362456" cy="1362456"/>
          </a:xfrm>
          <a:prstGeom prst="rect">
            <a:avLst/>
          </a:prstGeom>
        </p:spPr>
      </p:pic>
      <p:sp>
        <p:nvSpPr>
          <p:cNvPr id="5" name="Text 2"/>
          <p:cNvSpPr txBox="1"/>
          <p:nvPr/>
        </p:nvSpPr>
        <p:spPr>
          <a:xfrm>
            <a:off x="6720840" y="4526280"/>
            <a:ext cx="2423160" cy="274320"/>
          </a:xfrm>
          <a:prstGeom prst="rect">
            <a:avLst/>
          </a:prstGeom>
          <a:noFill/>
          <a:ln/>
        </p:spPr>
        <p:txBody>
          <a:bodyPr wrap="square" lIns="0" tIns="0" rIns="0" bIns="0" rtlCol="0" anchor="ctr"/>
          <a:lstStyle/>
          <a:p>
            <a:pPr algn="ctr" indent="0" marL="0">
              <a:buNone/>
            </a:pPr>
            <a:r>
              <a:rPr lang="en-US" sz="1150" dirty="0">
                <a:solidFill>
                  <a:srgbClr val="C9D6E6"/>
                </a:solidFill>
                <a:latin typeface="Courier New" pitchFamily="34" charset="0"/>
                <a:ea typeface="Courier New" pitchFamily="34" charset="-122"/>
                <a:cs typeface="Courier New" pitchFamily="34" charset="-120"/>
              </a:rPr>
              <a:t>Play: python yatzy.py</a:t>
            </a:r>
            <a:endParaRPr lang="en-US" sz="1150" dirty="0"/>
          </a:p>
        </p:txBody>
      </p:sp>
      <p:sp>
        <p:nvSpPr>
          <p:cNvPr id="7" name="Text 0"/>
          <p:cNvSpPr/>
          <p:nvPr>
            <p:ph idx="101" type="body" hasCustomPrompt="1"/>
          </p:nvPr>
        </p:nvSpPr>
        <p:spPr>
          <a:xfrm>
            <a:off x="731520" y="2606040"/>
            <a:ext cx="7680960" cy="548640"/>
          </a:xfrm>
          <a:prstGeom prst="rect">
            <a:avLst/>
          </a:prstGeom>
          <a:noFill/>
          <a:ln/>
        </p:spPr>
        <p:txBody>
          <a:bodyPr wrap="square" lIns="0" tIns="0" rIns="0" bIns="0" rtlCol="0" anchor="t"/>
          <a:lstStyle/>
          <a:p>
            <a:pPr algn="ctr" indent="0" marL="0">
              <a:buNone/>
            </a:pP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822960"/>
          </a:xfrm>
          <a:prstGeom prst="rect">
            <a:avLst/>
          </a:prstGeom>
          <a:noFill/>
          <a:ln/>
        </p:spPr>
        <p:txBody>
          <a:bodyPr wrap="square" lIns="0" tIns="0" rIns="0" bIns="0" rtlCol="0" anchor="ctr"/>
          <a:lstStyle/>
          <a:p>
            <a:pPr algn="ctr" indent="0" marL="0">
              <a:buNone/>
            </a:pPr>
            <a:r>
              <a:rPr lang="en-US" sz="4000" b="1" dirty="0">
                <a:solidFill>
                  <a:schemeClr val="bg1"/>
                </a:solidFill>
              </a:rPr>
              <a:t>Backup slides</a:t>
            </a:r>
            <a:endParaRPr lang="en-US" sz="4000" dirty="0"/>
          </a:p>
        </p:txBody>
      </p:sp>
      <p:sp>
        <p:nvSpPr>
          <p:cNvPr id="3" name="Text 0"/>
          <p:cNvSpPr/>
          <p:nvPr>
            <p:ph idx="101" type="body" hasCustomPrompt="1"/>
          </p:nvPr>
        </p:nvSpPr>
        <p:spPr>
          <a:xfrm>
            <a:off x="731520" y="2606040"/>
            <a:ext cx="7680960" cy="548640"/>
          </a:xfrm>
          <a:prstGeom prst="rect">
            <a:avLst/>
          </a:prstGeom>
          <a:noFill/>
          <a:ln/>
        </p:spPr>
        <p:txBody>
          <a:bodyPr wrap="square" lIns="0" tIns="0" rIns="0" bIns="0" rtlCol="0" anchor="t"/>
          <a:lstStyle/>
          <a:p>
            <a:pPr algn="ctr" indent="0" marL="0">
              <a:buNone/>
            </a:pPr>
            <a:r>
              <a:rPr lang="en-US" sz="2200" dirty="0">
                <a:solidFill>
                  <a:schemeClr val="accent5"/>
                </a:solidFill>
              </a:rPr>
              <a:t>Answers to questions we might get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Questions about the rules</a:t>
            </a:r>
            <a:endParaRPr lang="en-US" sz="2600" dirty="0"/>
          </a:p>
        </p:txBody>
      </p:sp>
      <p:sp>
        <p:nvSpPr>
          <p:cNvPr id="3" name="die-1"/>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631759" y="503743"/>
            <a:ext cx="71506" cy="71506"/>
          </a:xfrm>
          <a:prstGeom prst="ellipse">
            <a:avLst/>
          </a:prstGeom>
          <a:solidFill>
            <a:schemeClr val="bg1"/>
          </a:solidFill>
          <a:ln w="12700">
            <a:solidFill>
              <a:schemeClr val="bg1"/>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651760"/>
                <a:gridCol w="5577840"/>
              </a:tblGrid>
              <a:tr h="0">
                <a:tc>
                  <a:txBody>
                    <a:bodyPr/>
                    <a:lstStyle/>
                    <a:p>
                      <a:pPr indent="0" marL="0">
                        <a:buNone/>
                      </a:pPr>
                      <a:r>
                        <a:rPr lang="en-US" sz="1300" b="1" dirty="0">
                          <a:solidFill>
                            <a:schemeClr val="bg1"/>
                          </a:solidFill>
                        </a:rPr>
                        <a:t>Question</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Answer</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tx1"/>
                          </a:solidFill>
                        </a:rPr>
                        <a:t>Why do five fives score 0 as a full house?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full house needs two </a:t>
                      </a:r>
                      <a:r>
                        <a:rPr lang="en-US" sz="1300" b="1" dirty="0">
                          <a:solidFill>
                            <a:schemeClr val="accent2"/>
                          </a:solidFill>
                        </a:rPr>
                        <a:t>different</a:t>
                      </a:r>
                      <a:r>
                        <a:rPr lang="en-US" sz="1300" dirty="0">
                          <a:solidFill>
                            <a:schemeClr val="tx1"/>
                          </a:solidFill>
                        </a:rPr>
                        <a:t> values: the counts must be exactly 2 and 3. Five of a kind has the count 5.</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Does a full house count as two pairs?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Yes. </a:t>
                      </a:r>
                      <a:r>
                        <a:rPr lang="en-US" sz="1200" dirty="0">
                          <a:solidFill>
                            <a:schemeClr val="tx2"/>
                          </a:solidFill>
                          <a:latin typeface="Courier New" pitchFamily="34" charset="0"/>
                          <a:ea typeface="Courier New" pitchFamily="34" charset="-122"/>
                          <a:cs typeface="Courier New" pitchFamily="34" charset="-120"/>
                        </a:rPr>
                        <a:t>[3,3,3,5,5]</a:t>
                      </a:r>
                      <a:r>
                        <a:rPr lang="en-US" sz="1300" dirty="0">
                          <a:solidFill>
                            <a:schemeClr val="tx1"/>
                          </a:solidFill>
                        </a:rPr>
                        <a:t> has two values that appear at least twice → 3+3+5+5 = </a:t>
                      </a:r>
                      <a:r>
                        <a:rPr lang="en-US" sz="1300" b="1" dirty="0">
                          <a:solidFill>
                            <a:schemeClr val="accent2"/>
                          </a:solidFill>
                        </a:rPr>
                        <a:t>16</a:t>
                      </a:r>
                      <a:r>
                        <a:rPr lang="en-US" sz="1300" dirty="0">
                          <a:solidFill>
                            <a:schemeClr val="tx1"/>
                          </a:solidFill>
                        </a:rPr>
                        <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300" b="1" dirty="0">
                          <a:solidFill>
                            <a:schemeClr val="tx1"/>
                          </a:solidFill>
                        </a:rPr>
                        <a:t>Does four of a kind count as two pairs?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 </a:t>
                      </a:r>
                      <a:r>
                        <a:rPr lang="en-US" sz="1200" dirty="0">
                          <a:solidFill>
                            <a:schemeClr val="tx2"/>
                          </a:solidFill>
                          <a:latin typeface="Courier New" pitchFamily="34" charset="0"/>
                          <a:ea typeface="Courier New" pitchFamily="34" charset="-122"/>
                          <a:cs typeface="Courier New" pitchFamily="34" charset="-120"/>
                        </a:rPr>
                        <a:t>[4,4,4,4,1]</a:t>
                      </a:r>
                      <a:r>
                        <a:rPr lang="en-US" sz="1300" dirty="0">
                          <a:solidFill>
                            <a:schemeClr val="tx1"/>
                          </a:solidFill>
                        </a:rPr>
                        <a:t> has only </a:t>
                      </a:r>
                      <a:r>
                        <a:rPr lang="en-US" sz="1300" b="1" dirty="0">
                          <a:solidFill>
                            <a:schemeClr val="accent2"/>
                          </a:solidFill>
                        </a:rPr>
                        <a:t>one</a:t>
                      </a:r>
                      <a:r>
                        <a:rPr lang="en-US" sz="1300" dirty="0">
                          <a:solidFill>
                            <a:schemeClr val="tx1"/>
                          </a:solidFill>
                        </a:rPr>
                        <a:t> such value → 0 points. There is a test for it.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Can you score 0 points?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Yes, you can pick any free category, even if it gives 0 ("scratching" it).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300" b="1" dirty="0">
                          <a:solidFill>
                            <a:schemeClr val="tx1"/>
                          </a:solidFill>
                        </a:rPr>
                        <a:t>What is the highest possible score?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374</a:t>
                      </a:r>
                      <a:r>
                        <a:rPr lang="en-US" sz="1300" dirty="0">
                          <a:solidFill>
                            <a:schemeClr val="tx1"/>
                          </a:solidFill>
                        </a:rPr>
                        <a:t>: upper section 105 + bonus 50 + one pair 12, two pairs 22, three of a kind 18, four of a kind 24, straights 15 + 20, full house 28, chance 30, Yatzy 50.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What happens on a tie?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winners()</a:t>
                      </a:r>
                      <a:r>
                        <a:rPr lang="en-US" sz="1300" dirty="0">
                          <a:solidFill>
                            <a:schemeClr val="tx1"/>
                          </a:solidFill>
                        </a:rPr>
                        <a:t> returns everyone with the top score, and the view prints a tie message ("Oavgjort mellan …").</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bl>
          </a:graphicData>
        </a:graphic>
      </p:graphicFrame>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Questions about the code</a:t>
            </a:r>
            <a:endParaRPr lang="en-US" sz="2600" dirty="0"/>
          </a:p>
        </p:txBody>
      </p:sp>
      <p:sp>
        <p:nvSpPr>
          <p:cNvPr id="3" name="die-2"/>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617311"/>
            <a:ext cx="71506" cy="71506"/>
          </a:xfrm>
          <a:prstGeom prst="ellipse">
            <a:avLst/>
          </a:prstGeom>
          <a:solidFill>
            <a:schemeClr val="bg1"/>
          </a:solidFill>
          <a:ln w="12700">
            <a:solidFill>
              <a:schemeClr val="bg1"/>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108960"/>
                <a:gridCol w="5120640"/>
              </a:tblGrid>
              <a:tr h="0">
                <a:tc>
                  <a:txBody>
                    <a:bodyPr/>
                    <a:lstStyle/>
                    <a:p>
                      <a:pPr indent="0" marL="0">
                        <a:buNone/>
                      </a:pPr>
                      <a:r>
                        <a:rPr lang="en-US" sz="1300" b="1" dirty="0">
                          <a:solidFill>
                            <a:schemeClr val="bg1"/>
                          </a:solidFill>
                        </a:rPr>
                        <a:t>Question</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Answer</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tx1"/>
                          </a:solidFill>
                        </a:rPr>
                        <a:t>Why is </a:t>
                      </a:r>
                      <a:r>
                        <a:rPr lang="en-US" sz="1200" b="1" dirty="0">
                          <a:solidFill>
                            <a:schemeClr val="tx2"/>
                          </a:solidFill>
                          <a:latin typeface="Courier New" pitchFamily="34" charset="0"/>
                          <a:ea typeface="Courier New" pitchFamily="34" charset="-122"/>
                          <a:cs typeface="Courier New" pitchFamily="34" charset="-120"/>
                        </a:rPr>
                        <a:t>rng</a:t>
                      </a:r>
                      <a:r>
                        <a:rPr lang="en-US" sz="1300" b="1" dirty="0">
                          <a:solidFill>
                            <a:schemeClr val="tx1"/>
                          </a:solidFill>
                        </a:rPr>
                        <a:t> passed into </a:t>
                      </a:r>
                      <a:r>
                        <a:rPr lang="en-US" sz="1200" b="1" dirty="0">
                          <a:solidFill>
                            <a:schemeClr val="tx2"/>
                          </a:solidFill>
                          <a:latin typeface="Courier New" pitchFamily="34" charset="0"/>
                          <a:ea typeface="Courier New" pitchFamily="34" charset="-122"/>
                          <a:cs typeface="Courier New" pitchFamily="34" charset="-120"/>
                        </a:rPr>
                        <a:t>Game</a:t>
                      </a:r>
                      <a:r>
                        <a:rPr lang="en-US" sz="1300" b="1" dirty="0">
                          <a:solidFill>
                            <a:schemeClr val="tx1"/>
                          </a:solidFill>
                        </a:rPr>
                        <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So the tests can give it a fixed seed, e.g. </a:t>
                      </a:r>
                      <a:r>
                        <a:rPr lang="en-US" sz="1200" dirty="0">
                          <a:solidFill>
                            <a:schemeClr val="tx2"/>
                          </a:solidFill>
                          <a:latin typeface="Courier New" pitchFamily="34" charset="0"/>
                          <a:ea typeface="Courier New" pitchFamily="34" charset="-122"/>
                          <a:cs typeface="Courier New" pitchFamily="34" charset="-120"/>
                        </a:rPr>
                        <a:t>random.Random(7)</a:t>
                      </a:r>
                      <a:r>
                        <a:rPr lang="en-US" sz="1300" dirty="0">
                          <a:solidFill>
                            <a:schemeClr val="tx1"/>
                          </a:solidFill>
                        </a:rPr>
                        <a:t>. Otherwise a normal random generator is used.</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Why </a:t>
                      </a:r>
                      <a:r>
                        <a:rPr lang="en-US" sz="1200" b="1" dirty="0">
                          <a:solidFill>
                            <a:schemeClr val="tx2"/>
                          </a:solidFill>
                          <a:latin typeface="Courier New" pitchFamily="34" charset="0"/>
                          <a:ea typeface="Courier New" pitchFamily="34" charset="-122"/>
                          <a:cs typeface="Courier New" pitchFamily="34" charset="-120"/>
                        </a:rPr>
                        <a:t>raise</a:t>
                      </a:r>
                      <a:r>
                        <a:rPr lang="en-US" sz="1300" b="1" dirty="0">
                          <a:solidFill>
                            <a:schemeClr val="tx1"/>
                          </a:solidFill>
                        </a:rPr>
                        <a:t> when the view already checks?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The rules must hold whatever the view. A new view that forgets a check still cannot make an illegal move.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300" b="1" dirty="0">
                          <a:solidFill>
                            <a:schemeClr val="tx1"/>
                          </a:solidFill>
                        </a:rPr>
                        <a:t>Why </a:t>
                      </a:r>
                      <a:r>
                        <a:rPr lang="en-US" sz="1200" b="1" dirty="0">
                          <a:solidFill>
                            <a:schemeClr val="tx2"/>
                          </a:solidFill>
                          <a:latin typeface="Courier New" pitchFamily="34" charset="0"/>
                          <a:ea typeface="Courier New" pitchFamily="34" charset="-122"/>
                          <a:cs typeface="Courier New" pitchFamily="34" charset="-120"/>
                        </a:rPr>
                        <a:t>triples[0]</a:t>
                      </a:r>
                      <a:r>
                        <a:rPr lang="en-US" sz="1300" b="1" dirty="0">
                          <a:solidFill>
                            <a:schemeClr val="tx1"/>
                          </a:solidFill>
                        </a:rPr>
                        <a:t> and not </a:t>
                      </a:r>
                      <a:r>
                        <a:rPr lang="en-US" sz="1200" b="1" dirty="0">
                          <a:solidFill>
                            <a:schemeClr val="tx2"/>
                          </a:solidFill>
                          <a:latin typeface="Courier New" pitchFamily="34" charset="0"/>
                          <a:ea typeface="Courier New" pitchFamily="34" charset="-122"/>
                          <a:cs typeface="Courier New" pitchFamily="34" charset="-120"/>
                        </a:rPr>
                        <a:t>max()</a:t>
                      </a:r>
                      <a:r>
                        <a:rPr lang="en-US" sz="1300" b="1" dirty="0">
                          <a:solidFill>
                            <a:schemeClr val="tx1"/>
                          </a:solidFill>
                        </a:rPr>
                        <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With five dice only </a:t>
                      </a:r>
                      <a:r>
                        <a:rPr lang="en-US" sz="1300" b="1" dirty="0">
                          <a:solidFill>
                            <a:schemeClr val="accent2"/>
                          </a:solidFill>
                        </a:rPr>
                        <a:t>one</a:t>
                      </a:r>
                      <a:r>
                        <a:rPr lang="en-US" sz="1300" dirty="0">
                          <a:solidFill>
                            <a:schemeClr val="tx1"/>
                          </a:solidFill>
                        </a:rPr>
                        <a:t> value can appear three times or more. The same goes for four of a kind.</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Why </a:t>
                      </a:r>
                      <a:r>
                        <a:rPr lang="en-US" sz="1200" b="1" dirty="0">
                          <a:solidFill>
                            <a:schemeClr val="tx2"/>
                          </a:solidFill>
                          <a:latin typeface="Courier New" pitchFamily="34" charset="0"/>
                          <a:ea typeface="Courier New" pitchFamily="34" charset="-122"/>
                          <a:cs typeface="Courier New" pitchFamily="34" charset="-120"/>
                        </a:rPr>
                        <a:t>release_all()</a:t>
                      </a:r>
                      <a:r>
                        <a:rPr lang="en-US" sz="1300" b="1" dirty="0">
                          <a:solidFill>
                            <a:schemeClr val="tx1"/>
                          </a:solidFill>
                        </a:rPr>
                        <a:t> in both </a:t>
                      </a:r>
                      <a:r>
                        <a:rPr lang="en-US" sz="1200" b="1" dirty="0">
                          <a:solidFill>
                            <a:schemeClr val="tx2"/>
                          </a:solidFill>
                          <a:latin typeface="Courier New" pitchFamily="34" charset="0"/>
                          <a:ea typeface="Courier New" pitchFamily="34" charset="-122"/>
                          <a:cs typeface="Courier New" pitchFamily="34" charset="-120"/>
                        </a:rPr>
                        <a:t>roll</a:t>
                      </a:r>
                      <a:r>
                        <a:rPr lang="en-US" sz="1300" b="1" dirty="0">
                          <a:solidFill>
                            <a:schemeClr val="tx1"/>
                          </a:solidFill>
                        </a:rPr>
                        <a:t> and </a:t>
                      </a:r>
                      <a:r>
                        <a:rPr lang="en-US" sz="1200" b="1" dirty="0">
                          <a:solidFill>
                            <a:schemeClr val="tx2"/>
                          </a:solidFill>
                          <a:latin typeface="Courier New" pitchFamily="34" charset="0"/>
                          <a:ea typeface="Courier New" pitchFamily="34" charset="-122"/>
                          <a:cs typeface="Courier New" pitchFamily="34" charset="-120"/>
                        </a:rPr>
                        <a:t>next_turn</a:t>
                      </a:r>
                      <a:r>
                        <a:rPr lang="en-US" sz="1300" b="1" dirty="0">
                          <a:solidFill>
                            <a:schemeClr val="tx1"/>
                          </a:solidFill>
                        </a:rPr>
                        <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next_turn</a:t>
                      </a:r>
                      <a:r>
                        <a:rPr lang="en-US" sz="1300" dirty="0">
                          <a:solidFill>
                            <a:schemeClr val="tx1"/>
                          </a:solidFill>
                        </a:rPr>
                        <a:t> releases the dice when the turn changes. The check in </a:t>
                      </a:r>
                      <a:r>
                        <a:rPr lang="en-US" sz="1200" dirty="0">
                          <a:solidFill>
                            <a:schemeClr val="tx2"/>
                          </a:solidFill>
                          <a:latin typeface="Courier New" pitchFamily="34" charset="0"/>
                          <a:ea typeface="Courier New" pitchFamily="34" charset="-122"/>
                          <a:cs typeface="Courier New" pitchFamily="34" charset="-120"/>
                        </a:rPr>
                        <a:t>roll</a:t>
                      </a:r>
                      <a:r>
                        <a:rPr lang="en-US" sz="1300" dirty="0">
                          <a:solidFill>
                            <a:schemeClr val="tx1"/>
                          </a:solidFill>
                        </a:rPr>
                        <a:t> is an extra safety net.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300" b="1" dirty="0">
                          <a:solidFill>
                            <a:schemeClr val="tx1"/>
                          </a:solidFill>
                        </a:rPr>
                        <a:t>How does the game know which categories are free?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available_categories()</a:t>
                      </a:r>
                      <a:r>
                        <a:rPr lang="en-US" sz="1300" dirty="0">
                          <a:solidFill>
                            <a:schemeClr val="tx1"/>
                          </a:solidFill>
                        </a:rPr>
                        <a:t> keeps those of the 15 that are missing from the player's </a:t>
                      </a:r>
                      <a:r>
                        <a:rPr lang="en-US" sz="1200" dirty="0">
                          <a:solidFill>
                            <a:schemeClr val="tx2"/>
                          </a:solidFill>
                          <a:latin typeface="Courier New" pitchFamily="34" charset="0"/>
                          <a:ea typeface="Courier New" pitchFamily="34" charset="-122"/>
                          <a:cs typeface="Courier New" pitchFamily="34" charset="-120"/>
                        </a:rPr>
                        <a:t>scores</a:t>
                      </a:r>
                      <a:r>
                        <a:rPr lang="en-US" sz="1300" dirty="0">
                          <a:solidFill>
                            <a:schemeClr val="tx1"/>
                          </a:solidFill>
                        </a:rPr>
                        <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What happens on Ctrl+C?</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yatzy.py</a:t>
                      </a:r>
                      <a:r>
                        <a:rPr lang="en-US" sz="1300" dirty="0">
                          <a:solidFill>
                            <a:schemeClr val="tx1"/>
                          </a:solidFill>
                        </a:rPr>
                        <a:t> catches </a:t>
                      </a:r>
                      <a:r>
                        <a:rPr lang="en-US" sz="1200" dirty="0">
                          <a:solidFill>
                            <a:schemeClr val="tx2"/>
                          </a:solidFill>
                          <a:latin typeface="Courier New" pitchFamily="34" charset="0"/>
                          <a:ea typeface="Courier New" pitchFamily="34" charset="-122"/>
                          <a:cs typeface="Courier New" pitchFamily="34" charset="-120"/>
                        </a:rPr>
                        <a:t>KeyboardInterrupt</a:t>
                      </a:r>
                      <a:r>
                        <a:rPr lang="en-US" sz="1300" dirty="0">
                          <a:solidFill>
                            <a:schemeClr val="tx1"/>
                          </a:solidFill>
                        </a:rPr>
                        <a:t> and prints "Spelet avbröts." ("The game was aborted.")</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bl>
          </a:graphicData>
        </a:graphic>
      </p:graphicFrame>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Python concepts used in the code</a:t>
            </a:r>
            <a:endParaRPr lang="en-US" sz="2600" dirty="0"/>
          </a:p>
        </p:txBody>
      </p:sp>
      <p:sp>
        <p:nvSpPr>
          <p:cNvPr id="3" name="die-3"/>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631759" y="503743"/>
            <a:ext cx="71506" cy="71506"/>
          </a:xfrm>
          <a:prstGeom prst="ellipse">
            <a:avLst/>
          </a:prstGeom>
          <a:solidFill>
            <a:schemeClr val="bg1"/>
          </a:solidFill>
          <a:ln w="12700">
            <a:solidFill>
              <a:schemeClr val="bg1"/>
            </a:solidFill>
            <a:prstDash val="solid"/>
          </a:ln>
        </p:spPr>
      </p:sp>
      <p:sp>
        <p:nvSpPr>
          <p:cNvPr id="6" name="pip"/>
          <p:cNvSpPr/>
          <p:nvPr/>
        </p:nvSpPr>
        <p:spPr>
          <a:xfrm>
            <a:off x="745327" y="617311"/>
            <a:ext cx="71506" cy="71506"/>
          </a:xfrm>
          <a:prstGeom prst="ellipse">
            <a:avLst/>
          </a:prstGeom>
          <a:solidFill>
            <a:schemeClr val="bg1"/>
          </a:solidFill>
          <a:ln w="12700">
            <a:solidFill>
              <a:schemeClr val="bg1"/>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468880"/>
                <a:gridCol w="5760720"/>
              </a:tblGrid>
              <a:tr h="0">
                <a:tc>
                  <a:txBody>
                    <a:bodyPr/>
                    <a:lstStyle/>
                    <a:p>
                      <a:pPr indent="0" marL="0">
                        <a:buNone/>
                      </a:pPr>
                      <a:r>
                        <a:rPr lang="en-US" sz="1300" b="1" dirty="0">
                          <a:solidFill>
                            <a:schemeClr val="bg1"/>
                          </a:solidFill>
                        </a:rPr>
                        <a:t>Concept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Where and what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Counter</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scoring.py</a:t>
                      </a:r>
                      <a:r>
                        <a:rPr lang="en-US" sz="1300" dirty="0">
                          <a:solidFill>
                            <a:schemeClr val="tx1"/>
                          </a:solidFill>
                        </a:rPr>
                        <a:t>: counts how many times each value appears, e.g. </a:t>
                      </a:r>
                      <a:r>
                        <a:rPr lang="en-US" sz="1200" dirty="0">
                          <a:solidFill>
                            <a:schemeClr val="tx2"/>
                          </a:solidFill>
                          <a:latin typeface="Courier New" pitchFamily="34" charset="0"/>
                          <a:ea typeface="Courier New" pitchFamily="34" charset="-122"/>
                          <a:cs typeface="Courier New" pitchFamily="34" charset="-120"/>
                        </a:rPr>
                        <a:t>{5: 3, 3: 2}</a:t>
                      </a:r>
                      <a:r>
                        <a:rPr lang="en-US" sz="1300" dirty="0">
                          <a:solidFill>
                            <a:schemeClr val="tx1"/>
                          </a:solidFill>
                        </a:rPr>
                        <a:t>.</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List comprehension</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hold_only</a:t>
                      </a:r>
                      <a:r>
                        <a:rPr lang="en-US" sz="1300" dirty="0">
                          <a:solidFill>
                            <a:schemeClr val="tx1"/>
                          </a:solidFill>
                        </a:rPr>
                        <a:t>: </a:t>
                      </a:r>
                      <a:r>
                        <a:rPr lang="en-US" sz="1200" dirty="0">
                          <a:solidFill>
                            <a:schemeClr val="tx2"/>
                          </a:solidFill>
                          <a:latin typeface="Courier New" pitchFamily="34" charset="0"/>
                          <a:ea typeface="Courier New" pitchFamily="34" charset="-122"/>
                          <a:cs typeface="Courier New" pitchFamily="34" charset="-120"/>
                        </a:rPr>
                        <a:t>[i in positions for i in range(NUM_DICE)]</a:t>
                      </a:r>
                      <a:r>
                        <a:rPr lang="en-US" sz="1300" dirty="0">
                          <a:solidFill>
                            <a:schemeClr val="tx1"/>
                          </a:solidFill>
                        </a:rPr>
                        <a:t> builds a list in one expression.</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dict.get(key, 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upper_sum</a:t>
                      </a:r>
                      <a:r>
                        <a:rPr lang="en-US" sz="1300" dirty="0">
                          <a:solidFill>
                            <a:schemeClr val="tx1"/>
                          </a:solidFill>
                        </a:rPr>
                        <a:t>: gets the value, or 0 if the key is missing.</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x if condition else y</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bonus</a:t>
                      </a:r>
                      <a:r>
                        <a:rPr lang="en-US" sz="1300" dirty="0">
                          <a:solidFill>
                            <a:schemeClr val="tx1"/>
                          </a:solidFill>
                        </a:rPr>
                        <a:t>: a condition in a single expression.</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t>
                      </a:r>
                      <a:r>
                        <a:rPr lang="en-US" sz="1300" b="1" dirty="0">
                          <a:solidFill>
                            <a:schemeClr val="tx1"/>
                          </a:solidFill>
                        </a:rPr>
                        <a:t> (modulo)</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next_turn</a:t>
                      </a:r>
                      <a:r>
                        <a:rPr lang="en-US" sz="1300" dirty="0">
                          <a:solidFill>
                            <a:schemeClr val="tx1"/>
                          </a:solidFill>
                        </a:rPr>
                        <a:t>: the remainder of a division makes the turn wrap back to player 0.</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raise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Game</a:t>
                      </a:r>
                      <a:r>
                        <a:rPr lang="en-US" sz="1300" dirty="0">
                          <a:solidFill>
                            <a:schemeClr val="tx1"/>
                          </a:solidFill>
                        </a:rPr>
                        <a:t>: stops an illegal move with an error message.</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r h="0">
                <a:tc>
                  <a:txBody>
                    <a:bodyPr/>
                    <a:lstStyle/>
                    <a:p>
                      <a:pPr indent="0" marL="0">
                        <a:buNone/>
                      </a:pPr>
                      <a:r>
                        <a:rPr lang="en-US" sz="1300" b="1" dirty="0">
                          <a:solidFill>
                            <a:schemeClr val="tx1"/>
                          </a:solidFill>
                        </a:rPr>
                        <a:t>f-strings</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view: </a:t>
                      </a:r>
                      <a:r>
                        <a:rPr lang="en-US" sz="1200" dirty="0">
                          <a:solidFill>
                            <a:schemeClr val="tx2"/>
                          </a:solidFill>
                          <a:latin typeface="Courier New" pitchFamily="34" charset="0"/>
                          <a:ea typeface="Courier New" pitchFamily="34" charset="-122"/>
                          <a:cs typeface="Courier New" pitchFamily="34" charset="-120"/>
                        </a:rPr>
                        <a:t>f"{player.name}s tur"</a:t>
                      </a:r>
                      <a:r>
                        <a:rPr lang="en-US" sz="1300" dirty="0">
                          <a:solidFill>
                            <a:schemeClr val="tx1"/>
                          </a:solidFill>
                        </a:rPr>
                        <a:t> inserts values directly into the text ("Victor's turn").</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0">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if __name__ == "__main__"</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2"/>
                          </a:solidFill>
                          <a:latin typeface="Courier New" pitchFamily="34" charset="0"/>
                          <a:ea typeface="Courier New" pitchFamily="34" charset="-122"/>
                          <a:cs typeface="Courier New" pitchFamily="34" charset="-120"/>
                        </a:rPr>
                        <a:t>yatzy.py</a:t>
                      </a:r>
                      <a:r>
                        <a:rPr lang="en-US" sz="1300" dirty="0">
                          <a:solidFill>
                            <a:schemeClr val="tx1"/>
                          </a:solidFill>
                        </a:rPr>
                        <a:t>: the code only runs when the file is started, not when it is imported.</a:t>
                      </a:r>
                      <a:endParaRPr lang="en-US" sz="1300" dirty="0"/>
                    </a:p>
                  </a:txBody>
                  <a:tcPr marL="88900" marR="88900" marT="50800" marB="508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5"/>
                    </a:solidFill>
                  </a:tcPr>
                </a:tc>
              </a:tr>
            </a:tbl>
          </a:graphicData>
        </a:graphic>
      </p:graphicFrame>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024128" y="256032"/>
            <a:ext cx="7662672" cy="566928"/>
          </a:xfrm>
          <a:prstGeom prst="rect">
            <a:avLst/>
          </a:prstGeom>
          <a:noFill/>
          <a:ln/>
        </p:spPr>
        <p:txBody>
          <a:bodyPr wrap="square" lIns="0" tIns="0" rIns="0" bIns="0" rtlCol="0" anchor="ctr"/>
          <a:lstStyle/>
          <a:p>
            <a:pPr algn="l" indent="0" marL="0">
              <a:buNone/>
            </a:pPr>
            <a:r>
              <a:rPr lang="en-US" sz="2600" b="1" dirty="0">
                <a:solidFill>
                  <a:schemeClr val="tx1"/>
                </a:solidFill>
              </a:rPr>
              <a:t>Running the game and the tests</a:t>
            </a:r>
            <a:endParaRPr lang="en-US" sz="2600" dirty="0"/>
          </a:p>
        </p:txBody>
      </p:sp>
      <p:sp>
        <p:nvSpPr>
          <p:cNvPr id="3" name="die-4"/>
          <p:cNvSpPr/>
          <p:nvPr/>
        </p:nvSpPr>
        <p:spPr>
          <a:xfrm>
            <a:off x="457200" y="329184"/>
            <a:ext cx="420624" cy="420624"/>
          </a:xfrm>
          <a:prstGeom prst="roundRect">
            <a:avLst>
              <a:gd name="adj" fmla="val 18000"/>
            </a:avLst>
          </a:prstGeom>
          <a:solidFill>
            <a:schemeClr val="accent1"/>
          </a:solidFill>
          <a:ln w="12700">
            <a:solidFill>
              <a:schemeClr val="accent1"/>
            </a:solidFill>
            <a:prstDash val="solid"/>
          </a:ln>
        </p:spPr>
      </p:sp>
      <p:sp>
        <p:nvSpPr>
          <p:cNvPr id="4" name="pip"/>
          <p:cNvSpPr/>
          <p:nvPr/>
        </p:nvSpPr>
        <p:spPr>
          <a:xfrm>
            <a:off x="518190" y="390174"/>
            <a:ext cx="71506" cy="71506"/>
          </a:xfrm>
          <a:prstGeom prst="ellipse">
            <a:avLst/>
          </a:prstGeom>
          <a:solidFill>
            <a:schemeClr val="bg1"/>
          </a:solidFill>
          <a:ln w="12700">
            <a:solidFill>
              <a:schemeClr val="bg1"/>
            </a:solidFill>
            <a:prstDash val="solid"/>
          </a:ln>
        </p:spPr>
      </p:sp>
      <p:sp>
        <p:nvSpPr>
          <p:cNvPr id="5" name="pip"/>
          <p:cNvSpPr/>
          <p:nvPr/>
        </p:nvSpPr>
        <p:spPr>
          <a:xfrm>
            <a:off x="745327" y="390174"/>
            <a:ext cx="71506" cy="71506"/>
          </a:xfrm>
          <a:prstGeom prst="ellipse">
            <a:avLst/>
          </a:prstGeom>
          <a:solidFill>
            <a:schemeClr val="bg1"/>
          </a:solidFill>
          <a:ln w="12700">
            <a:solidFill>
              <a:schemeClr val="bg1"/>
            </a:solidFill>
            <a:prstDash val="solid"/>
          </a:ln>
        </p:spPr>
      </p:sp>
      <p:sp>
        <p:nvSpPr>
          <p:cNvPr id="6" name="pip"/>
          <p:cNvSpPr/>
          <p:nvPr/>
        </p:nvSpPr>
        <p:spPr>
          <a:xfrm>
            <a:off x="518190" y="617311"/>
            <a:ext cx="71506" cy="71506"/>
          </a:xfrm>
          <a:prstGeom prst="ellipse">
            <a:avLst/>
          </a:prstGeom>
          <a:solidFill>
            <a:schemeClr val="bg1"/>
          </a:solidFill>
          <a:ln w="12700">
            <a:solidFill>
              <a:schemeClr val="bg1"/>
            </a:solidFill>
            <a:prstDash val="solid"/>
          </a:ln>
        </p:spPr>
      </p:sp>
      <p:sp>
        <p:nvSpPr>
          <p:cNvPr id="7" name="pip"/>
          <p:cNvSpPr/>
          <p:nvPr/>
        </p:nvSpPr>
        <p:spPr>
          <a:xfrm>
            <a:off x="745327" y="617311"/>
            <a:ext cx="71506" cy="71506"/>
          </a:xfrm>
          <a:prstGeom prst="ellipse">
            <a:avLst/>
          </a:prstGeom>
          <a:solidFill>
            <a:schemeClr val="bg1"/>
          </a:solidFill>
          <a:ln w="12700">
            <a:solidFill>
              <a:schemeClr val="bg1"/>
            </a:solidFill>
            <a:prstDash val="solid"/>
          </a:ln>
        </p:spPr>
      </p:sp>
      <p:sp>
        <p:nvSpPr>
          <p:cNvPr id="8" name="Text 6"/>
          <p:cNvSpPr txBox="1"/>
          <p:nvPr/>
        </p:nvSpPr>
        <p:spPr>
          <a:xfrm>
            <a:off x="457200" y="1143000"/>
            <a:ext cx="3931920" cy="365760"/>
          </a:xfrm>
          <a:prstGeom prst="rect">
            <a:avLst/>
          </a:prstGeom>
          <a:noFill/>
          <a:ln/>
        </p:spPr>
        <p:txBody>
          <a:bodyPr wrap="square" lIns="0" tIns="0" rIns="0" bIns="0" rtlCol="0" anchor="ctr"/>
          <a:lstStyle/>
          <a:p>
            <a:pPr indent="0" marL="0">
              <a:buNone/>
            </a:pPr>
            <a:r>
              <a:rPr lang="en-US" sz="1800" b="1" dirty="0">
                <a:solidFill>
                  <a:schemeClr val="tx1"/>
                </a:solidFill>
              </a:rPr>
              <a:t>Start the game</a:t>
            </a:r>
            <a:endParaRPr lang="en-US" sz="1800" dirty="0"/>
          </a:p>
        </p:txBody>
      </p:sp>
      <p:sp>
        <p:nvSpPr>
          <p:cNvPr id="9" name="code-run_game"/>
          <p:cNvSpPr/>
          <p:nvPr/>
        </p:nvSpPr>
        <p:spPr>
          <a:xfrm>
            <a:off x="457200" y="1600200"/>
            <a:ext cx="3931920" cy="786384"/>
          </a:xfrm>
          <a:prstGeom prst="roundRect">
            <a:avLst>
              <a:gd name="adj" fmla="val 8140"/>
            </a:avLst>
          </a:prstGeom>
          <a:solidFill>
            <a:schemeClr val="accent6"/>
          </a:solidFill>
          <a:ln w="12700">
            <a:solidFill>
              <a:schemeClr val="accent6"/>
            </a:solidFill>
            <a:prstDash val="solid"/>
          </a:ln>
        </p:spPr>
      </p:sp>
      <p:sp>
        <p:nvSpPr>
          <p:cNvPr id="10" name="code-text-run_game"/>
          <p:cNvSpPr txBox="1"/>
          <p:nvPr/>
        </p:nvSpPr>
        <p:spPr>
          <a:xfrm>
            <a:off x="658368" y="1764792"/>
            <a:ext cx="3621024" cy="457200"/>
          </a:xfrm>
          <a:prstGeom prst="rect">
            <a:avLst/>
          </a:prstGeom>
          <a:noFill/>
          <a:ln/>
        </p:spPr>
        <p:txBody>
          <a:bodyPr wrap="none" lIns="0" tIns="0" rIns="0" bIns="0" rtlCol="0" anchor="t"/>
          <a:lstStyle/>
          <a:p>
            <a:pPr indent="0" marL="0">
              <a:lnSpc>
                <a:spcPts val="1800"/>
              </a:lnSpc>
              <a:buNone/>
            </a:pPr>
            <a:r>
              <a:rPr lang="en-US" sz="1200" b="1" dirty="0">
                <a:solidFill>
                  <a:srgbClr val="E8EEF5"/>
                </a:solidFill>
                <a:latin typeface="Courier New" pitchFamily="34" charset="0"/>
                <a:ea typeface="Courier New" pitchFamily="34" charset="-122"/>
                <a:cs typeface="Courier New" pitchFamily="34" charset="-120"/>
              </a:rPr>
              <a:t>cd yatzy</a:t>
            </a:r>
            <a:endParaRPr lang="en-US" sz="1200" dirty="0"/>
          </a:p>
          <a:p>
            <a:pPr indent="0" marL="0">
              <a:lnSpc>
                <a:spcPts val="1800"/>
              </a:lnSpc>
              <a:buNone/>
            </a:pPr>
            <a:r>
              <a:rPr lang="en-US" sz="1200" b="1" dirty="0">
                <a:solidFill>
                  <a:srgbClr val="E8EEF5"/>
                </a:solidFill>
                <a:latin typeface="Courier New" pitchFamily="34" charset="0"/>
                <a:ea typeface="Courier New" pitchFamily="34" charset="-122"/>
                <a:cs typeface="Courier New" pitchFamily="34" charset="-120"/>
              </a:rPr>
              <a:t>python yatzy.py</a:t>
            </a:r>
            <a:endParaRPr lang="en-US" sz="1200" dirty="0"/>
          </a:p>
        </p:txBody>
      </p:sp>
      <p:sp>
        <p:nvSpPr>
          <p:cNvPr id="11" name="Text 9"/>
          <p:cNvSpPr txBox="1"/>
          <p:nvPr/>
        </p:nvSpPr>
        <p:spPr>
          <a:xfrm>
            <a:off x="457200" y="2331720"/>
            <a:ext cx="3931920" cy="731520"/>
          </a:xfrm>
          <a:prstGeom prst="rect">
            <a:avLst/>
          </a:prstGeom>
          <a:noFill/>
          <a:ln/>
        </p:spPr>
        <p:txBody>
          <a:bodyPr wrap="square" lIns="0" tIns="0" rIns="0" bIns="0" rtlCol="0" anchor="t"/>
          <a:lstStyle/>
          <a:p>
            <a:pPr indent="0" marL="0">
              <a:buNone/>
            </a:pPr>
            <a:r>
              <a:rPr lang="en-US" sz="1400" dirty="0">
                <a:solidFill>
                  <a:schemeClr val="tx1"/>
                </a:solidFill>
              </a:rPr>
              <a:t>The files import each other directly (</a:t>
            </a:r>
            <a:r>
              <a:rPr lang="en-US" sz="1300" dirty="0">
                <a:solidFill>
                  <a:schemeClr val="tx2"/>
                </a:solidFill>
                <a:latin typeface="Courier New" pitchFamily="34" charset="0"/>
                <a:ea typeface="Courier New" pitchFamily="34" charset="-122"/>
                <a:cs typeface="Courier New" pitchFamily="34" charset="-120"/>
              </a:rPr>
              <a:t>from game import ...</a:t>
            </a:r>
            <a:r>
              <a:rPr lang="en-US" sz="1400" dirty="0">
                <a:solidFill>
                  <a:schemeClr val="tx1"/>
                </a:solidFill>
              </a:rPr>
              <a:t>), so they must be in the same folder.</a:t>
            </a:r>
            <a:endParaRPr lang="en-US" sz="1400" dirty="0"/>
          </a:p>
        </p:txBody>
      </p:sp>
      <p:sp>
        <p:nvSpPr>
          <p:cNvPr id="12" name="Text 10"/>
          <p:cNvSpPr txBox="1"/>
          <p:nvPr/>
        </p:nvSpPr>
        <p:spPr>
          <a:xfrm>
            <a:off x="4754880" y="1143000"/>
            <a:ext cx="3931920" cy="365760"/>
          </a:xfrm>
          <a:prstGeom prst="rect">
            <a:avLst/>
          </a:prstGeom>
          <a:noFill/>
          <a:ln/>
        </p:spPr>
        <p:txBody>
          <a:bodyPr wrap="square" lIns="0" tIns="0" rIns="0" bIns="0" rtlCol="0" anchor="ctr"/>
          <a:lstStyle/>
          <a:p>
            <a:pPr indent="0" marL="0">
              <a:buNone/>
            </a:pPr>
            <a:r>
              <a:rPr lang="en-US" sz="1800" b="1" dirty="0">
                <a:solidFill>
                  <a:schemeClr val="tx1"/>
                </a:solidFill>
              </a:rPr>
              <a:t>Run the tests</a:t>
            </a:r>
            <a:endParaRPr lang="en-US" sz="1800" dirty="0"/>
          </a:p>
        </p:txBody>
      </p:sp>
      <p:sp>
        <p:nvSpPr>
          <p:cNvPr id="13" name="code-run_tests"/>
          <p:cNvSpPr/>
          <p:nvPr/>
        </p:nvSpPr>
        <p:spPr>
          <a:xfrm>
            <a:off x="4754880" y="1600200"/>
            <a:ext cx="3931920" cy="786384"/>
          </a:xfrm>
          <a:prstGeom prst="roundRect">
            <a:avLst>
              <a:gd name="adj" fmla="val 8140"/>
            </a:avLst>
          </a:prstGeom>
          <a:solidFill>
            <a:schemeClr val="accent6"/>
          </a:solidFill>
          <a:ln w="12700">
            <a:solidFill>
              <a:schemeClr val="accent6"/>
            </a:solidFill>
            <a:prstDash val="solid"/>
          </a:ln>
        </p:spPr>
      </p:sp>
      <p:sp>
        <p:nvSpPr>
          <p:cNvPr id="14" name="code-text-run_tests"/>
          <p:cNvSpPr txBox="1"/>
          <p:nvPr/>
        </p:nvSpPr>
        <p:spPr>
          <a:xfrm>
            <a:off x="4956048" y="1764792"/>
            <a:ext cx="3621024" cy="457200"/>
          </a:xfrm>
          <a:prstGeom prst="rect">
            <a:avLst/>
          </a:prstGeom>
          <a:noFill/>
          <a:ln/>
        </p:spPr>
        <p:txBody>
          <a:bodyPr wrap="none" lIns="0" tIns="0" rIns="0" bIns="0" rtlCol="0" anchor="t"/>
          <a:lstStyle/>
          <a:p>
            <a:pPr indent="0" marL="0">
              <a:lnSpc>
                <a:spcPts val="1800"/>
              </a:lnSpc>
              <a:buNone/>
            </a:pPr>
            <a:r>
              <a:rPr lang="en-US" sz="1200" b="1" dirty="0">
                <a:solidFill>
                  <a:srgbClr val="E8EEF5"/>
                </a:solidFill>
                <a:latin typeface="Courier New" pitchFamily="34" charset="0"/>
                <a:ea typeface="Courier New" pitchFamily="34" charset="-122"/>
                <a:cs typeface="Courier New" pitchFamily="34" charset="-120"/>
              </a:rPr>
              <a:t>cd yatzy</a:t>
            </a:r>
            <a:endParaRPr lang="en-US" sz="1200" dirty="0"/>
          </a:p>
          <a:p>
            <a:pPr indent="0" marL="0">
              <a:lnSpc>
                <a:spcPts val="1800"/>
              </a:lnSpc>
              <a:buNone/>
            </a:pPr>
            <a:r>
              <a:rPr lang="en-US" sz="1200" b="1" dirty="0">
                <a:solidFill>
                  <a:srgbClr val="E8EEF5"/>
                </a:solidFill>
                <a:latin typeface="Courier New" pitchFamily="34" charset="0"/>
                <a:ea typeface="Courier New" pitchFamily="34" charset="-122"/>
                <a:cs typeface="Courier New" pitchFamily="34" charset="-120"/>
              </a:rPr>
              <a:t>python -m unittest -v</a:t>
            </a:r>
            <a:endParaRPr lang="en-US" sz="1200" dirty="0"/>
          </a:p>
        </p:txBody>
      </p:sp>
      <p:sp>
        <p:nvSpPr>
          <p:cNvPr id="15" name="Text 13"/>
          <p:cNvSpPr txBox="1"/>
          <p:nvPr/>
        </p:nvSpPr>
        <p:spPr>
          <a:xfrm>
            <a:off x="4754880" y="2331720"/>
            <a:ext cx="3931920" cy="731520"/>
          </a:xfrm>
          <a:prstGeom prst="rect">
            <a:avLst/>
          </a:prstGeom>
          <a:noFill/>
          <a:ln/>
        </p:spPr>
        <p:txBody>
          <a:bodyPr wrap="square" lIns="0" tIns="0" rIns="0" bIns="0" rtlCol="0" anchor="t"/>
          <a:lstStyle/>
          <a:p>
            <a:pPr indent="0" marL="0">
              <a:buNone/>
            </a:pPr>
            <a:r>
              <a:rPr lang="en-US" sz="1400" dirty="0">
                <a:solidFill>
                  <a:schemeClr val="tx1"/>
                </a:solidFill>
              </a:rPr>
              <a:t>Must be run inside the </a:t>
            </a:r>
            <a:r>
              <a:rPr lang="en-US" sz="1300" dirty="0">
                <a:solidFill>
                  <a:schemeClr val="tx2"/>
                </a:solidFill>
                <a:latin typeface="Courier New" pitchFamily="34" charset="0"/>
                <a:ea typeface="Courier New" pitchFamily="34" charset="-122"/>
                <a:cs typeface="Courier New" pitchFamily="34" charset="-120"/>
              </a:rPr>
              <a:t>yatzy</a:t>
            </a:r>
            <a:r>
              <a:rPr lang="en-US" sz="1400" dirty="0">
                <a:solidFill>
                  <a:schemeClr val="tx1"/>
                </a:solidFill>
              </a:rPr>
              <a:t> folder. From the repo root no tests are found, because </a:t>
            </a:r>
            <a:r>
              <a:rPr lang="en-US" sz="1300" dirty="0">
                <a:solidFill>
                  <a:schemeClr val="tx2"/>
                </a:solidFill>
                <a:latin typeface="Courier New" pitchFamily="34" charset="0"/>
                <a:ea typeface="Courier New" pitchFamily="34" charset="-122"/>
                <a:cs typeface="Courier New" pitchFamily="34" charset="-120"/>
              </a:rPr>
              <a:t>yatzy</a:t>
            </a:r>
            <a:r>
              <a:rPr lang="en-US" sz="1400" dirty="0">
                <a:solidFill>
                  <a:schemeClr val="tx1"/>
                </a:solidFill>
              </a:rPr>
              <a:t> is not a package.</a:t>
            </a:r>
            <a:endParaRPr lang="en-US" sz="1400" dirty="0"/>
          </a:p>
        </p:txBody>
      </p:sp>
      <p:sp>
        <p:nvSpPr>
          <p:cNvPr id="16" name="Text 14"/>
          <p:cNvSpPr txBox="1"/>
          <p:nvPr/>
        </p:nvSpPr>
        <p:spPr>
          <a:xfrm>
            <a:off x="4754880" y="3154680"/>
            <a:ext cx="3931920" cy="320040"/>
          </a:xfrm>
          <a:prstGeom prst="rect">
            <a:avLst/>
          </a:prstGeom>
          <a:noFill/>
          <a:ln/>
        </p:spPr>
        <p:txBody>
          <a:bodyPr wrap="square" lIns="0" tIns="0" rIns="0" bIns="0" rtlCol="0" anchor="ctr"/>
          <a:lstStyle/>
          <a:p>
            <a:pPr indent="0" marL="0">
              <a:buNone/>
            </a:pPr>
            <a:r>
              <a:rPr lang="en-US" sz="1400" dirty="0">
                <a:solidFill>
                  <a:schemeClr val="tx1"/>
                </a:solidFill>
              </a:rPr>
              <a:t>Result: </a:t>
            </a:r>
            <a:r>
              <a:rPr lang="en-US" sz="1300" dirty="0">
                <a:solidFill>
                  <a:schemeClr val="tx2"/>
                </a:solidFill>
                <a:latin typeface="Courier New" pitchFamily="34" charset="0"/>
                <a:ea typeface="Courier New" pitchFamily="34" charset="-122"/>
                <a:cs typeface="Courier New" pitchFamily="34" charset="-120"/>
              </a:rPr>
              <a:t>Ran 11 tests ... OK</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Yatzy Turing">
  <a:themeElements>
    <a:clrScheme name="Yatzy Turing">
      <a:dk1>
        <a:srgbClr val="2B2C2E"/>
      </a:dk1>
      <a:lt1>
        <a:srgbClr val="FFFFFF"/>
      </a:lt1>
      <a:dk2>
        <a:srgbClr val="224466"/>
      </a:dk2>
      <a:lt2>
        <a:srgbClr val="F7F6F3"/>
      </a:lt2>
      <a:accent1>
        <a:srgbClr val="1670E6"/>
      </a:accent1>
      <a:accent2>
        <a:srgbClr val="476BB8"/>
      </a:accent2>
      <a:accent3>
        <a:srgbClr val="FF3434"/>
      </a:accent3>
      <a:accent4>
        <a:srgbClr val="5F5B5B"/>
      </a:accent4>
      <a:accent5>
        <a:srgbClr val="EEF3FA"/>
      </a:accent5>
      <a:accent6>
        <a:srgbClr val="172A3E"/>
      </a:accent6>
      <a:hlink>
        <a:srgbClr val="1670E6"/>
      </a:hlink>
      <a:folHlink>
        <a:srgbClr val="476BB8"/>
      </a:folHlink>
    </a:clrScheme>
    <a:fontScheme name="Yatzy Tur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Yatzy in Python</dc:title>
  <dc:subject>PptxGenJS Presentation</dc:subject>
  <dc:creator>Victor Vilches, Axel Bohlmark</dc:creator>
  <cp:lastModifiedBy>Victor Vilches, Axel Bohlmark</cp:lastModifiedBy>
  <cp:revision>1</cp:revision>
  <dcterms:created xsi:type="dcterms:W3CDTF">2026-10-30T00:29:32Z</dcterms:created>
  <dcterms:modified xsi:type="dcterms:W3CDTF">2026-10-30T00:29:32Z</dcterms:modified>
</cp:coreProperties>
</file>